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8"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AFC"/>
    <a:srgbClr val="3341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6A5BC-C7C6-BC97-EE7A-B3BC983671F2}" v="123" dt="2026-06-10T22:25:49.464"/>
    <p1510:client id="{C343F4B5-AA6A-1E47-5DAF-C276338610DC}" v="88" dt="2026-06-10T22:43:26.644"/>
    <p1510:client id="{FC5F0541-E6FD-688E-DAAA-F388FDA7099B}" v="126" dt="2026-06-10T22:58:16.2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al__ma_Sayfas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al__ma_Sayfas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autoTitleDeleted val="1"/>
    <c:plotArea>
      <c:layout/>
      <c:barChart>
        <c:barDir val="col"/>
        <c:grouping val="clustered"/>
        <c:varyColors val="0"/>
        <c:ser>
          <c:idx val="0"/>
          <c:order val="0"/>
          <c:tx>
            <c:strRef>
              <c:f>Sheet1!$B$1</c:f>
              <c:strCache>
                <c:ptCount val="1"/>
                <c:pt idx="0">
                  <c:v>ROUGE-L</c:v>
                </c:pt>
              </c:strCache>
            </c:strRef>
          </c:tx>
          <c:spPr>
            <a:solidFill>
              <a:srgbClr val="002060"/>
            </a:solidFill>
            <a:effectLst/>
          </c:spPr>
          <c:invertIfNegative val="0"/>
          <c:dPt>
            <c:idx val="0"/>
            <c:invertIfNegative val="0"/>
            <c:bubble3D val="0"/>
            <c:extLst>
              <c:ext xmlns:c16="http://schemas.microsoft.com/office/drawing/2014/chart" uri="{C3380CC4-5D6E-409C-BE32-E72D297353CC}">
                <c16:uniqueId val="{00000001-EF81-4E52-918D-D172185DCD18}"/>
              </c:ext>
            </c:extLst>
          </c:dPt>
          <c:dPt>
            <c:idx val="1"/>
            <c:invertIfNegative val="0"/>
            <c:bubble3D val="0"/>
            <c:extLst>
              <c:ext xmlns:c16="http://schemas.microsoft.com/office/drawing/2014/chart" uri="{C3380CC4-5D6E-409C-BE32-E72D297353CC}">
                <c16:uniqueId val="{00000003-EF81-4E52-918D-D172185DCD18}"/>
              </c:ext>
            </c:extLst>
          </c:dPt>
          <c:dPt>
            <c:idx val="2"/>
            <c:invertIfNegative val="0"/>
            <c:bubble3D val="0"/>
            <c:extLst>
              <c:ext xmlns:c16="http://schemas.microsoft.com/office/drawing/2014/chart" uri="{C3380CC4-5D6E-409C-BE32-E72D297353CC}">
                <c16:uniqueId val="{00000005-EF81-4E52-918D-D172185DCD18}"/>
              </c:ext>
            </c:extLst>
          </c:dPt>
          <c:dPt>
            <c:idx val="3"/>
            <c:invertIfNegative val="0"/>
            <c:bubble3D val="0"/>
            <c:extLst>
              <c:ext xmlns:c16="http://schemas.microsoft.com/office/drawing/2014/chart" uri="{C3380CC4-5D6E-409C-BE32-E72D297353CC}">
                <c16:uniqueId val="{00000007-EF81-4E52-918D-D172185DCD18}"/>
              </c:ext>
            </c:extLst>
          </c:dPt>
          <c:dPt>
            <c:idx val="4"/>
            <c:invertIfNegative val="0"/>
            <c:bubble3D val="0"/>
            <c:extLst>
              <c:ext xmlns:c16="http://schemas.microsoft.com/office/drawing/2014/chart" uri="{C3380CC4-5D6E-409C-BE32-E72D297353CC}">
                <c16:uniqueId val="{00000009-EF81-4E52-918D-D172185DCD18}"/>
              </c:ext>
            </c:extLst>
          </c:dPt>
          <c:dPt>
            <c:idx val="5"/>
            <c:invertIfNegative val="0"/>
            <c:bubble3D val="0"/>
            <c:extLst>
              <c:ext xmlns:c16="http://schemas.microsoft.com/office/drawing/2014/chart" uri="{C3380CC4-5D6E-409C-BE32-E72D297353CC}">
                <c16:uniqueId val="{0000000B-EF81-4E52-918D-D172185DCD18}"/>
              </c:ext>
            </c:extLst>
          </c:dPt>
          <c:dPt>
            <c:idx val="6"/>
            <c:invertIfNegative val="0"/>
            <c:bubble3D val="0"/>
            <c:spPr>
              <a:solidFill>
                <a:srgbClr val="FFC000"/>
              </a:solidFill>
              <a:effectLst/>
            </c:spPr>
            <c:extLst>
              <c:ext xmlns:c16="http://schemas.microsoft.com/office/drawing/2014/chart" uri="{C3380CC4-5D6E-409C-BE32-E72D297353CC}">
                <c16:uniqueId val="{0000000D-EF81-4E52-918D-D172185DCD18}"/>
              </c:ext>
            </c:extLst>
          </c:dPt>
          <c:dPt>
            <c:idx val="7"/>
            <c:invertIfNegative val="0"/>
            <c:bubble3D val="0"/>
            <c:extLst>
              <c:ext xmlns:c16="http://schemas.microsoft.com/office/drawing/2014/chart" uri="{C3380CC4-5D6E-409C-BE32-E72D297353CC}">
                <c16:uniqueId val="{0000000F-EF81-4E52-918D-D172185DCD18}"/>
              </c:ext>
            </c:extLst>
          </c:dPt>
          <c:dPt>
            <c:idx val="8"/>
            <c:invertIfNegative val="0"/>
            <c:bubble3D val="0"/>
            <c:extLst>
              <c:ext xmlns:c16="http://schemas.microsoft.com/office/drawing/2014/chart" uri="{C3380CC4-5D6E-409C-BE32-E72D297353CC}">
                <c16:uniqueId val="{00000011-EF81-4E52-918D-D172185DCD18}"/>
              </c:ext>
            </c:extLst>
          </c:dPt>
          <c:dPt>
            <c:idx val="9"/>
            <c:invertIfNegative val="0"/>
            <c:bubble3D val="0"/>
            <c:extLst>
              <c:ext xmlns:c16="http://schemas.microsoft.com/office/drawing/2014/chart" uri="{C3380CC4-5D6E-409C-BE32-E72D297353CC}">
                <c16:uniqueId val="{00000013-EF81-4E52-918D-D172185DCD18}"/>
              </c:ext>
            </c:extLst>
          </c:dPt>
          <c:dPt>
            <c:idx val="10"/>
            <c:invertIfNegative val="0"/>
            <c:bubble3D val="0"/>
            <c:extLst>
              <c:ext xmlns:c16="http://schemas.microsoft.com/office/drawing/2014/chart" uri="{C3380CC4-5D6E-409C-BE32-E72D297353CC}">
                <c16:uniqueId val="{00000015-EF81-4E52-918D-D172185DCD18}"/>
              </c:ext>
            </c:extLst>
          </c:dPt>
          <c:dPt>
            <c:idx val="11"/>
            <c:invertIfNegative val="0"/>
            <c:bubble3D val="0"/>
            <c:extLst>
              <c:ext xmlns:c16="http://schemas.microsoft.com/office/drawing/2014/chart" uri="{C3380CC4-5D6E-409C-BE32-E72D297353CC}">
                <c16:uniqueId val="{00000017-EF81-4E52-918D-D172185DCD18}"/>
              </c:ext>
            </c:extLst>
          </c:dPt>
          <c:dLbls>
            <c:delete val="1"/>
          </c:dLbls>
          <c:cat>
            <c:strRef>
              <c:f>Sheet1!$A$2:$A$13</c:f>
              <c:strCache>
                <c:ptCount val="12"/>
                <c:pt idx="0">
                  <c:v>Llama
1B</c:v>
                </c:pt>
                <c:pt idx="1">
                  <c:v>Llama
3B</c:v>
                </c:pt>
                <c:pt idx="2">
                  <c:v>Llama
8B</c:v>
                </c:pt>
                <c:pt idx="3">
                  <c:v>Qwen
1.5B</c:v>
                </c:pt>
                <c:pt idx="4">
                  <c:v>Qwen
3B</c:v>
                </c:pt>
                <c:pt idx="5">
                  <c:v>Phi-3
Mini</c:v>
                </c:pt>
                <c:pt idx="6">
                  <c:v>Mistral
7B</c:v>
                </c:pt>
                <c:pt idx="7">
                  <c:v>BioMistral
7B</c:v>
                </c:pt>
                <c:pt idx="8">
                  <c:v>Meditron
7B</c:v>
                </c:pt>
                <c:pt idx="9">
                  <c:v>Dok.Llama
8B</c:v>
                </c:pt>
                <c:pt idx="10">
                  <c:v>Dok.Llama
8B Cosmos</c:v>
                </c:pt>
                <c:pt idx="11">
                  <c:v>Turkish-Llama</c:v>
                </c:pt>
              </c:strCache>
            </c:strRef>
          </c:cat>
          <c:val>
            <c:numRef>
              <c:f>Sheet1!$B$2:$B$13</c:f>
              <c:numCache>
                <c:formatCode>General</c:formatCode>
                <c:ptCount val="12"/>
                <c:pt idx="0">
                  <c:v>0.49</c:v>
                </c:pt>
                <c:pt idx="1">
                  <c:v>0.54</c:v>
                </c:pt>
                <c:pt idx="2">
                  <c:v>0.55000000000000004</c:v>
                </c:pt>
                <c:pt idx="3">
                  <c:v>0.5</c:v>
                </c:pt>
                <c:pt idx="4">
                  <c:v>0.54</c:v>
                </c:pt>
                <c:pt idx="5">
                  <c:v>0.49</c:v>
                </c:pt>
                <c:pt idx="6">
                  <c:v>0.6</c:v>
                </c:pt>
                <c:pt idx="7">
                  <c:v>0.55000000000000004</c:v>
                </c:pt>
                <c:pt idx="8">
                  <c:v>0.52</c:v>
                </c:pt>
                <c:pt idx="9">
                  <c:v>0.55000000000000004</c:v>
                </c:pt>
                <c:pt idx="10">
                  <c:v>0.52</c:v>
                </c:pt>
                <c:pt idx="11">
                  <c:v>0.56000000000000005</c:v>
                </c:pt>
              </c:numCache>
            </c:numRef>
          </c:val>
          <c:extLst>
            <c:ext xmlns:c16="http://schemas.microsoft.com/office/drawing/2014/chart" uri="{C3380CC4-5D6E-409C-BE32-E72D297353CC}">
              <c16:uniqueId val="{00000018-EF81-4E52-918D-D172185DCD1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vert="horz"/>
          <a:lstStyle/>
          <a:p>
            <a:pPr>
              <a:defRPr/>
            </a:pPr>
            <a:endParaRPr lang="tr-TR"/>
          </a:p>
        </c:txPr>
        <c:crossAx val="2094734552"/>
        <c:crosses val="autoZero"/>
        <c:auto val="1"/>
        <c:lblAlgn val="ctr"/>
        <c:lblOffset val="100"/>
        <c:noMultiLvlLbl val="1"/>
      </c:catAx>
      <c:valAx>
        <c:axId val="2094734552"/>
        <c:scaling>
          <c:orientation val="minMax"/>
          <c:max val="0.8"/>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solidFill>
            <a:schemeClr val="tx1"/>
          </a:solidFill>
        </a:defRPr>
      </a:pPr>
      <a:endParaRPr lang="tr-T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autoTitleDeleted val="1"/>
    <c:plotArea>
      <c:layout/>
      <c:barChart>
        <c:barDir val="col"/>
        <c:grouping val="clustered"/>
        <c:varyColors val="0"/>
        <c:ser>
          <c:idx val="0"/>
          <c:order val="0"/>
          <c:tx>
            <c:strRef>
              <c:f>Sheet1!$B$1</c:f>
              <c:strCache>
                <c:ptCount val="1"/>
                <c:pt idx="0">
                  <c:v>BERTScore F1</c:v>
                </c:pt>
              </c:strCache>
            </c:strRef>
          </c:tx>
          <c:spPr>
            <a:solidFill>
              <a:srgbClr val="002060"/>
            </a:solidFill>
            <a:effectLst/>
          </c:spPr>
          <c:invertIfNegative val="0"/>
          <c:dPt>
            <c:idx val="0"/>
            <c:invertIfNegative val="0"/>
            <c:bubble3D val="0"/>
            <c:extLst>
              <c:ext xmlns:c16="http://schemas.microsoft.com/office/drawing/2014/chart" uri="{C3380CC4-5D6E-409C-BE32-E72D297353CC}">
                <c16:uniqueId val="{00000001-C3EC-49A5-BF1B-34576E401E84}"/>
              </c:ext>
            </c:extLst>
          </c:dPt>
          <c:dPt>
            <c:idx val="1"/>
            <c:invertIfNegative val="0"/>
            <c:bubble3D val="0"/>
            <c:extLst>
              <c:ext xmlns:c16="http://schemas.microsoft.com/office/drawing/2014/chart" uri="{C3380CC4-5D6E-409C-BE32-E72D297353CC}">
                <c16:uniqueId val="{00000003-C3EC-49A5-BF1B-34576E401E84}"/>
              </c:ext>
            </c:extLst>
          </c:dPt>
          <c:dPt>
            <c:idx val="2"/>
            <c:invertIfNegative val="0"/>
            <c:bubble3D val="0"/>
            <c:extLst>
              <c:ext xmlns:c16="http://schemas.microsoft.com/office/drawing/2014/chart" uri="{C3380CC4-5D6E-409C-BE32-E72D297353CC}">
                <c16:uniqueId val="{00000005-C3EC-49A5-BF1B-34576E401E84}"/>
              </c:ext>
            </c:extLst>
          </c:dPt>
          <c:dPt>
            <c:idx val="3"/>
            <c:invertIfNegative val="0"/>
            <c:bubble3D val="0"/>
            <c:extLst>
              <c:ext xmlns:c16="http://schemas.microsoft.com/office/drawing/2014/chart" uri="{C3380CC4-5D6E-409C-BE32-E72D297353CC}">
                <c16:uniqueId val="{00000007-C3EC-49A5-BF1B-34576E401E84}"/>
              </c:ext>
            </c:extLst>
          </c:dPt>
          <c:dPt>
            <c:idx val="4"/>
            <c:invertIfNegative val="0"/>
            <c:bubble3D val="0"/>
            <c:extLst>
              <c:ext xmlns:c16="http://schemas.microsoft.com/office/drawing/2014/chart" uri="{C3380CC4-5D6E-409C-BE32-E72D297353CC}">
                <c16:uniqueId val="{00000009-C3EC-49A5-BF1B-34576E401E84}"/>
              </c:ext>
            </c:extLst>
          </c:dPt>
          <c:dPt>
            <c:idx val="5"/>
            <c:invertIfNegative val="0"/>
            <c:bubble3D val="0"/>
            <c:extLst>
              <c:ext xmlns:c16="http://schemas.microsoft.com/office/drawing/2014/chart" uri="{C3380CC4-5D6E-409C-BE32-E72D297353CC}">
                <c16:uniqueId val="{0000000B-C3EC-49A5-BF1B-34576E401E84}"/>
              </c:ext>
            </c:extLst>
          </c:dPt>
          <c:dPt>
            <c:idx val="6"/>
            <c:invertIfNegative val="0"/>
            <c:bubble3D val="0"/>
            <c:spPr>
              <a:solidFill>
                <a:srgbClr val="FFC000"/>
              </a:solidFill>
              <a:effectLst/>
            </c:spPr>
            <c:extLst>
              <c:ext xmlns:c16="http://schemas.microsoft.com/office/drawing/2014/chart" uri="{C3380CC4-5D6E-409C-BE32-E72D297353CC}">
                <c16:uniqueId val="{0000000D-C3EC-49A5-BF1B-34576E401E84}"/>
              </c:ext>
            </c:extLst>
          </c:dPt>
          <c:dPt>
            <c:idx val="7"/>
            <c:invertIfNegative val="0"/>
            <c:bubble3D val="0"/>
            <c:extLst>
              <c:ext xmlns:c16="http://schemas.microsoft.com/office/drawing/2014/chart" uri="{C3380CC4-5D6E-409C-BE32-E72D297353CC}">
                <c16:uniqueId val="{0000000F-C3EC-49A5-BF1B-34576E401E84}"/>
              </c:ext>
            </c:extLst>
          </c:dPt>
          <c:dPt>
            <c:idx val="8"/>
            <c:invertIfNegative val="0"/>
            <c:bubble3D val="0"/>
            <c:extLst>
              <c:ext xmlns:c16="http://schemas.microsoft.com/office/drawing/2014/chart" uri="{C3380CC4-5D6E-409C-BE32-E72D297353CC}">
                <c16:uniqueId val="{00000011-C3EC-49A5-BF1B-34576E401E84}"/>
              </c:ext>
            </c:extLst>
          </c:dPt>
          <c:dPt>
            <c:idx val="9"/>
            <c:invertIfNegative val="0"/>
            <c:bubble3D val="0"/>
            <c:extLst>
              <c:ext xmlns:c16="http://schemas.microsoft.com/office/drawing/2014/chart" uri="{C3380CC4-5D6E-409C-BE32-E72D297353CC}">
                <c16:uniqueId val="{00000013-C3EC-49A5-BF1B-34576E401E84}"/>
              </c:ext>
            </c:extLst>
          </c:dPt>
          <c:dPt>
            <c:idx val="10"/>
            <c:invertIfNegative val="0"/>
            <c:bubble3D val="0"/>
            <c:extLst>
              <c:ext xmlns:c16="http://schemas.microsoft.com/office/drawing/2014/chart" uri="{C3380CC4-5D6E-409C-BE32-E72D297353CC}">
                <c16:uniqueId val="{00000015-C3EC-49A5-BF1B-34576E401E84}"/>
              </c:ext>
            </c:extLst>
          </c:dPt>
          <c:dPt>
            <c:idx val="11"/>
            <c:invertIfNegative val="0"/>
            <c:bubble3D val="0"/>
            <c:extLst>
              <c:ext xmlns:c16="http://schemas.microsoft.com/office/drawing/2014/chart" uri="{C3380CC4-5D6E-409C-BE32-E72D297353CC}">
                <c16:uniqueId val="{00000017-C3EC-49A5-BF1B-34576E401E84}"/>
              </c:ext>
            </c:extLst>
          </c:dPt>
          <c:dLbls>
            <c:delete val="1"/>
          </c:dLbls>
          <c:cat>
            <c:strRef>
              <c:f>Sheet1!$A$2:$A$13</c:f>
              <c:strCache>
                <c:ptCount val="12"/>
                <c:pt idx="0">
                  <c:v>Llama
1B</c:v>
                </c:pt>
                <c:pt idx="1">
                  <c:v>Llama
3B</c:v>
                </c:pt>
                <c:pt idx="2">
                  <c:v>Llama
8B</c:v>
                </c:pt>
                <c:pt idx="3">
                  <c:v>Qwen
1.5B</c:v>
                </c:pt>
                <c:pt idx="4">
                  <c:v>Qwen
3B</c:v>
                </c:pt>
                <c:pt idx="5">
                  <c:v>Phi-3
Mini</c:v>
                </c:pt>
                <c:pt idx="6">
                  <c:v>Mistral
7B</c:v>
                </c:pt>
                <c:pt idx="7">
                  <c:v>BioMistral
7B</c:v>
                </c:pt>
                <c:pt idx="8">
                  <c:v>Meditron
7B</c:v>
                </c:pt>
                <c:pt idx="9">
                  <c:v>Dok.Llama
8B</c:v>
                </c:pt>
                <c:pt idx="10">
                  <c:v>Dok.Llama
8B Cosmos</c:v>
                </c:pt>
                <c:pt idx="11">
                  <c:v>Turkish-Llama</c:v>
                </c:pt>
              </c:strCache>
            </c:strRef>
          </c:cat>
          <c:val>
            <c:numRef>
              <c:f>Sheet1!$B$2:$B$13</c:f>
              <c:numCache>
                <c:formatCode>General</c:formatCode>
                <c:ptCount val="12"/>
                <c:pt idx="0">
                  <c:v>0.76</c:v>
                </c:pt>
                <c:pt idx="1">
                  <c:v>0.78</c:v>
                </c:pt>
                <c:pt idx="2">
                  <c:v>0.78</c:v>
                </c:pt>
                <c:pt idx="3">
                  <c:v>0.76</c:v>
                </c:pt>
                <c:pt idx="4">
                  <c:v>0.78</c:v>
                </c:pt>
                <c:pt idx="5">
                  <c:v>0.76</c:v>
                </c:pt>
                <c:pt idx="6">
                  <c:v>0.81</c:v>
                </c:pt>
                <c:pt idx="7">
                  <c:v>0.78</c:v>
                </c:pt>
                <c:pt idx="8">
                  <c:v>0.77</c:v>
                </c:pt>
                <c:pt idx="9">
                  <c:v>0.78</c:v>
                </c:pt>
                <c:pt idx="10">
                  <c:v>0.77</c:v>
                </c:pt>
                <c:pt idx="11">
                  <c:v>0.79</c:v>
                </c:pt>
              </c:numCache>
            </c:numRef>
          </c:val>
          <c:extLst>
            <c:ext xmlns:c16="http://schemas.microsoft.com/office/drawing/2014/chart" uri="{C3380CC4-5D6E-409C-BE32-E72D297353CC}">
              <c16:uniqueId val="{00000018-C3EC-49A5-BF1B-34576E401E8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5400000" vert="horz"/>
          <a:lstStyle/>
          <a:p>
            <a:pPr>
              <a:defRPr/>
            </a:pPr>
            <a:endParaRPr lang="tr-TR"/>
          </a:p>
        </c:txPr>
        <c:crossAx val="2094734552"/>
        <c:crosses val="autoZero"/>
        <c:auto val="1"/>
        <c:lblAlgn val="ctr"/>
        <c:lblOffset val="100"/>
        <c:noMultiLvlLbl val="1"/>
      </c:catAx>
      <c:valAx>
        <c:axId val="2094734552"/>
        <c:scaling>
          <c:orientation val="minMax"/>
          <c:max val="1"/>
          <c:min val="0.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txPr>
    <a:bodyPr/>
    <a:lstStyle/>
    <a:p>
      <a:pPr>
        <a:defRPr>
          <a:solidFill>
            <a:schemeClr val="tx1"/>
          </a:solidFill>
        </a:defRPr>
      </a:pPr>
      <a:endParaRPr lang="tr-T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368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5A173-25C4-8DC3-AE63-F876E9089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055F0-C45E-FE58-8341-B3C0ED905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C9DEC4-DDE8-AED1-7C3F-42D8E1D71B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1F213E-7E58-ACF8-BEAE-BBFA6020CB9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937033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98E2A-21E0-F9F0-6B45-27B75D289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3EB4C-8C96-A708-9283-6E580F896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E3859-9DDD-4881-1FB9-DAFCF426AD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DE60EE-3BCE-49C5-EB41-8B365E00F626}"/>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845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DC99-DD8F-FD94-0737-5F18DBB5E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08010-B804-FF74-7083-9CB5E0438B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B3734-4941-74CA-566C-88CC56A6ED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54A448-69D5-846D-9C53-C9792CFE941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4973214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2961-B8DF-5FF6-795D-7FA912647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07333-3C13-25AD-2E8E-99D8E4ED7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D8258-199A-97DC-52F3-DDD651FFFB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D22207-131A-640E-F901-10A881D304B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733288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Shape 1"/>
          <p:cNvSpPr/>
          <p:nvPr/>
        </p:nvSpPr>
        <p:spPr>
          <a:xfrm>
            <a:off x="7132320" y="-457200"/>
            <a:ext cx="3200400" cy="3200400"/>
          </a:xfrm>
          <a:prstGeom prst="ellipse">
            <a:avLst/>
          </a:prstGeom>
          <a:solidFill>
            <a:srgbClr val="0D9488">
              <a:alpha val="12000"/>
            </a:srgbClr>
          </a:solidFill>
          <a:ln w="12700">
            <a:solidFill>
              <a:srgbClr val="14B8A6">
                <a:alpha val="30000"/>
              </a:srgbClr>
            </a:solidFill>
            <a:prstDash val="solid"/>
          </a:ln>
        </p:spPr>
      </p:sp>
      <p:sp>
        <p:nvSpPr>
          <p:cNvPr id="4" name="Shape 2"/>
          <p:cNvSpPr/>
          <p:nvPr/>
        </p:nvSpPr>
        <p:spPr>
          <a:xfrm>
            <a:off x="7589520" y="2926080"/>
            <a:ext cx="2011680" cy="2011680"/>
          </a:xfrm>
          <a:prstGeom prst="ellipse">
            <a:avLst/>
          </a:prstGeom>
          <a:solidFill>
            <a:srgbClr val="0D9488">
              <a:alpha val="18000"/>
            </a:srgbClr>
          </a:solidFill>
          <a:ln w="12700">
            <a:solidFill>
              <a:srgbClr val="0D9488">
                <a:alpha val="35000"/>
              </a:srgbClr>
            </a:solidFill>
            <a:prstDash val="solid"/>
          </a:ln>
        </p:spPr>
      </p:sp>
      <p:sp>
        <p:nvSpPr>
          <p:cNvPr id="5" name="Text 3"/>
          <p:cNvSpPr/>
          <p:nvPr/>
        </p:nvSpPr>
        <p:spPr>
          <a:xfrm>
            <a:off x="640080" y="548640"/>
            <a:ext cx="7315200" cy="365760"/>
          </a:xfrm>
          <a:prstGeom prst="rect">
            <a:avLst/>
          </a:prstGeom>
          <a:noFill/>
          <a:ln/>
        </p:spPr>
        <p:txBody>
          <a:bodyPr wrap="square" rtlCol="0" anchor="ctr"/>
          <a:lstStyle/>
          <a:p>
            <a:pPr marL="0" indent="0">
              <a:buNone/>
            </a:pPr>
            <a:r>
              <a:rPr lang="en-US" sz="1100" b="1" kern="0" spc="400" dirty="0">
                <a:solidFill>
                  <a:srgbClr val="14B8A6"/>
                </a:solidFill>
              </a:rPr>
              <a:t>BİTİRME PROJESİ</a:t>
            </a:r>
            <a:endParaRPr lang="en-US" sz="1100" dirty="0"/>
          </a:p>
        </p:txBody>
      </p:sp>
      <p:sp>
        <p:nvSpPr>
          <p:cNvPr id="6" name="Text 4"/>
          <p:cNvSpPr/>
          <p:nvPr/>
        </p:nvSpPr>
        <p:spPr>
          <a:xfrm>
            <a:off x="640080" y="1051560"/>
            <a:ext cx="7772400" cy="1737360"/>
          </a:xfrm>
          <a:prstGeom prst="rect">
            <a:avLst/>
          </a:prstGeom>
          <a:noFill/>
          <a:ln/>
        </p:spPr>
        <p:txBody>
          <a:bodyPr wrap="square" rtlCol="0" anchor="ctr"/>
          <a:lstStyle/>
          <a:p>
            <a:pPr marL="0" indent="0" algn="l">
              <a:buNone/>
            </a:pPr>
            <a:r>
              <a:rPr lang="en-US" sz="3000" b="1" dirty="0" err="1">
                <a:solidFill>
                  <a:srgbClr val="FFFFFF"/>
                </a:solidFill>
              </a:rPr>
              <a:t>Türkçe</a:t>
            </a:r>
            <a:r>
              <a:rPr lang="en-US" sz="3000" b="1" dirty="0">
                <a:solidFill>
                  <a:srgbClr val="FFFFFF"/>
                </a:solidFill>
              </a:rPr>
              <a:t> </a:t>
            </a:r>
            <a:r>
              <a:rPr lang="en-US" sz="3000" b="1" dirty="0" err="1">
                <a:solidFill>
                  <a:srgbClr val="FFFFFF"/>
                </a:solidFill>
              </a:rPr>
              <a:t>Tıbbi</a:t>
            </a:r>
            <a:r>
              <a:rPr lang="en-US" sz="3000" b="1" dirty="0">
                <a:solidFill>
                  <a:srgbClr val="FFFFFF"/>
                </a:solidFill>
              </a:rPr>
              <a:t> </a:t>
            </a:r>
            <a:r>
              <a:rPr lang="en-US" sz="3000" b="1" dirty="0" err="1">
                <a:solidFill>
                  <a:srgbClr val="FFFFFF"/>
                </a:solidFill>
              </a:rPr>
              <a:t>Metinlerden</a:t>
            </a:r>
            <a:r>
              <a:rPr lang="en-US" sz="3000" b="1" dirty="0">
                <a:solidFill>
                  <a:srgbClr val="FFFFFF"/>
                </a:solidFill>
              </a:rPr>
              <a:t> </a:t>
            </a:r>
            <a:r>
              <a:rPr lang="en-US" sz="3000" b="1" dirty="0" err="1">
                <a:solidFill>
                  <a:srgbClr val="FFFFFF"/>
                </a:solidFill>
              </a:rPr>
              <a:t>Öğrenen</a:t>
            </a:r>
            <a:endParaRPr lang="en-US" sz="3000" dirty="0"/>
          </a:p>
          <a:p>
            <a:pPr marL="0" indent="0" algn="l">
              <a:buNone/>
            </a:pPr>
            <a:r>
              <a:rPr lang="en-US" sz="3000" b="1" dirty="0">
                <a:solidFill>
                  <a:srgbClr val="FFFFFF"/>
                </a:solidFill>
              </a:rPr>
              <a:t>Alana </a:t>
            </a:r>
            <a:r>
              <a:rPr lang="en-US" sz="3000" b="1" dirty="0" err="1">
                <a:solidFill>
                  <a:srgbClr val="FFFFFF"/>
                </a:solidFill>
              </a:rPr>
              <a:t>Özgü</a:t>
            </a:r>
            <a:r>
              <a:rPr lang="en-US" sz="3000" b="1" dirty="0">
                <a:solidFill>
                  <a:srgbClr val="FFFFFF"/>
                </a:solidFill>
              </a:rPr>
              <a:t> </a:t>
            </a:r>
            <a:r>
              <a:rPr lang="en-US" sz="3000" b="1" dirty="0" err="1">
                <a:solidFill>
                  <a:srgbClr val="FFFFFF"/>
                </a:solidFill>
              </a:rPr>
              <a:t>Büyük</a:t>
            </a:r>
            <a:r>
              <a:rPr lang="en-US" sz="3000" b="1" dirty="0">
                <a:solidFill>
                  <a:srgbClr val="FFFFFF"/>
                </a:solidFill>
              </a:rPr>
              <a:t> </a:t>
            </a:r>
            <a:r>
              <a:rPr lang="en-US" sz="3000" b="1" dirty="0" err="1">
                <a:solidFill>
                  <a:srgbClr val="FFFFFF"/>
                </a:solidFill>
              </a:rPr>
              <a:t>Dil</a:t>
            </a:r>
            <a:r>
              <a:rPr lang="en-US" sz="3000" b="1" dirty="0">
                <a:solidFill>
                  <a:srgbClr val="FFFFFF"/>
                </a:solidFill>
              </a:rPr>
              <a:t> </a:t>
            </a:r>
            <a:r>
              <a:rPr lang="en-US" sz="3000" b="1" dirty="0" err="1">
                <a:solidFill>
                  <a:srgbClr val="FFFFFF"/>
                </a:solidFill>
              </a:rPr>
              <a:t>Modeli</a:t>
            </a:r>
            <a:r>
              <a:rPr lang="en-US" sz="3000" b="1" dirty="0">
                <a:solidFill>
                  <a:srgbClr val="FFFFFF"/>
                </a:solidFill>
              </a:rPr>
              <a:t> </a:t>
            </a:r>
            <a:r>
              <a:rPr lang="en-US" sz="3000" b="1" dirty="0" err="1">
                <a:solidFill>
                  <a:srgbClr val="FFFFFF"/>
                </a:solidFill>
              </a:rPr>
              <a:t>Geliştirilmesi</a:t>
            </a:r>
            <a:endParaRPr lang="en-US" sz="3000" dirty="0"/>
          </a:p>
        </p:txBody>
      </p:sp>
      <p:sp>
        <p:nvSpPr>
          <p:cNvPr id="7" name="Shape 5"/>
          <p:cNvSpPr/>
          <p:nvPr/>
        </p:nvSpPr>
        <p:spPr>
          <a:xfrm>
            <a:off x="640080" y="2926080"/>
            <a:ext cx="2286000" cy="0"/>
          </a:xfrm>
          <a:prstGeom prst="line">
            <a:avLst/>
          </a:prstGeom>
          <a:noFill/>
          <a:ln w="25400">
            <a:solidFill>
              <a:srgbClr val="0D9488"/>
            </a:solidFill>
            <a:prstDash val="solid"/>
          </a:ln>
        </p:spPr>
      </p:sp>
      <p:sp>
        <p:nvSpPr>
          <p:cNvPr id="8" name="Text 6"/>
          <p:cNvSpPr/>
          <p:nvPr/>
        </p:nvSpPr>
        <p:spPr>
          <a:xfrm>
            <a:off x="640080" y="3154680"/>
            <a:ext cx="8229600" cy="1280160"/>
          </a:xfrm>
          <a:prstGeom prst="rect">
            <a:avLst/>
          </a:prstGeom>
          <a:noFill/>
          <a:ln/>
        </p:spPr>
        <p:txBody>
          <a:bodyPr wrap="square" rtlCol="0" anchor="ctr"/>
          <a:lstStyle/>
          <a:p>
            <a:pPr marL="0" indent="0">
              <a:buNone/>
            </a:pPr>
            <a:r>
              <a:rPr lang="en-US" sz="1300">
                <a:solidFill>
                  <a:srgbClr val="A8C4E0"/>
                </a:solidFill>
              </a:rPr>
              <a:t>Helia Rezapour Kiani  ·  Zeynep Zeren Karayiğit</a:t>
            </a:r>
            <a:endParaRPr lang="en-US" sz="1300"/>
          </a:p>
          <a:p>
            <a:pPr marL="0" indent="0">
              <a:buNone/>
            </a:pPr>
            <a:r>
              <a:rPr lang="en-US" sz="1300">
                <a:solidFill>
                  <a:srgbClr val="A8C4E0"/>
                </a:solidFill>
              </a:rPr>
              <a:t>Danışman: Doç. Dr. Ayşe Berna Altınel Girgin  ·  Dr. Merve Pınar</a:t>
            </a:r>
            <a:endParaRPr lang="en-US" sz="1300"/>
          </a:p>
          <a:p>
            <a:pPr marL="0" indent="0">
              <a:buNone/>
            </a:pPr>
            <a:r>
              <a:rPr lang="en-US" sz="1300">
                <a:solidFill>
                  <a:srgbClr val="A8C4E0"/>
                </a:solidFill>
              </a:rPr>
              <a:t>Marmara Üniversitesi – Bilgisayar Mühendisliği  ·  Haziran 2026</a:t>
            </a:r>
            <a:endParaRPr lang="en-US" sz="1300"/>
          </a:p>
        </p:txBody>
      </p:sp>
      <p:sp>
        <p:nvSpPr>
          <p:cNvPr id="9" name="Shape 7"/>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İçindekiler</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40" y="96012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6" name="Text 4"/>
          <p:cNvSpPr/>
          <p:nvPr/>
        </p:nvSpPr>
        <p:spPr>
          <a:xfrm>
            <a:off x="484632" y="1051560"/>
            <a:ext cx="594360" cy="457200"/>
          </a:xfrm>
          <a:prstGeom prst="rect">
            <a:avLst/>
          </a:prstGeom>
          <a:noFill/>
          <a:ln/>
        </p:spPr>
        <p:txBody>
          <a:bodyPr wrap="square" lIns="0" tIns="0" rIns="0" bIns="0" rtlCol="0" anchor="ctr"/>
          <a:lstStyle/>
          <a:p>
            <a:pPr marL="0" indent="0">
              <a:buNone/>
            </a:pPr>
            <a:r>
              <a:rPr lang="en-US" sz="1800" b="1">
                <a:solidFill>
                  <a:srgbClr val="0D9488"/>
                </a:solidFill>
              </a:rPr>
              <a:t>01</a:t>
            </a:r>
            <a:endParaRPr lang="en-US" sz="1800"/>
          </a:p>
        </p:txBody>
      </p:sp>
      <p:sp>
        <p:nvSpPr>
          <p:cNvPr id="7" name="Text 5"/>
          <p:cNvSpPr/>
          <p:nvPr/>
        </p:nvSpPr>
        <p:spPr>
          <a:xfrm>
            <a:off x="1069848" y="1014984"/>
            <a:ext cx="3200400" cy="384048"/>
          </a:xfrm>
          <a:prstGeom prst="rect">
            <a:avLst/>
          </a:prstGeom>
          <a:noFill/>
          <a:ln/>
        </p:spPr>
        <p:txBody>
          <a:bodyPr wrap="square" lIns="0" tIns="0" rIns="0" bIns="0" rtlCol="0" anchor="ctr"/>
          <a:lstStyle/>
          <a:p>
            <a:pPr marL="0" indent="0">
              <a:buNone/>
            </a:pPr>
            <a:r>
              <a:rPr lang="en-US" sz="1400" b="1">
                <a:solidFill>
                  <a:srgbClr val="0B1F4B"/>
                </a:solidFill>
              </a:rPr>
              <a:t>Veri Hazırlama</a:t>
            </a:r>
            <a:endParaRPr lang="en-US" sz="1400"/>
          </a:p>
        </p:txBody>
      </p:sp>
      <p:sp>
        <p:nvSpPr>
          <p:cNvPr id="8" name="Text 6"/>
          <p:cNvSpPr/>
          <p:nvPr/>
        </p:nvSpPr>
        <p:spPr>
          <a:xfrm>
            <a:off x="1069848" y="1453896"/>
            <a:ext cx="3200400" cy="475488"/>
          </a:xfrm>
          <a:prstGeom prst="rect">
            <a:avLst/>
          </a:prstGeom>
          <a:noFill/>
          <a:ln/>
        </p:spPr>
        <p:txBody>
          <a:bodyPr wrap="square" lIns="0" tIns="0" rIns="0" bIns="0" rtlCol="0" anchor="ctr"/>
          <a:lstStyle/>
          <a:p>
            <a:pPr marL="0" indent="0">
              <a:buNone/>
            </a:pPr>
            <a:r>
              <a:rPr lang="en-US" sz="1050">
                <a:solidFill>
                  <a:srgbClr val="64748B"/>
                </a:solidFill>
              </a:rPr>
              <a:t>Veri seti, temizleme, instruction tuning formatı</a:t>
            </a:r>
            <a:endParaRPr lang="en-US" sz="1050"/>
          </a:p>
        </p:txBody>
      </p:sp>
      <p:sp>
        <p:nvSpPr>
          <p:cNvPr id="9" name="Shape 7"/>
          <p:cNvSpPr/>
          <p:nvPr/>
        </p:nvSpPr>
        <p:spPr>
          <a:xfrm>
            <a:off x="320040" y="224028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0" name="Text 8"/>
          <p:cNvSpPr/>
          <p:nvPr/>
        </p:nvSpPr>
        <p:spPr>
          <a:xfrm>
            <a:off x="484632" y="2331720"/>
            <a:ext cx="594360" cy="457200"/>
          </a:xfrm>
          <a:prstGeom prst="rect">
            <a:avLst/>
          </a:prstGeom>
          <a:noFill/>
          <a:ln/>
        </p:spPr>
        <p:txBody>
          <a:bodyPr wrap="square" lIns="0" tIns="0" rIns="0" bIns="0" rtlCol="0" anchor="ctr"/>
          <a:lstStyle/>
          <a:p>
            <a:pPr marL="0" indent="0">
              <a:buNone/>
            </a:pPr>
            <a:r>
              <a:rPr lang="en-US" sz="1800" b="1">
                <a:solidFill>
                  <a:srgbClr val="0D9488"/>
                </a:solidFill>
              </a:rPr>
              <a:t>02</a:t>
            </a:r>
            <a:endParaRPr lang="en-US" sz="1800"/>
          </a:p>
        </p:txBody>
      </p:sp>
      <p:sp>
        <p:nvSpPr>
          <p:cNvPr id="11" name="Text 9"/>
          <p:cNvSpPr/>
          <p:nvPr/>
        </p:nvSpPr>
        <p:spPr>
          <a:xfrm>
            <a:off x="1069848" y="2295144"/>
            <a:ext cx="3200400" cy="384048"/>
          </a:xfrm>
          <a:prstGeom prst="rect">
            <a:avLst/>
          </a:prstGeom>
          <a:noFill/>
          <a:ln/>
        </p:spPr>
        <p:txBody>
          <a:bodyPr wrap="square" lIns="0" tIns="0" rIns="0" bIns="0" rtlCol="0" anchor="ctr"/>
          <a:lstStyle/>
          <a:p>
            <a:pPr marL="0" indent="0">
              <a:buNone/>
            </a:pPr>
            <a:r>
              <a:rPr lang="en-US" sz="1400" b="1">
                <a:solidFill>
                  <a:srgbClr val="0B1F4B"/>
                </a:solidFill>
              </a:rPr>
              <a:t>İş Akışı</a:t>
            </a:r>
            <a:endParaRPr lang="en-US" sz="1400"/>
          </a:p>
        </p:txBody>
      </p:sp>
      <p:sp>
        <p:nvSpPr>
          <p:cNvPr id="12" name="Text 10"/>
          <p:cNvSpPr/>
          <p:nvPr/>
        </p:nvSpPr>
        <p:spPr>
          <a:xfrm>
            <a:off x="1069848" y="2734056"/>
            <a:ext cx="3200400" cy="475488"/>
          </a:xfrm>
          <a:prstGeom prst="rect">
            <a:avLst/>
          </a:prstGeom>
          <a:noFill/>
          <a:ln/>
        </p:spPr>
        <p:txBody>
          <a:bodyPr wrap="square" lIns="0" tIns="0" rIns="0" bIns="0" rtlCol="0" anchor="ctr"/>
          <a:lstStyle/>
          <a:p>
            <a:pPr marL="0" indent="0">
              <a:buNone/>
            </a:pPr>
            <a:r>
              <a:rPr lang="en-US" sz="1050">
                <a:solidFill>
                  <a:srgbClr val="64748B"/>
                </a:solidFill>
              </a:rPr>
              <a:t>Fine-tuning pipeline, QLoRA, Unsloth</a:t>
            </a:r>
            <a:endParaRPr lang="en-US" sz="1050"/>
          </a:p>
        </p:txBody>
      </p:sp>
      <p:sp>
        <p:nvSpPr>
          <p:cNvPr id="13" name="Shape 11"/>
          <p:cNvSpPr/>
          <p:nvPr/>
        </p:nvSpPr>
        <p:spPr>
          <a:xfrm>
            <a:off x="320040" y="352044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4" name="Text 12"/>
          <p:cNvSpPr/>
          <p:nvPr/>
        </p:nvSpPr>
        <p:spPr>
          <a:xfrm>
            <a:off x="484632" y="3611880"/>
            <a:ext cx="594360" cy="457200"/>
          </a:xfrm>
          <a:prstGeom prst="rect">
            <a:avLst/>
          </a:prstGeom>
          <a:noFill/>
          <a:ln/>
        </p:spPr>
        <p:txBody>
          <a:bodyPr wrap="square" lIns="0" tIns="0" rIns="0" bIns="0" rtlCol="0" anchor="ctr"/>
          <a:lstStyle/>
          <a:p>
            <a:pPr marL="0" indent="0">
              <a:buNone/>
            </a:pPr>
            <a:r>
              <a:rPr lang="en-US" sz="1800" b="1">
                <a:solidFill>
                  <a:srgbClr val="0D9488"/>
                </a:solidFill>
              </a:rPr>
              <a:t>03</a:t>
            </a:r>
            <a:endParaRPr lang="en-US" sz="1800"/>
          </a:p>
        </p:txBody>
      </p:sp>
      <p:sp>
        <p:nvSpPr>
          <p:cNvPr id="15" name="Text 13"/>
          <p:cNvSpPr/>
          <p:nvPr/>
        </p:nvSpPr>
        <p:spPr>
          <a:xfrm>
            <a:off x="1069848" y="3575304"/>
            <a:ext cx="3200400" cy="384048"/>
          </a:xfrm>
          <a:prstGeom prst="rect">
            <a:avLst/>
          </a:prstGeom>
          <a:noFill/>
          <a:ln/>
        </p:spPr>
        <p:txBody>
          <a:bodyPr wrap="square" lIns="0" tIns="0" rIns="0" bIns="0" rtlCol="0" anchor="ctr"/>
          <a:lstStyle/>
          <a:p>
            <a:pPr marL="0" indent="0">
              <a:buNone/>
            </a:pPr>
            <a:r>
              <a:rPr lang="en-US" sz="1400" b="1">
                <a:solidFill>
                  <a:srgbClr val="0B1F4B"/>
                </a:solidFill>
              </a:rPr>
              <a:t>Kullanılan Modeller</a:t>
            </a:r>
            <a:endParaRPr lang="en-US" sz="1400"/>
          </a:p>
        </p:txBody>
      </p:sp>
      <p:sp>
        <p:nvSpPr>
          <p:cNvPr id="16" name="Text 14"/>
          <p:cNvSpPr/>
          <p:nvPr/>
        </p:nvSpPr>
        <p:spPr>
          <a:xfrm>
            <a:off x="1069848" y="4014216"/>
            <a:ext cx="3200400" cy="475488"/>
          </a:xfrm>
          <a:prstGeom prst="rect">
            <a:avLst/>
          </a:prstGeom>
          <a:noFill/>
          <a:ln/>
        </p:spPr>
        <p:txBody>
          <a:bodyPr wrap="square" lIns="0" tIns="0" rIns="0" bIns="0" rtlCol="0" anchor="ctr"/>
          <a:lstStyle/>
          <a:p>
            <a:pPr marL="0" indent="0">
              <a:buNone/>
            </a:pPr>
            <a:r>
              <a:rPr lang="en-US" sz="1050">
                <a:solidFill>
                  <a:srgbClr val="64748B"/>
                </a:solidFill>
              </a:rPr>
              <a:t>~10 açık kaynaklı LLM ailesi</a:t>
            </a:r>
            <a:endParaRPr lang="en-US" sz="1050"/>
          </a:p>
        </p:txBody>
      </p:sp>
      <p:sp>
        <p:nvSpPr>
          <p:cNvPr id="17" name="Shape 15"/>
          <p:cNvSpPr/>
          <p:nvPr/>
        </p:nvSpPr>
        <p:spPr>
          <a:xfrm>
            <a:off x="4754880" y="96012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8" name="Text 16"/>
          <p:cNvSpPr/>
          <p:nvPr/>
        </p:nvSpPr>
        <p:spPr>
          <a:xfrm>
            <a:off x="4919472" y="1051560"/>
            <a:ext cx="594360" cy="457200"/>
          </a:xfrm>
          <a:prstGeom prst="rect">
            <a:avLst/>
          </a:prstGeom>
          <a:noFill/>
          <a:ln/>
        </p:spPr>
        <p:txBody>
          <a:bodyPr wrap="square" lIns="0" tIns="0" rIns="0" bIns="0" rtlCol="0" anchor="ctr"/>
          <a:lstStyle/>
          <a:p>
            <a:pPr marL="0" indent="0">
              <a:buNone/>
            </a:pPr>
            <a:r>
              <a:rPr lang="en-US" sz="1800" b="1">
                <a:solidFill>
                  <a:srgbClr val="0D9488"/>
                </a:solidFill>
              </a:rPr>
              <a:t>04</a:t>
            </a:r>
            <a:endParaRPr lang="en-US" sz="1800"/>
          </a:p>
        </p:txBody>
      </p:sp>
      <p:sp>
        <p:nvSpPr>
          <p:cNvPr id="19" name="Text 17"/>
          <p:cNvSpPr/>
          <p:nvPr/>
        </p:nvSpPr>
        <p:spPr>
          <a:xfrm>
            <a:off x="5504688" y="1014984"/>
            <a:ext cx="3200400" cy="384048"/>
          </a:xfrm>
          <a:prstGeom prst="rect">
            <a:avLst/>
          </a:prstGeom>
          <a:noFill/>
          <a:ln/>
        </p:spPr>
        <p:txBody>
          <a:bodyPr wrap="square" lIns="0" tIns="0" rIns="0" bIns="0" rtlCol="0" anchor="ctr"/>
          <a:lstStyle/>
          <a:p>
            <a:pPr marL="0" indent="0">
              <a:buNone/>
            </a:pPr>
            <a:r>
              <a:rPr lang="en-US" sz="1400" b="1">
                <a:solidFill>
                  <a:srgbClr val="0B1F4B"/>
                </a:solidFill>
              </a:rPr>
              <a:t>Kullanılan Metrikler</a:t>
            </a:r>
            <a:endParaRPr lang="en-US" sz="1400"/>
          </a:p>
        </p:txBody>
      </p:sp>
      <p:sp>
        <p:nvSpPr>
          <p:cNvPr id="20" name="Text 18"/>
          <p:cNvSpPr/>
          <p:nvPr/>
        </p:nvSpPr>
        <p:spPr>
          <a:xfrm>
            <a:off x="5504688" y="1453896"/>
            <a:ext cx="3200400" cy="475488"/>
          </a:xfrm>
          <a:prstGeom prst="rect">
            <a:avLst/>
          </a:prstGeom>
          <a:noFill/>
          <a:ln/>
        </p:spPr>
        <p:txBody>
          <a:bodyPr wrap="square" lIns="0" tIns="0" rIns="0" bIns="0" rtlCol="0" anchor="ctr"/>
          <a:lstStyle/>
          <a:p>
            <a:pPr marL="0" indent="0">
              <a:buNone/>
            </a:pPr>
            <a:r>
              <a:rPr lang="en-US" sz="1050">
                <a:solidFill>
                  <a:srgbClr val="64748B"/>
                </a:solidFill>
              </a:rPr>
              <a:t>ROUGE-L, BERTScore F1</a:t>
            </a:r>
            <a:endParaRPr lang="en-US" sz="1050"/>
          </a:p>
        </p:txBody>
      </p:sp>
      <p:sp>
        <p:nvSpPr>
          <p:cNvPr id="21" name="Shape 19"/>
          <p:cNvSpPr/>
          <p:nvPr/>
        </p:nvSpPr>
        <p:spPr>
          <a:xfrm>
            <a:off x="4754880" y="224028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2" name="Text 20"/>
          <p:cNvSpPr/>
          <p:nvPr/>
        </p:nvSpPr>
        <p:spPr>
          <a:xfrm>
            <a:off x="4919472" y="2331720"/>
            <a:ext cx="594360" cy="457200"/>
          </a:xfrm>
          <a:prstGeom prst="rect">
            <a:avLst/>
          </a:prstGeom>
          <a:noFill/>
          <a:ln/>
        </p:spPr>
        <p:txBody>
          <a:bodyPr wrap="square" lIns="0" tIns="0" rIns="0" bIns="0" rtlCol="0" anchor="ctr"/>
          <a:lstStyle/>
          <a:p>
            <a:pPr marL="0" indent="0">
              <a:buNone/>
            </a:pPr>
            <a:r>
              <a:rPr lang="en-US" sz="1800" b="1">
                <a:solidFill>
                  <a:srgbClr val="0D9488"/>
                </a:solidFill>
              </a:rPr>
              <a:t>05</a:t>
            </a:r>
            <a:endParaRPr lang="en-US" sz="1800"/>
          </a:p>
        </p:txBody>
      </p:sp>
      <p:sp>
        <p:nvSpPr>
          <p:cNvPr id="23" name="Text 21"/>
          <p:cNvSpPr/>
          <p:nvPr/>
        </p:nvSpPr>
        <p:spPr>
          <a:xfrm>
            <a:off x="5504688" y="2295144"/>
            <a:ext cx="3200400" cy="384048"/>
          </a:xfrm>
          <a:prstGeom prst="rect">
            <a:avLst/>
          </a:prstGeom>
          <a:noFill/>
          <a:ln/>
        </p:spPr>
        <p:txBody>
          <a:bodyPr wrap="square" lIns="0" tIns="0" rIns="0" bIns="0" rtlCol="0" anchor="ctr"/>
          <a:lstStyle/>
          <a:p>
            <a:pPr marL="0" indent="0">
              <a:buNone/>
            </a:pPr>
            <a:r>
              <a:rPr lang="en-US" sz="1400" b="1">
                <a:solidFill>
                  <a:srgbClr val="0B1F4B"/>
                </a:solidFill>
              </a:rPr>
              <a:t>Performans Değerlendirmesi</a:t>
            </a:r>
            <a:endParaRPr lang="en-US" sz="1400"/>
          </a:p>
        </p:txBody>
      </p:sp>
      <p:sp>
        <p:nvSpPr>
          <p:cNvPr id="24" name="Text 22"/>
          <p:cNvSpPr/>
          <p:nvPr/>
        </p:nvSpPr>
        <p:spPr>
          <a:xfrm>
            <a:off x="5504688" y="2734056"/>
            <a:ext cx="3200400" cy="475488"/>
          </a:xfrm>
          <a:prstGeom prst="rect">
            <a:avLst/>
          </a:prstGeom>
          <a:noFill/>
          <a:ln/>
        </p:spPr>
        <p:txBody>
          <a:bodyPr wrap="square" lIns="0" tIns="0" rIns="0" bIns="0" rtlCol="0" anchor="ctr"/>
          <a:lstStyle/>
          <a:p>
            <a:pPr marL="0" indent="0">
              <a:buNone/>
            </a:pPr>
            <a:r>
              <a:rPr lang="en-US" sz="1050">
                <a:solidFill>
                  <a:srgbClr val="64748B"/>
                </a:solidFill>
              </a:rPr>
              <a:t>Loss analizi, karşılaştırmalı sonuçlar</a:t>
            </a:r>
            <a:endParaRPr lang="en-US" sz="1050"/>
          </a:p>
        </p:txBody>
      </p:sp>
      <p:sp>
        <p:nvSpPr>
          <p:cNvPr id="25" name="Shape 23"/>
          <p:cNvSpPr/>
          <p:nvPr/>
        </p:nvSpPr>
        <p:spPr>
          <a:xfrm>
            <a:off x="4754880" y="3520440"/>
            <a:ext cx="4160520" cy="1115568"/>
          </a:xfrm>
          <a:prstGeom prst="roundRect">
            <a:avLst>
              <a:gd name="adj" fmla="val 655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6" name="Text 24"/>
          <p:cNvSpPr/>
          <p:nvPr/>
        </p:nvSpPr>
        <p:spPr>
          <a:xfrm>
            <a:off x="4919472" y="3611880"/>
            <a:ext cx="594360" cy="457200"/>
          </a:xfrm>
          <a:prstGeom prst="rect">
            <a:avLst/>
          </a:prstGeom>
          <a:noFill/>
          <a:ln/>
        </p:spPr>
        <p:txBody>
          <a:bodyPr wrap="square" lIns="0" tIns="0" rIns="0" bIns="0" rtlCol="0" anchor="ctr"/>
          <a:lstStyle/>
          <a:p>
            <a:pPr marL="0" indent="0">
              <a:buNone/>
            </a:pPr>
            <a:r>
              <a:rPr lang="en-US" sz="1800" b="1">
                <a:solidFill>
                  <a:srgbClr val="0D9488"/>
                </a:solidFill>
              </a:rPr>
              <a:t>06</a:t>
            </a:r>
            <a:endParaRPr lang="en-US" sz="1800"/>
          </a:p>
        </p:txBody>
      </p:sp>
      <p:sp>
        <p:nvSpPr>
          <p:cNvPr id="27" name="Text 25"/>
          <p:cNvSpPr/>
          <p:nvPr/>
        </p:nvSpPr>
        <p:spPr>
          <a:xfrm>
            <a:off x="5504688" y="3575304"/>
            <a:ext cx="3200400" cy="384048"/>
          </a:xfrm>
          <a:prstGeom prst="rect">
            <a:avLst/>
          </a:prstGeom>
          <a:noFill/>
          <a:ln/>
        </p:spPr>
        <p:txBody>
          <a:bodyPr wrap="square" lIns="0" tIns="0" rIns="0" bIns="0" rtlCol="0" anchor="ctr"/>
          <a:lstStyle/>
          <a:p>
            <a:pPr marL="0" indent="0">
              <a:buNone/>
            </a:pPr>
            <a:r>
              <a:rPr lang="tr-TR" sz="1400" b="1">
                <a:solidFill>
                  <a:srgbClr val="0B1F4B"/>
                </a:solidFill>
              </a:rPr>
              <a:t>Örnek Sonuçlar</a:t>
            </a:r>
            <a:endParaRPr lang="en-US" sz="1400"/>
          </a:p>
        </p:txBody>
      </p:sp>
      <p:sp>
        <p:nvSpPr>
          <p:cNvPr id="28" name="Text 26"/>
          <p:cNvSpPr/>
          <p:nvPr/>
        </p:nvSpPr>
        <p:spPr>
          <a:xfrm>
            <a:off x="5504688" y="4014216"/>
            <a:ext cx="3200400" cy="475488"/>
          </a:xfrm>
          <a:prstGeom prst="rect">
            <a:avLst/>
          </a:prstGeom>
          <a:noFill/>
          <a:ln/>
        </p:spPr>
        <p:txBody>
          <a:bodyPr wrap="square" lIns="0" tIns="0" rIns="0" bIns="0" rtlCol="0" anchor="ctr"/>
          <a:lstStyle/>
          <a:p>
            <a:pPr marL="0" indent="0">
              <a:buNone/>
            </a:pPr>
            <a:r>
              <a:rPr lang="tr-TR" sz="1050">
                <a:solidFill>
                  <a:srgbClr val="64748B"/>
                </a:solidFill>
              </a:rPr>
              <a:t>Hiç </a:t>
            </a:r>
            <a:r>
              <a:rPr lang="en-US" sz="1050" err="1">
                <a:solidFill>
                  <a:srgbClr val="64748B"/>
                </a:solidFill>
              </a:rPr>
              <a:t>görülmemiş</a:t>
            </a:r>
            <a:r>
              <a:rPr lang="en-US" sz="1050">
                <a:solidFill>
                  <a:srgbClr val="64748B"/>
                </a:solidFill>
              </a:rPr>
              <a:t> </a:t>
            </a:r>
            <a:r>
              <a:rPr lang="en-US" sz="1050" err="1">
                <a:solidFill>
                  <a:srgbClr val="64748B"/>
                </a:solidFill>
              </a:rPr>
              <a:t>örnek</a:t>
            </a:r>
            <a:r>
              <a:rPr lang="tr-TR" sz="1050">
                <a:solidFill>
                  <a:srgbClr val="64748B"/>
                </a:solidFill>
              </a:rPr>
              <a:t> üzerinden rapor üretimi</a:t>
            </a:r>
            <a:endParaRPr lang="en-US" sz="105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01</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en-US" sz="3200" b="1">
                <a:solidFill>
                  <a:srgbClr val="FFFFFF"/>
                </a:solidFill>
              </a:rPr>
              <a:t>Veri Hazırlama</a:t>
            </a:r>
            <a:endParaRPr lang="en-US" sz="320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Kranial Difüzyon MR verisinden instruction tuning formatına</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01 · Veri Hazırlama — Veri Seti Yapısı</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40" y="868680"/>
            <a:ext cx="2926080"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6" name="Text 4"/>
          <p:cNvSpPr/>
          <p:nvPr/>
        </p:nvSpPr>
        <p:spPr>
          <a:xfrm>
            <a:off x="475488" y="960120"/>
            <a:ext cx="2651760" cy="347472"/>
          </a:xfrm>
          <a:prstGeom prst="rect">
            <a:avLst/>
          </a:prstGeom>
          <a:noFill/>
          <a:ln/>
        </p:spPr>
        <p:txBody>
          <a:bodyPr wrap="square" lIns="0" tIns="0" rIns="0" bIns="0" rtlCol="0" anchor="ctr"/>
          <a:lstStyle/>
          <a:p>
            <a:pPr marL="0" indent="0">
              <a:buNone/>
            </a:pPr>
            <a:r>
              <a:rPr lang="en-US" sz="1100" b="1">
                <a:solidFill>
                  <a:srgbClr val="64748B"/>
                </a:solidFill>
              </a:rPr>
              <a:t>📂  Veri Seti</a:t>
            </a:r>
            <a:endParaRPr lang="en-US" sz="1100"/>
          </a:p>
        </p:txBody>
      </p:sp>
      <p:sp>
        <p:nvSpPr>
          <p:cNvPr id="7" name="Text 5"/>
          <p:cNvSpPr/>
          <p:nvPr/>
        </p:nvSpPr>
        <p:spPr>
          <a:xfrm>
            <a:off x="475488" y="1344168"/>
            <a:ext cx="2651760" cy="457200"/>
          </a:xfrm>
          <a:prstGeom prst="rect">
            <a:avLst/>
          </a:prstGeom>
          <a:noFill/>
          <a:ln/>
        </p:spPr>
        <p:txBody>
          <a:bodyPr wrap="square" lIns="0" tIns="0" rIns="0" bIns="0" rtlCol="0" anchor="ctr"/>
          <a:lstStyle/>
          <a:p>
            <a:pPr marL="0" indent="0">
              <a:buNone/>
            </a:pPr>
            <a:r>
              <a:rPr lang="en-US" sz="1500" b="1">
                <a:solidFill>
                  <a:srgbClr val="0B1F4B"/>
                </a:solidFill>
              </a:rPr>
              <a:t>&gt; 300 örnek</a:t>
            </a:r>
            <a:endParaRPr lang="en-US" sz="1500"/>
          </a:p>
        </p:txBody>
      </p:sp>
      <p:sp>
        <p:nvSpPr>
          <p:cNvPr id="8" name="Shape 6"/>
          <p:cNvSpPr/>
          <p:nvPr/>
        </p:nvSpPr>
        <p:spPr>
          <a:xfrm>
            <a:off x="320040" y="2240280"/>
            <a:ext cx="2926080"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9" name="Text 7"/>
          <p:cNvSpPr/>
          <p:nvPr/>
        </p:nvSpPr>
        <p:spPr>
          <a:xfrm>
            <a:off x="475488" y="2331720"/>
            <a:ext cx="2651760" cy="347472"/>
          </a:xfrm>
          <a:prstGeom prst="rect">
            <a:avLst/>
          </a:prstGeom>
          <a:noFill/>
          <a:ln/>
        </p:spPr>
        <p:txBody>
          <a:bodyPr wrap="square" lIns="0" tIns="0" rIns="0" bIns="0" rtlCol="0" anchor="ctr"/>
          <a:lstStyle/>
          <a:p>
            <a:pPr marL="0" indent="0">
              <a:buNone/>
            </a:pPr>
            <a:r>
              <a:rPr lang="en-US" sz="1100" b="1">
                <a:solidFill>
                  <a:srgbClr val="64748B"/>
                </a:solidFill>
              </a:rPr>
              <a:t>📋  Format</a:t>
            </a:r>
            <a:endParaRPr lang="en-US" sz="1100"/>
          </a:p>
        </p:txBody>
      </p:sp>
      <p:sp>
        <p:nvSpPr>
          <p:cNvPr id="10" name="Text 8"/>
          <p:cNvSpPr/>
          <p:nvPr/>
        </p:nvSpPr>
        <p:spPr>
          <a:xfrm>
            <a:off x="475488" y="2715768"/>
            <a:ext cx="2651760" cy="457200"/>
          </a:xfrm>
          <a:prstGeom prst="rect">
            <a:avLst/>
          </a:prstGeom>
          <a:noFill/>
          <a:ln/>
        </p:spPr>
        <p:txBody>
          <a:bodyPr wrap="square" lIns="0" tIns="0" rIns="0" bIns="0" rtlCol="0" anchor="ctr"/>
          <a:lstStyle/>
          <a:p>
            <a:pPr marL="0" indent="0">
              <a:buNone/>
            </a:pPr>
            <a:r>
              <a:rPr lang="en-US" sz="1500" b="1">
                <a:solidFill>
                  <a:srgbClr val="0B1F4B"/>
                </a:solidFill>
              </a:rPr>
              <a:t>JSON → Instruction Tuning</a:t>
            </a:r>
            <a:endParaRPr lang="en-US" sz="1500"/>
          </a:p>
        </p:txBody>
      </p:sp>
      <p:sp>
        <p:nvSpPr>
          <p:cNvPr id="11" name="Shape 9"/>
          <p:cNvSpPr/>
          <p:nvPr/>
        </p:nvSpPr>
        <p:spPr>
          <a:xfrm>
            <a:off x="320040" y="3611880"/>
            <a:ext cx="2926080"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2" name="Text 10"/>
          <p:cNvSpPr/>
          <p:nvPr/>
        </p:nvSpPr>
        <p:spPr>
          <a:xfrm>
            <a:off x="475488" y="3703320"/>
            <a:ext cx="2651760" cy="347472"/>
          </a:xfrm>
          <a:prstGeom prst="rect">
            <a:avLst/>
          </a:prstGeom>
          <a:noFill/>
          <a:ln/>
        </p:spPr>
        <p:txBody>
          <a:bodyPr wrap="square" lIns="0" tIns="0" rIns="0" bIns="0" rtlCol="0" anchor="ctr"/>
          <a:lstStyle/>
          <a:p>
            <a:pPr marL="0" indent="0">
              <a:buNone/>
            </a:pPr>
            <a:r>
              <a:rPr lang="en-US" sz="1100" b="1">
                <a:solidFill>
                  <a:srgbClr val="64748B"/>
                </a:solidFill>
              </a:rPr>
              <a:t>🧠  </a:t>
            </a:r>
            <a:r>
              <a:rPr lang="tr-TR" sz="1100" b="1" err="1">
                <a:solidFill>
                  <a:srgbClr val="64748B"/>
                </a:solidFill>
              </a:rPr>
              <a:t>Unsloth</a:t>
            </a:r>
            <a:endParaRPr lang="en-US" sz="1100"/>
          </a:p>
        </p:txBody>
      </p:sp>
      <p:sp>
        <p:nvSpPr>
          <p:cNvPr id="13" name="Text 11"/>
          <p:cNvSpPr/>
          <p:nvPr/>
        </p:nvSpPr>
        <p:spPr>
          <a:xfrm>
            <a:off x="475488" y="4087368"/>
            <a:ext cx="2651760" cy="457200"/>
          </a:xfrm>
          <a:prstGeom prst="rect">
            <a:avLst/>
          </a:prstGeom>
          <a:noFill/>
          <a:ln/>
        </p:spPr>
        <p:txBody>
          <a:bodyPr wrap="square" lIns="0" tIns="0" rIns="0" bIns="0" rtlCol="0" anchor="ctr"/>
          <a:lstStyle/>
          <a:p>
            <a:pPr marL="0" indent="0">
              <a:buNone/>
            </a:pPr>
            <a:r>
              <a:rPr lang="tr-TR" sz="1500" b="1">
                <a:solidFill>
                  <a:srgbClr val="0B1F4B"/>
                </a:solidFill>
              </a:rPr>
              <a:t>Etiket / ALPACA formatı</a:t>
            </a:r>
            <a:endParaRPr lang="en-US" sz="1500"/>
          </a:p>
        </p:txBody>
      </p:sp>
      <p:sp>
        <p:nvSpPr>
          <p:cNvPr id="14" name="Shape 12"/>
          <p:cNvSpPr/>
          <p:nvPr/>
        </p:nvSpPr>
        <p:spPr>
          <a:xfrm>
            <a:off x="3520440" y="822960"/>
            <a:ext cx="5303520" cy="3977640"/>
          </a:xfrm>
          <a:prstGeom prst="roundRect">
            <a:avLst>
              <a:gd name="adj" fmla="val 2299"/>
            </a:avLst>
          </a:prstGeom>
          <a:solidFill>
            <a:srgbClr val="1E293B"/>
          </a:solidFill>
          <a:ln w="19050">
            <a:solidFill>
              <a:srgbClr val="0D9488"/>
            </a:solidFill>
            <a:prstDash val="solid"/>
          </a:ln>
        </p:spPr>
      </p:sp>
      <p:sp>
        <p:nvSpPr>
          <p:cNvPr id="15" name="Text 13"/>
          <p:cNvSpPr/>
          <p:nvPr/>
        </p:nvSpPr>
        <p:spPr>
          <a:xfrm>
            <a:off x="3703320" y="886968"/>
            <a:ext cx="4937760" cy="320040"/>
          </a:xfrm>
          <a:prstGeom prst="rect">
            <a:avLst/>
          </a:prstGeom>
          <a:noFill/>
          <a:ln/>
        </p:spPr>
        <p:txBody>
          <a:bodyPr wrap="square" lIns="0" tIns="0" rIns="0" bIns="0" rtlCol="0" anchor="ctr"/>
          <a:lstStyle/>
          <a:p>
            <a:pPr marL="0" indent="0">
              <a:buNone/>
            </a:pPr>
            <a:r>
              <a:rPr lang="en-US" sz="900" b="1" kern="0" spc="300">
                <a:solidFill>
                  <a:srgbClr val="14B8A6"/>
                </a:solidFill>
              </a:rPr>
              <a:t>ÖRNEK VERİ YAPISI</a:t>
            </a:r>
            <a:endParaRPr lang="en-US" sz="900"/>
          </a:p>
        </p:txBody>
      </p:sp>
      <p:sp>
        <p:nvSpPr>
          <p:cNvPr id="16" name="Text 14"/>
          <p:cNvSpPr/>
          <p:nvPr/>
        </p:nvSpPr>
        <p:spPr>
          <a:xfrm>
            <a:off x="3703320" y="1298448"/>
            <a:ext cx="4937760" cy="3291840"/>
          </a:xfrm>
          <a:prstGeom prst="rect">
            <a:avLst/>
          </a:prstGeom>
          <a:noFill/>
          <a:ln/>
        </p:spPr>
        <p:txBody>
          <a:bodyPr wrap="square" rtlCol="0" anchor="ctr"/>
          <a:lstStyle/>
          <a:p>
            <a:pPr marL="0" indent="0">
              <a:buNone/>
            </a:pPr>
            <a:r>
              <a:rPr lang="en-US" sz="1050" b="1">
                <a:solidFill>
                  <a:srgbClr val="14B8A6"/>
                </a:solidFill>
                <a:latin typeface="Courier New" pitchFamily="34" charset="0"/>
                <a:ea typeface="Courier New" pitchFamily="34" charset="-122"/>
                <a:cs typeface="Courier New" pitchFamily="34" charset="-120"/>
              </a:rPr>
              <a:t>TALIMAT: </a:t>
            </a:r>
            <a:r>
              <a:rPr lang="en-US" sz="1050">
                <a:solidFill>
                  <a:srgbClr val="CBD5E1"/>
                </a:solidFill>
                <a:latin typeface="Courier New" pitchFamily="34" charset="0"/>
                <a:ea typeface="Courier New" pitchFamily="34" charset="-122"/>
                <a:cs typeface="Courier New" pitchFamily="34" charset="-120"/>
              </a:rPr>
              <a:t>Aşağıdaki kranial difüzyon MR verilerine göre</a:t>
            </a:r>
            <a:endParaRPr lang="en-US" sz="1050"/>
          </a:p>
          <a:p>
            <a:pPr marL="0" indent="0">
              <a:buNone/>
            </a:pPr>
            <a:r>
              <a:rPr lang="en-US" sz="1050">
                <a:solidFill>
                  <a:srgbClr val="CBD5E1"/>
                </a:solidFill>
                <a:latin typeface="Courier New" pitchFamily="34" charset="0"/>
                <a:ea typeface="Courier New" pitchFamily="34" charset="-122"/>
                <a:cs typeface="Courier New" pitchFamily="34" charset="-120"/>
              </a:rPr>
              <a:t>Türkçe radyoloji raporu üret.</a:t>
            </a:r>
            <a:endParaRPr lang="en-US" sz="1050"/>
          </a:p>
          <a:p>
            <a:pPr marL="0" indent="0">
              <a:buNone/>
            </a:pPr>
            <a:endParaRPr lang="en-US" sz="1050"/>
          </a:p>
          <a:p>
            <a:pPr marL="0" indent="0">
              <a:buNone/>
            </a:pPr>
            <a:r>
              <a:rPr lang="en-US" sz="1050" b="1">
                <a:solidFill>
                  <a:srgbClr val="F59E0B"/>
                </a:solidFill>
                <a:latin typeface="Courier New" pitchFamily="34" charset="0"/>
                <a:ea typeface="Courier New" pitchFamily="34" charset="-122"/>
                <a:cs typeface="Courier New" pitchFamily="34" charset="-120"/>
              </a:rPr>
              <a:t>[GİRDİ]</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lateralizasyon: sağ</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anatomi: MCA</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dönem: akut</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lezyon_sayisi: 1</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hemoraji: yok</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ödem: hafif</a:t>
            </a:r>
            <a:endParaRPr lang="en-US" sz="1050"/>
          </a:p>
          <a:p>
            <a:pPr marL="0" indent="0">
              <a:buNone/>
            </a:pPr>
            <a:r>
              <a:rPr lang="en-US" sz="1050">
                <a:solidFill>
                  <a:srgbClr val="94A3B8"/>
                </a:solidFill>
                <a:latin typeface="Courier New" pitchFamily="34" charset="0"/>
                <a:ea typeface="Courier New" pitchFamily="34" charset="-122"/>
                <a:cs typeface="Courier New" pitchFamily="34" charset="-120"/>
              </a:rPr>
              <a:t>...</a:t>
            </a:r>
            <a:endParaRPr lang="en-US" sz="1050"/>
          </a:p>
          <a:p>
            <a:pPr marL="0" indent="0">
              <a:buNone/>
            </a:pPr>
            <a:endParaRPr lang="en-US" sz="1050"/>
          </a:p>
          <a:p>
            <a:pPr marL="0" indent="0">
              <a:buNone/>
            </a:pPr>
            <a:r>
              <a:rPr lang="en-US" sz="1050" b="1">
                <a:solidFill>
                  <a:srgbClr val="14B8A6"/>
                </a:solidFill>
                <a:latin typeface="Courier New" pitchFamily="34" charset="0"/>
                <a:ea typeface="Courier New" pitchFamily="34" charset="-122"/>
                <a:cs typeface="Courier New" pitchFamily="34" charset="-120"/>
              </a:rPr>
              <a:t>[ÇIKTI / HEDEF RAPOR]</a:t>
            </a:r>
            <a:endParaRPr lang="en-US" sz="1050"/>
          </a:p>
          <a:p>
            <a:pPr fontAlgn="base"/>
            <a:r>
              <a:rPr lang="tr-TR" sz="1050">
                <a:solidFill>
                  <a:schemeClr val="bg1">
                    <a:lumMod val="85000"/>
                  </a:schemeClr>
                </a:solidFill>
                <a:latin typeface="Courier New" panose="02070309020205020404" pitchFamily="49" charset="0"/>
                <a:cs typeface="Courier New" panose="02070309020205020404" pitchFamily="49" charset="0"/>
              </a:rPr>
              <a:t>R</a:t>
            </a:r>
            <a:r>
              <a:rPr lang="en-US" sz="1050" err="1">
                <a:solidFill>
                  <a:schemeClr val="bg1">
                    <a:lumMod val="85000"/>
                  </a:schemeClr>
                </a:solidFill>
                <a:latin typeface="Courier New" panose="02070309020205020404" pitchFamily="49" charset="0"/>
                <a:cs typeface="Courier New" panose="02070309020205020404" pitchFamily="49" charset="0"/>
              </a:rPr>
              <a:t>apor</a:t>
            </a:r>
            <a:r>
              <a:rPr lang="en-US" sz="1050">
                <a:solidFill>
                  <a:schemeClr val="bg1">
                    <a:lumMod val="85000"/>
                  </a:schemeClr>
                </a:solidFill>
                <a:latin typeface="Courier New" panose="02070309020205020404" pitchFamily="49" charset="0"/>
                <a:cs typeface="Courier New" panose="02070309020205020404" pitchFamily="49" charset="0"/>
              </a:rPr>
              <a:t>: ​</a:t>
            </a:r>
            <a:br>
              <a:rPr lang="en-US" sz="1050">
                <a:solidFill>
                  <a:schemeClr val="bg1">
                    <a:lumMod val="85000"/>
                  </a:schemeClr>
                </a:solidFill>
                <a:latin typeface="Courier New" panose="02070309020205020404" pitchFamily="49" charset="0"/>
                <a:cs typeface="Courier New" panose="02070309020205020404" pitchFamily="49" charset="0"/>
              </a:rPr>
            </a:br>
            <a:r>
              <a:rPr lang="en-US" sz="1050" err="1">
                <a:solidFill>
                  <a:schemeClr val="bg1">
                    <a:lumMod val="85000"/>
                  </a:schemeClr>
                </a:solidFill>
                <a:latin typeface="Courier New" panose="02070309020205020404" pitchFamily="49" charset="0"/>
                <a:cs typeface="Courier New" panose="02070309020205020404" pitchFamily="49" charset="0"/>
              </a:rPr>
              <a:t>Bulgular</a:t>
            </a:r>
            <a:r>
              <a:rPr lang="en-US" sz="1050">
                <a:solidFill>
                  <a:schemeClr val="bg1">
                    <a:lumMod val="85000"/>
                  </a:schemeClr>
                </a:solidFill>
                <a:latin typeface="Courier New" panose="02070309020205020404" pitchFamily="49" charset="0"/>
                <a:cs typeface="Courier New" panose="02070309020205020404" pitchFamily="49" charset="0"/>
              </a:rPr>
              <a:t>: </a:t>
            </a:r>
            <a:endParaRPr lang="tr-TR" sz="1050">
              <a:solidFill>
                <a:schemeClr val="bg1">
                  <a:lumMod val="85000"/>
                </a:schemeClr>
              </a:solidFill>
              <a:latin typeface="Courier New" panose="02070309020205020404" pitchFamily="49" charset="0"/>
              <a:cs typeface="Courier New" panose="02070309020205020404" pitchFamily="49" charset="0"/>
            </a:endParaRPr>
          </a:p>
          <a:p>
            <a:pPr fontAlgn="base"/>
            <a:r>
              <a:rPr lang="en-US" sz="1050">
                <a:solidFill>
                  <a:schemeClr val="bg1">
                    <a:lumMod val="85000"/>
                  </a:schemeClr>
                </a:solidFill>
                <a:latin typeface="Courier New" panose="02070309020205020404" pitchFamily="49" charset="0"/>
                <a:cs typeface="Courier New" panose="02070309020205020404" pitchFamily="49" charset="0"/>
              </a:rPr>
              <a:t>Sol </a:t>
            </a:r>
            <a:r>
              <a:rPr lang="en-US" sz="1050" err="1">
                <a:solidFill>
                  <a:schemeClr val="bg1">
                    <a:lumMod val="85000"/>
                  </a:schemeClr>
                </a:solidFill>
                <a:latin typeface="Courier New" panose="02070309020205020404" pitchFamily="49" charset="0"/>
                <a:cs typeface="Courier New" panose="02070309020205020404" pitchFamily="49" charset="0"/>
              </a:rPr>
              <a:t>bazal</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gangliyon</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düzeyinde</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yaklaşık</a:t>
            </a:r>
            <a:r>
              <a:rPr lang="en-US" sz="1050">
                <a:solidFill>
                  <a:schemeClr val="bg1">
                    <a:lumMod val="85000"/>
                  </a:schemeClr>
                </a:solidFill>
                <a:latin typeface="Courier New" panose="02070309020205020404" pitchFamily="49" charset="0"/>
                <a:cs typeface="Courier New" panose="02070309020205020404" pitchFamily="49" charset="0"/>
              </a:rPr>
              <a:t> 7 mm </a:t>
            </a:r>
            <a:r>
              <a:rPr lang="en-US" sz="1050" err="1">
                <a:solidFill>
                  <a:schemeClr val="bg1">
                    <a:lumMod val="85000"/>
                  </a:schemeClr>
                </a:solidFill>
                <a:latin typeface="Courier New" panose="02070309020205020404" pitchFamily="49" charset="0"/>
                <a:cs typeface="Courier New" panose="02070309020205020404" pitchFamily="49" charset="0"/>
              </a:rPr>
              <a:t>çapında</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akut</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iskemi</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ile</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uyumlu</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fokal</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difüzyon</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kısıtlaması</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dikkat</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çekmektedir</a:t>
            </a:r>
            <a:r>
              <a:rPr lang="en-US" sz="1050">
                <a:solidFill>
                  <a:schemeClr val="bg1">
                    <a:lumMod val="85000"/>
                  </a:schemeClr>
                </a:solidFill>
                <a:latin typeface="Courier New" panose="02070309020205020404" pitchFamily="49" charset="0"/>
                <a:cs typeface="Courier New" panose="02070309020205020404" pitchFamily="49" charset="0"/>
              </a:rPr>
              <a:t>. ​</a:t>
            </a:r>
            <a:br>
              <a:rPr lang="en-US" sz="1050">
                <a:solidFill>
                  <a:schemeClr val="bg1">
                    <a:lumMod val="85000"/>
                  </a:schemeClr>
                </a:solidFill>
                <a:latin typeface="Courier New" panose="02070309020205020404" pitchFamily="49" charset="0"/>
                <a:cs typeface="Courier New" panose="02070309020205020404" pitchFamily="49" charset="0"/>
              </a:rPr>
            </a:br>
            <a:r>
              <a:rPr lang="en-US" sz="1050" err="1">
                <a:solidFill>
                  <a:schemeClr val="bg1">
                    <a:lumMod val="85000"/>
                  </a:schemeClr>
                </a:solidFill>
                <a:latin typeface="Courier New" panose="02070309020205020404" pitchFamily="49" charset="0"/>
                <a:cs typeface="Courier New" panose="02070309020205020404" pitchFamily="49" charset="0"/>
              </a:rPr>
              <a:t>Sonuç</a:t>
            </a:r>
            <a:r>
              <a:rPr lang="en-US" sz="1050">
                <a:solidFill>
                  <a:schemeClr val="bg1">
                    <a:lumMod val="85000"/>
                  </a:schemeClr>
                </a:solidFill>
                <a:latin typeface="Courier New" panose="02070309020205020404" pitchFamily="49" charset="0"/>
                <a:cs typeface="Courier New" panose="02070309020205020404" pitchFamily="49" charset="0"/>
              </a:rPr>
              <a:t>: </a:t>
            </a:r>
            <a:r>
              <a:rPr lang="tr-TR" sz="1050">
                <a:solidFill>
                  <a:schemeClr val="bg1">
                    <a:lumMod val="85000"/>
                  </a:schemeClr>
                </a:solidFill>
                <a:latin typeface="Courier New" panose="02070309020205020404" pitchFamily="49" charset="0"/>
                <a:cs typeface="Courier New" panose="02070309020205020404" pitchFamily="49" charset="0"/>
              </a:rPr>
              <a:t/>
            </a:r>
            <a:br>
              <a:rPr lang="tr-TR" sz="1050">
                <a:solidFill>
                  <a:schemeClr val="bg1">
                    <a:lumMod val="85000"/>
                  </a:schemeClr>
                </a:solidFill>
                <a:latin typeface="Courier New" panose="02070309020205020404" pitchFamily="49" charset="0"/>
                <a:cs typeface="Courier New" panose="02070309020205020404" pitchFamily="49" charset="0"/>
              </a:rPr>
            </a:br>
            <a:r>
              <a:rPr lang="en-US" sz="1050">
                <a:solidFill>
                  <a:schemeClr val="bg1">
                    <a:lumMod val="85000"/>
                  </a:schemeClr>
                </a:solidFill>
                <a:latin typeface="Courier New" panose="02070309020205020404" pitchFamily="49" charset="0"/>
                <a:cs typeface="Courier New" panose="02070309020205020404" pitchFamily="49" charset="0"/>
              </a:rPr>
              <a:t>Sol </a:t>
            </a:r>
            <a:r>
              <a:rPr lang="en-US" sz="1050" err="1">
                <a:solidFill>
                  <a:schemeClr val="bg1">
                    <a:lumMod val="85000"/>
                  </a:schemeClr>
                </a:solidFill>
                <a:latin typeface="Courier New" panose="02070309020205020404" pitchFamily="49" charset="0"/>
                <a:cs typeface="Courier New" panose="02070309020205020404" pitchFamily="49" charset="0"/>
              </a:rPr>
              <a:t>bazal</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gangliyon</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yerleşimli</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akut</a:t>
            </a:r>
            <a:r>
              <a:rPr lang="en-US" sz="1050">
                <a:solidFill>
                  <a:schemeClr val="bg1">
                    <a:lumMod val="85000"/>
                  </a:schemeClr>
                </a:solidFill>
                <a:latin typeface="Courier New" panose="02070309020205020404" pitchFamily="49" charset="0"/>
                <a:cs typeface="Courier New" panose="02070309020205020404" pitchFamily="49" charset="0"/>
              </a:rPr>
              <a:t> </a:t>
            </a:r>
            <a:r>
              <a:rPr lang="en-US" sz="1050" err="1">
                <a:solidFill>
                  <a:schemeClr val="bg1">
                    <a:lumMod val="85000"/>
                  </a:schemeClr>
                </a:solidFill>
                <a:latin typeface="Courier New" panose="02070309020205020404" pitchFamily="49" charset="0"/>
                <a:cs typeface="Courier New" panose="02070309020205020404" pitchFamily="49" charset="0"/>
              </a:rPr>
              <a:t>laküne</a:t>
            </a:r>
            <a:r>
              <a:rPr lang="tr-TR" sz="1050">
                <a:solidFill>
                  <a:schemeClr val="bg1">
                    <a:lumMod val="85000"/>
                  </a:schemeClr>
                </a:solidFill>
                <a:latin typeface="Courier New" panose="02070309020205020404" pitchFamily="49" charset="0"/>
                <a:cs typeface="Courier New" panose="02070309020205020404" pitchFamily="49" charset="0"/>
              </a:rPr>
              <a:t>r </a:t>
            </a:r>
            <a:r>
              <a:rPr lang="tr-TR" sz="1050" err="1">
                <a:solidFill>
                  <a:schemeClr val="bg1">
                    <a:lumMod val="85000"/>
                  </a:schemeClr>
                </a:solidFill>
                <a:latin typeface="Courier New" panose="02070309020205020404" pitchFamily="49" charset="0"/>
                <a:cs typeface="Courier New" panose="02070309020205020404" pitchFamily="49" charset="0"/>
              </a:rPr>
              <a:t>infarkt</a:t>
            </a:r>
            <a:r>
              <a:rPr lang="tr-TR" sz="1050">
                <a:solidFill>
                  <a:schemeClr val="bg1">
                    <a:lumMod val="85000"/>
                  </a:schemeClr>
                </a:solidFill>
                <a:latin typeface="Courier New" panose="02070309020205020404" pitchFamily="49" charset="0"/>
                <a:cs typeface="Courier New" panose="02070309020205020404" pitchFamily="49" charset="0"/>
              </a:rPr>
              <a:t> …</a:t>
            </a:r>
            <a:r>
              <a:rPr lang="en-US">
                <a:solidFill>
                  <a:schemeClr val="bg1">
                    <a:lumMod val="85000"/>
                  </a:schemeClr>
                </a:solidFill>
                <a:latin typeface="Courier New" panose="02070309020205020404" pitchFamily="49" charset="0"/>
                <a:cs typeface="Courier New" panose="02070309020205020404" pitchFamily="49" charset="0"/>
              </a:rPr>
              <a:t>​</a:t>
            </a:r>
            <a:endParaRPr lang="en-US" sz="1050" b="0" i="0">
              <a:solidFill>
                <a:schemeClr val="bg1">
                  <a:lumMod val="85000"/>
                </a:schemeClr>
              </a:solidFill>
              <a:effectLst/>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01 · Veri Hazırlama — Temizleme &amp; Standartlaştırma</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40" y="841248"/>
            <a:ext cx="850392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6" name="Shape 4"/>
          <p:cNvSpPr/>
          <p:nvPr/>
        </p:nvSpPr>
        <p:spPr>
          <a:xfrm>
            <a:off x="457200" y="1024128"/>
            <a:ext cx="502920" cy="502920"/>
          </a:xfrm>
          <a:prstGeom prst="ellipse">
            <a:avLst/>
          </a:prstGeom>
          <a:solidFill>
            <a:srgbClr val="0D9488"/>
          </a:solidFill>
          <a:ln w="12700">
            <a:solidFill>
              <a:srgbClr val="0D9488"/>
            </a:solidFill>
            <a:prstDash val="solid"/>
          </a:ln>
        </p:spPr>
      </p:sp>
      <p:sp>
        <p:nvSpPr>
          <p:cNvPr id="7" name="Text 5"/>
          <p:cNvSpPr/>
          <p:nvPr/>
        </p:nvSpPr>
        <p:spPr>
          <a:xfrm>
            <a:off x="457200" y="1024128"/>
            <a:ext cx="502920" cy="502920"/>
          </a:xfrm>
          <a:prstGeom prst="rect">
            <a:avLst/>
          </a:prstGeom>
          <a:noFill/>
          <a:ln/>
        </p:spPr>
        <p:txBody>
          <a:bodyPr wrap="square" lIns="0" tIns="0" rIns="0" bIns="0" rtlCol="0" anchor="ctr"/>
          <a:lstStyle/>
          <a:p>
            <a:pPr marL="0" indent="0" algn="ctr">
              <a:buNone/>
            </a:pPr>
            <a:r>
              <a:rPr lang="en-US" sz="1300" b="1">
                <a:solidFill>
                  <a:srgbClr val="FFFFFF"/>
                </a:solidFill>
              </a:rPr>
              <a:t>1</a:t>
            </a:r>
            <a:endParaRPr lang="en-US" sz="1300"/>
          </a:p>
        </p:txBody>
      </p:sp>
      <p:sp>
        <p:nvSpPr>
          <p:cNvPr id="8" name="Text 6"/>
          <p:cNvSpPr/>
          <p:nvPr/>
        </p:nvSpPr>
        <p:spPr>
          <a:xfrm>
            <a:off x="1115568" y="914400"/>
            <a:ext cx="3200400" cy="347472"/>
          </a:xfrm>
          <a:prstGeom prst="rect">
            <a:avLst/>
          </a:prstGeom>
          <a:noFill/>
          <a:ln/>
        </p:spPr>
        <p:txBody>
          <a:bodyPr wrap="square" lIns="0" tIns="0" rIns="0" bIns="0" rtlCol="0" anchor="ctr"/>
          <a:lstStyle/>
          <a:p>
            <a:pPr marL="0" indent="0">
              <a:buNone/>
            </a:pPr>
            <a:r>
              <a:rPr lang="en-US" sz="1300" b="1">
                <a:solidFill>
                  <a:srgbClr val="0B1F4B"/>
                </a:solidFill>
              </a:rPr>
              <a:t>Alan Standartlaştırma</a:t>
            </a:r>
            <a:endParaRPr lang="en-US" sz="1300"/>
          </a:p>
        </p:txBody>
      </p:sp>
      <p:sp>
        <p:nvSpPr>
          <p:cNvPr id="9" name="Text 7"/>
          <p:cNvSpPr/>
          <p:nvPr/>
        </p:nvSpPr>
        <p:spPr>
          <a:xfrm>
            <a:off x="1115568" y="1298448"/>
            <a:ext cx="7406640" cy="365760"/>
          </a:xfrm>
          <a:prstGeom prst="rect">
            <a:avLst/>
          </a:prstGeom>
          <a:noFill/>
          <a:ln/>
        </p:spPr>
        <p:txBody>
          <a:bodyPr wrap="square" lIns="0" tIns="0" rIns="0" bIns="0" rtlCol="0" anchor="ctr"/>
          <a:lstStyle/>
          <a:p>
            <a:pPr marL="0" indent="0">
              <a:buNone/>
            </a:pPr>
            <a:r>
              <a:rPr lang="en-US" sz="1100">
                <a:solidFill>
                  <a:srgbClr val="334155"/>
                </a:solidFill>
              </a:rPr>
              <a:t>Lateralizasyon, anatomik lokalizasyon, damar alanı, lezyon dönemi ve ek bulgular tutarsız ifadelerden arındırıldı.</a:t>
            </a:r>
            <a:endParaRPr lang="en-US" sz="1100"/>
          </a:p>
        </p:txBody>
      </p:sp>
      <p:sp>
        <p:nvSpPr>
          <p:cNvPr id="10" name="Shape 8"/>
          <p:cNvSpPr/>
          <p:nvPr/>
        </p:nvSpPr>
        <p:spPr>
          <a:xfrm>
            <a:off x="320040" y="1865376"/>
            <a:ext cx="850392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1" name="Shape 9"/>
          <p:cNvSpPr/>
          <p:nvPr/>
        </p:nvSpPr>
        <p:spPr>
          <a:xfrm>
            <a:off x="457200" y="2048256"/>
            <a:ext cx="502920" cy="502920"/>
          </a:xfrm>
          <a:prstGeom prst="ellipse">
            <a:avLst/>
          </a:prstGeom>
          <a:solidFill>
            <a:srgbClr val="0D9488"/>
          </a:solidFill>
          <a:ln w="12700">
            <a:solidFill>
              <a:srgbClr val="0D9488"/>
            </a:solidFill>
            <a:prstDash val="solid"/>
          </a:ln>
        </p:spPr>
      </p:sp>
      <p:sp>
        <p:nvSpPr>
          <p:cNvPr id="12" name="Text 10"/>
          <p:cNvSpPr/>
          <p:nvPr/>
        </p:nvSpPr>
        <p:spPr>
          <a:xfrm>
            <a:off x="457200" y="2048256"/>
            <a:ext cx="502920" cy="502920"/>
          </a:xfrm>
          <a:prstGeom prst="rect">
            <a:avLst/>
          </a:prstGeom>
          <a:noFill/>
          <a:ln/>
        </p:spPr>
        <p:txBody>
          <a:bodyPr wrap="square" lIns="0" tIns="0" rIns="0" bIns="0" rtlCol="0" anchor="ctr"/>
          <a:lstStyle/>
          <a:p>
            <a:pPr marL="0" indent="0" algn="ctr">
              <a:buNone/>
            </a:pPr>
            <a:r>
              <a:rPr lang="en-US" sz="1300" b="1">
                <a:solidFill>
                  <a:srgbClr val="FFFFFF"/>
                </a:solidFill>
              </a:rPr>
              <a:t>2</a:t>
            </a:r>
            <a:endParaRPr lang="en-US" sz="1300"/>
          </a:p>
        </p:txBody>
      </p:sp>
      <p:sp>
        <p:nvSpPr>
          <p:cNvPr id="13" name="Text 11"/>
          <p:cNvSpPr/>
          <p:nvPr/>
        </p:nvSpPr>
        <p:spPr>
          <a:xfrm>
            <a:off x="1115568" y="1938528"/>
            <a:ext cx="3200400" cy="347472"/>
          </a:xfrm>
          <a:prstGeom prst="rect">
            <a:avLst/>
          </a:prstGeom>
          <a:noFill/>
          <a:ln/>
        </p:spPr>
        <p:txBody>
          <a:bodyPr wrap="square" lIns="0" tIns="0" rIns="0" bIns="0" rtlCol="0" anchor="ctr"/>
          <a:lstStyle/>
          <a:p>
            <a:pPr marL="0" indent="0">
              <a:buNone/>
            </a:pPr>
            <a:r>
              <a:rPr lang="en-US" sz="1300" b="1">
                <a:solidFill>
                  <a:srgbClr val="0B1F4B"/>
                </a:solidFill>
              </a:rPr>
              <a:t>Dil Bilgisel Düzeltme</a:t>
            </a:r>
            <a:endParaRPr lang="en-US" sz="1300"/>
          </a:p>
        </p:txBody>
      </p:sp>
      <p:sp>
        <p:nvSpPr>
          <p:cNvPr id="14" name="Text 12"/>
          <p:cNvSpPr/>
          <p:nvPr/>
        </p:nvSpPr>
        <p:spPr>
          <a:xfrm>
            <a:off x="1115568" y="2322576"/>
            <a:ext cx="7406640" cy="365760"/>
          </a:xfrm>
          <a:prstGeom prst="rect">
            <a:avLst/>
          </a:prstGeom>
          <a:noFill/>
          <a:ln/>
        </p:spPr>
        <p:txBody>
          <a:bodyPr wrap="square" lIns="0" tIns="0" rIns="0" bIns="0" rtlCol="0" anchor="ctr"/>
          <a:lstStyle/>
          <a:p>
            <a:pPr marL="0" indent="0">
              <a:buNone/>
            </a:pPr>
            <a:r>
              <a:rPr lang="en-US" sz="1100">
                <a:solidFill>
                  <a:srgbClr val="334155"/>
                </a:solidFill>
              </a:rPr>
              <a:t>Eksik fiil yapıları tamamlandı; kısa, kesik output ifadeleri klinik rapor üslubuna dönüştürüldü.</a:t>
            </a:r>
            <a:endParaRPr lang="en-US" sz="1100"/>
          </a:p>
        </p:txBody>
      </p:sp>
      <p:sp>
        <p:nvSpPr>
          <p:cNvPr id="15" name="Shape 13"/>
          <p:cNvSpPr/>
          <p:nvPr/>
        </p:nvSpPr>
        <p:spPr>
          <a:xfrm>
            <a:off x="320040" y="2889504"/>
            <a:ext cx="850392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6" name="Shape 14"/>
          <p:cNvSpPr/>
          <p:nvPr/>
        </p:nvSpPr>
        <p:spPr>
          <a:xfrm>
            <a:off x="457200" y="3072384"/>
            <a:ext cx="502920" cy="502920"/>
          </a:xfrm>
          <a:prstGeom prst="ellipse">
            <a:avLst/>
          </a:prstGeom>
          <a:solidFill>
            <a:srgbClr val="0D9488"/>
          </a:solidFill>
          <a:ln w="12700">
            <a:solidFill>
              <a:srgbClr val="0D9488"/>
            </a:solidFill>
            <a:prstDash val="solid"/>
          </a:ln>
        </p:spPr>
      </p:sp>
      <p:sp>
        <p:nvSpPr>
          <p:cNvPr id="17" name="Text 15"/>
          <p:cNvSpPr/>
          <p:nvPr/>
        </p:nvSpPr>
        <p:spPr>
          <a:xfrm>
            <a:off x="457200" y="3072384"/>
            <a:ext cx="502920" cy="502920"/>
          </a:xfrm>
          <a:prstGeom prst="rect">
            <a:avLst/>
          </a:prstGeom>
          <a:noFill/>
          <a:ln/>
        </p:spPr>
        <p:txBody>
          <a:bodyPr wrap="square" lIns="0" tIns="0" rIns="0" bIns="0" rtlCol="0" anchor="ctr"/>
          <a:lstStyle/>
          <a:p>
            <a:pPr marL="0" indent="0" algn="ctr">
              <a:buNone/>
            </a:pPr>
            <a:r>
              <a:rPr lang="en-US" sz="1300" b="1">
                <a:solidFill>
                  <a:srgbClr val="FFFFFF"/>
                </a:solidFill>
              </a:rPr>
              <a:t>3</a:t>
            </a:r>
            <a:endParaRPr lang="en-US" sz="1300"/>
          </a:p>
        </p:txBody>
      </p:sp>
      <p:sp>
        <p:nvSpPr>
          <p:cNvPr id="18" name="Text 16"/>
          <p:cNvSpPr/>
          <p:nvPr/>
        </p:nvSpPr>
        <p:spPr>
          <a:xfrm>
            <a:off x="1115568" y="2962656"/>
            <a:ext cx="3200400" cy="347472"/>
          </a:xfrm>
          <a:prstGeom prst="rect">
            <a:avLst/>
          </a:prstGeom>
          <a:noFill/>
          <a:ln/>
        </p:spPr>
        <p:txBody>
          <a:bodyPr wrap="square" lIns="0" tIns="0" rIns="0" bIns="0" rtlCol="0" anchor="ctr"/>
          <a:lstStyle/>
          <a:p>
            <a:pPr marL="0" indent="0">
              <a:buNone/>
            </a:pPr>
            <a:r>
              <a:rPr lang="en-US" sz="1300" b="1">
                <a:solidFill>
                  <a:srgbClr val="0B1F4B"/>
                </a:solidFill>
              </a:rPr>
              <a:t>Instruction Tuning Formatı</a:t>
            </a:r>
            <a:endParaRPr lang="en-US" sz="1300"/>
          </a:p>
        </p:txBody>
      </p:sp>
      <p:sp>
        <p:nvSpPr>
          <p:cNvPr id="19" name="Text 17"/>
          <p:cNvSpPr/>
          <p:nvPr/>
        </p:nvSpPr>
        <p:spPr>
          <a:xfrm>
            <a:off x="1115568" y="3346704"/>
            <a:ext cx="7406640" cy="365760"/>
          </a:xfrm>
          <a:prstGeom prst="rect">
            <a:avLst/>
          </a:prstGeom>
          <a:noFill/>
          <a:ln/>
        </p:spPr>
        <p:txBody>
          <a:bodyPr wrap="square" lIns="0" tIns="0" rIns="0" bIns="0" rtlCol="0" anchor="ctr"/>
          <a:lstStyle/>
          <a:p>
            <a:pPr marL="0" indent="0">
              <a:buNone/>
            </a:pPr>
            <a:r>
              <a:rPr lang="en-US" sz="1100">
                <a:solidFill>
                  <a:srgbClr val="334155"/>
                </a:solidFill>
              </a:rPr>
              <a:t>Her örnek: talimat + 'input' etiketi (JSON) + 'output' etiketi (Türkçe rapor) şeklinde etiketlendi.</a:t>
            </a:r>
            <a:endParaRPr lang="en-US" sz="1100"/>
          </a:p>
        </p:txBody>
      </p:sp>
      <p:sp>
        <p:nvSpPr>
          <p:cNvPr id="20" name="Shape 18"/>
          <p:cNvSpPr/>
          <p:nvPr/>
        </p:nvSpPr>
        <p:spPr>
          <a:xfrm>
            <a:off x="320040" y="3913632"/>
            <a:ext cx="850392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1" name="Shape 19"/>
          <p:cNvSpPr/>
          <p:nvPr/>
        </p:nvSpPr>
        <p:spPr>
          <a:xfrm>
            <a:off x="457200" y="4096512"/>
            <a:ext cx="502920" cy="502920"/>
          </a:xfrm>
          <a:prstGeom prst="ellipse">
            <a:avLst/>
          </a:prstGeom>
          <a:solidFill>
            <a:srgbClr val="0D9488"/>
          </a:solidFill>
          <a:ln w="12700">
            <a:solidFill>
              <a:srgbClr val="0D9488"/>
            </a:solidFill>
            <a:prstDash val="solid"/>
          </a:ln>
        </p:spPr>
      </p:sp>
      <p:sp>
        <p:nvSpPr>
          <p:cNvPr id="22" name="Text 20"/>
          <p:cNvSpPr/>
          <p:nvPr/>
        </p:nvSpPr>
        <p:spPr>
          <a:xfrm>
            <a:off x="457200" y="4096512"/>
            <a:ext cx="502920" cy="502920"/>
          </a:xfrm>
          <a:prstGeom prst="rect">
            <a:avLst/>
          </a:prstGeom>
          <a:noFill/>
          <a:ln/>
        </p:spPr>
        <p:txBody>
          <a:bodyPr wrap="square" lIns="0" tIns="0" rIns="0" bIns="0" rtlCol="0" anchor="ctr"/>
          <a:lstStyle/>
          <a:p>
            <a:pPr marL="0" indent="0" algn="ctr">
              <a:buNone/>
            </a:pPr>
            <a:r>
              <a:rPr lang="en-US" sz="1300" b="1">
                <a:solidFill>
                  <a:srgbClr val="FFFFFF"/>
                </a:solidFill>
              </a:rPr>
              <a:t>4</a:t>
            </a:r>
            <a:endParaRPr lang="en-US" sz="1300"/>
          </a:p>
        </p:txBody>
      </p:sp>
      <p:sp>
        <p:nvSpPr>
          <p:cNvPr id="23" name="Text 21"/>
          <p:cNvSpPr/>
          <p:nvPr/>
        </p:nvSpPr>
        <p:spPr>
          <a:xfrm>
            <a:off x="1115568" y="3986784"/>
            <a:ext cx="3200400" cy="347472"/>
          </a:xfrm>
          <a:prstGeom prst="rect">
            <a:avLst/>
          </a:prstGeom>
          <a:noFill/>
          <a:ln/>
        </p:spPr>
        <p:txBody>
          <a:bodyPr wrap="square" lIns="0" tIns="0" rIns="0" bIns="0" rtlCol="0" anchor="ctr"/>
          <a:lstStyle/>
          <a:p>
            <a:pPr marL="0" indent="0">
              <a:buNone/>
            </a:pPr>
            <a:r>
              <a:rPr lang="en-US" sz="1300" b="1">
                <a:solidFill>
                  <a:srgbClr val="0B1F4B"/>
                </a:solidFill>
              </a:rPr>
              <a:t>Kalite Kontrolü</a:t>
            </a:r>
            <a:endParaRPr lang="en-US" sz="1300"/>
          </a:p>
        </p:txBody>
      </p:sp>
      <p:sp>
        <p:nvSpPr>
          <p:cNvPr id="24" name="Text 22"/>
          <p:cNvSpPr/>
          <p:nvPr/>
        </p:nvSpPr>
        <p:spPr>
          <a:xfrm>
            <a:off x="1115568" y="4370832"/>
            <a:ext cx="7406640" cy="365760"/>
          </a:xfrm>
          <a:prstGeom prst="rect">
            <a:avLst/>
          </a:prstGeom>
          <a:noFill/>
          <a:ln/>
        </p:spPr>
        <p:txBody>
          <a:bodyPr wrap="square" lIns="0" tIns="0" rIns="0" bIns="0" rtlCol="0" anchor="ctr"/>
          <a:lstStyle/>
          <a:p>
            <a:pPr marL="0" indent="0">
              <a:buNone/>
            </a:pPr>
            <a:r>
              <a:rPr lang="en-US" sz="1100">
                <a:solidFill>
                  <a:srgbClr val="334155"/>
                </a:solidFill>
              </a:rPr>
              <a:t>Küçük ama klinik açıdan tutarlı, dilsel olarak temiz bir veri seti oluşturuldu (~300+ örnek).</a:t>
            </a:r>
            <a:endParaRPr lang="en-US" sz="11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02</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en-US" sz="3200" b="1">
                <a:solidFill>
                  <a:srgbClr val="FFFFFF"/>
                </a:solidFill>
              </a:rPr>
              <a:t>İş Akışı</a:t>
            </a:r>
            <a:endParaRPr lang="en-US" sz="320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Fine-tuning Pipeline — QLoRA · Unsloth · 4-bit Quantization</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02 · İş Akışı — Fine-tuning Pipeline</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43494" y="868680"/>
            <a:ext cx="1310774" cy="2011680"/>
          </a:xfrm>
          <a:prstGeom prst="roundRect">
            <a:avLst>
              <a:gd name="adj" fmla="val 5405"/>
            </a:avLst>
          </a:prstGeom>
          <a:solidFill>
            <a:srgbClr val="0B1F4B"/>
          </a:solidFill>
          <a:ln w="12700">
            <a:solidFill>
              <a:srgbClr val="0B1F4B"/>
            </a:solidFill>
            <a:prstDash val="solid"/>
          </a:ln>
          <a:effectLst>
            <a:outerShdw blurRad="101600" dist="38100" dir="2700000" algn="bl" rotWithShape="0">
              <a:srgbClr val="000000">
                <a:alpha val="12000"/>
              </a:srgbClr>
            </a:outerShdw>
          </a:effectLst>
        </p:spPr>
      </p:sp>
      <p:sp>
        <p:nvSpPr>
          <p:cNvPr id="6" name="Text 4"/>
          <p:cNvSpPr/>
          <p:nvPr/>
        </p:nvSpPr>
        <p:spPr>
          <a:xfrm>
            <a:off x="492580" y="914400"/>
            <a:ext cx="502920" cy="411480"/>
          </a:xfrm>
          <a:prstGeom prst="rect">
            <a:avLst/>
          </a:prstGeom>
          <a:noFill/>
          <a:ln/>
        </p:spPr>
        <p:txBody>
          <a:bodyPr wrap="square" lIns="0" tIns="0" rIns="0" bIns="0" rtlCol="0" anchor="ctr"/>
          <a:lstStyle/>
          <a:p>
            <a:pPr marL="0" indent="0">
              <a:buNone/>
            </a:pPr>
            <a:r>
              <a:rPr lang="en-US" sz="2000" b="1">
                <a:solidFill>
                  <a:srgbClr val="14B8A6"/>
                </a:solidFill>
              </a:rPr>
              <a:t>1</a:t>
            </a:r>
            <a:endParaRPr lang="en-US" sz="2000"/>
          </a:p>
        </p:txBody>
      </p:sp>
      <p:sp>
        <p:nvSpPr>
          <p:cNvPr id="7" name="Text 5"/>
          <p:cNvSpPr/>
          <p:nvPr/>
        </p:nvSpPr>
        <p:spPr>
          <a:xfrm>
            <a:off x="262391" y="1325880"/>
            <a:ext cx="1508760" cy="685800"/>
          </a:xfrm>
          <a:prstGeom prst="rect">
            <a:avLst/>
          </a:prstGeom>
          <a:noFill/>
          <a:ln/>
        </p:spPr>
        <p:txBody>
          <a:bodyPr wrap="square" lIns="0" tIns="0" rIns="0" bIns="0" rtlCol="0" anchor="ctr"/>
          <a:lstStyle/>
          <a:p>
            <a:pPr marL="0" indent="0" algn="ctr">
              <a:buNone/>
            </a:pPr>
            <a:r>
              <a:rPr lang="en-US" sz="1350" b="1">
                <a:solidFill>
                  <a:srgbClr val="FFFFFF"/>
                </a:solidFill>
              </a:rPr>
              <a:t>Veri</a:t>
            </a:r>
            <a:endParaRPr lang="en-US" sz="1350"/>
          </a:p>
          <a:p>
            <a:pPr marL="0" indent="0" algn="ctr">
              <a:buNone/>
            </a:pPr>
            <a:r>
              <a:rPr lang="en-US" sz="1350" b="1">
                <a:solidFill>
                  <a:srgbClr val="FFFFFF"/>
                </a:solidFill>
              </a:rPr>
              <a:t>Hazırlama</a:t>
            </a:r>
            <a:endParaRPr lang="en-US" sz="1350"/>
          </a:p>
        </p:txBody>
      </p:sp>
      <p:sp>
        <p:nvSpPr>
          <p:cNvPr id="8" name="Text 6"/>
          <p:cNvSpPr/>
          <p:nvPr/>
        </p:nvSpPr>
        <p:spPr>
          <a:xfrm>
            <a:off x="262391" y="2048256"/>
            <a:ext cx="1508760" cy="685800"/>
          </a:xfrm>
          <a:prstGeom prst="rect">
            <a:avLst/>
          </a:prstGeom>
          <a:noFill/>
          <a:ln/>
        </p:spPr>
        <p:txBody>
          <a:bodyPr wrap="square" lIns="0" tIns="0" rIns="0" bIns="0" rtlCol="0" anchor="ctr"/>
          <a:lstStyle/>
          <a:p>
            <a:pPr marL="0" indent="0" algn="ctr">
              <a:buNone/>
            </a:pPr>
            <a:r>
              <a:rPr lang="en-US" sz="1000">
                <a:solidFill>
                  <a:srgbClr val="A8C4E0"/>
                </a:solidFill>
              </a:rPr>
              <a:t>JSON → Instruction</a:t>
            </a:r>
            <a:endParaRPr lang="en-US" sz="1000"/>
          </a:p>
          <a:p>
            <a:pPr marL="0" indent="0" algn="ctr">
              <a:buNone/>
            </a:pPr>
            <a:r>
              <a:rPr lang="en-US" sz="1000">
                <a:solidFill>
                  <a:srgbClr val="A8C4E0"/>
                </a:solidFill>
              </a:rPr>
              <a:t>tuning formatı</a:t>
            </a:r>
            <a:endParaRPr lang="en-US" sz="1000"/>
          </a:p>
        </p:txBody>
      </p:sp>
      <p:sp>
        <p:nvSpPr>
          <p:cNvPr id="9" name="Shape 7"/>
          <p:cNvSpPr/>
          <p:nvPr/>
        </p:nvSpPr>
        <p:spPr>
          <a:xfrm>
            <a:off x="1637968" y="1920240"/>
            <a:ext cx="739471" cy="0"/>
          </a:xfrm>
          <a:prstGeom prst="line">
            <a:avLst/>
          </a:prstGeom>
          <a:noFill/>
          <a:ln w="25400">
            <a:solidFill>
              <a:srgbClr val="0D9488"/>
            </a:solidFill>
            <a:prstDash val="solid"/>
          </a:ln>
        </p:spPr>
      </p:sp>
      <p:sp>
        <p:nvSpPr>
          <p:cNvPr id="10" name="Shape 8"/>
          <p:cNvSpPr/>
          <p:nvPr/>
        </p:nvSpPr>
        <p:spPr>
          <a:xfrm>
            <a:off x="2049052" y="868680"/>
            <a:ext cx="1331843" cy="2011680"/>
          </a:xfrm>
          <a:prstGeom prst="roundRect">
            <a:avLst>
              <a:gd name="adj" fmla="val 5405"/>
            </a:avLst>
          </a:prstGeom>
          <a:solidFill>
            <a:srgbClr val="0D9488"/>
          </a:solidFill>
          <a:ln w="12700">
            <a:solidFill>
              <a:srgbClr val="0D9488"/>
            </a:solidFill>
            <a:prstDash val="solid"/>
          </a:ln>
          <a:effectLst>
            <a:outerShdw blurRad="101600" dist="38100" dir="2700000" algn="bl" rotWithShape="0">
              <a:srgbClr val="000000">
                <a:alpha val="12000"/>
              </a:srgbClr>
            </a:outerShdw>
          </a:effectLst>
        </p:spPr>
      </p:sp>
      <p:sp>
        <p:nvSpPr>
          <p:cNvPr id="11" name="Text 9"/>
          <p:cNvSpPr/>
          <p:nvPr/>
        </p:nvSpPr>
        <p:spPr>
          <a:xfrm>
            <a:off x="2198139" y="914400"/>
            <a:ext cx="502920" cy="411480"/>
          </a:xfrm>
          <a:prstGeom prst="rect">
            <a:avLst/>
          </a:prstGeom>
          <a:noFill/>
          <a:ln/>
        </p:spPr>
        <p:txBody>
          <a:bodyPr wrap="square" lIns="0" tIns="0" rIns="0" bIns="0" rtlCol="0" anchor="ctr"/>
          <a:lstStyle/>
          <a:p>
            <a:pPr marL="0" indent="0">
              <a:buNone/>
            </a:pPr>
            <a:r>
              <a:rPr lang="en-US" sz="2000" b="1">
                <a:solidFill>
                  <a:srgbClr val="FFFFFF"/>
                </a:solidFill>
              </a:rPr>
              <a:t>2</a:t>
            </a:r>
            <a:endParaRPr lang="en-US" sz="2000"/>
          </a:p>
        </p:txBody>
      </p:sp>
      <p:sp>
        <p:nvSpPr>
          <p:cNvPr id="12" name="Text 10"/>
          <p:cNvSpPr/>
          <p:nvPr/>
        </p:nvSpPr>
        <p:spPr>
          <a:xfrm>
            <a:off x="1991804" y="1325880"/>
            <a:ext cx="1508760" cy="685800"/>
          </a:xfrm>
          <a:prstGeom prst="rect">
            <a:avLst/>
          </a:prstGeom>
          <a:noFill/>
          <a:ln/>
        </p:spPr>
        <p:txBody>
          <a:bodyPr wrap="square" lIns="0" tIns="0" rIns="0" bIns="0" rtlCol="0" anchor="ctr"/>
          <a:lstStyle/>
          <a:p>
            <a:pPr marL="0" indent="0" algn="ctr">
              <a:buNone/>
            </a:pPr>
            <a:r>
              <a:rPr lang="en-US" sz="1350" b="1">
                <a:solidFill>
                  <a:srgbClr val="FFFFFF"/>
                </a:solidFill>
              </a:rPr>
              <a:t>Model</a:t>
            </a:r>
            <a:endParaRPr lang="en-US" sz="1350"/>
          </a:p>
          <a:p>
            <a:pPr marL="0" indent="0" algn="ctr">
              <a:buNone/>
            </a:pPr>
            <a:r>
              <a:rPr lang="en-US" sz="1350" b="1">
                <a:solidFill>
                  <a:srgbClr val="FFFFFF"/>
                </a:solidFill>
              </a:rPr>
              <a:t>Yükleme</a:t>
            </a:r>
            <a:endParaRPr lang="en-US" sz="1350"/>
          </a:p>
        </p:txBody>
      </p:sp>
      <p:sp>
        <p:nvSpPr>
          <p:cNvPr id="13" name="Text 11"/>
          <p:cNvSpPr/>
          <p:nvPr/>
        </p:nvSpPr>
        <p:spPr>
          <a:xfrm>
            <a:off x="1991804" y="2048256"/>
            <a:ext cx="1508760" cy="685800"/>
          </a:xfrm>
          <a:prstGeom prst="rect">
            <a:avLst/>
          </a:prstGeom>
          <a:noFill/>
          <a:ln/>
        </p:spPr>
        <p:txBody>
          <a:bodyPr wrap="square" lIns="0" tIns="0" rIns="0" bIns="0" rtlCol="0" anchor="ctr"/>
          <a:lstStyle/>
          <a:p>
            <a:pPr marL="0" indent="0" algn="ctr">
              <a:buNone/>
            </a:pPr>
            <a:r>
              <a:rPr lang="en-US" sz="1000">
                <a:solidFill>
                  <a:srgbClr val="CCFBF1"/>
                </a:solidFill>
              </a:rPr>
              <a:t>4-bit QLoRA</a:t>
            </a:r>
            <a:endParaRPr lang="en-US" sz="1000"/>
          </a:p>
          <a:p>
            <a:pPr marL="0" indent="0" algn="ctr">
              <a:buNone/>
            </a:pPr>
            <a:r>
              <a:rPr lang="en-US" sz="1000">
                <a:solidFill>
                  <a:srgbClr val="CCFBF1"/>
                </a:solidFill>
              </a:rPr>
              <a:t>Unsloth</a:t>
            </a:r>
            <a:endParaRPr lang="en-US" sz="1000"/>
          </a:p>
        </p:txBody>
      </p:sp>
      <p:sp>
        <p:nvSpPr>
          <p:cNvPr id="14" name="Shape 12"/>
          <p:cNvSpPr/>
          <p:nvPr/>
        </p:nvSpPr>
        <p:spPr>
          <a:xfrm>
            <a:off x="3380895" y="1920240"/>
            <a:ext cx="670293" cy="0"/>
          </a:xfrm>
          <a:prstGeom prst="line">
            <a:avLst/>
          </a:prstGeom>
          <a:noFill/>
          <a:ln w="25400">
            <a:solidFill>
              <a:srgbClr val="0D9488"/>
            </a:solidFill>
            <a:prstDash val="solid"/>
          </a:ln>
        </p:spPr>
      </p:sp>
      <p:sp>
        <p:nvSpPr>
          <p:cNvPr id="15" name="Shape 13"/>
          <p:cNvSpPr/>
          <p:nvPr/>
        </p:nvSpPr>
        <p:spPr>
          <a:xfrm>
            <a:off x="3850020" y="868680"/>
            <a:ext cx="1342182" cy="2011680"/>
          </a:xfrm>
          <a:prstGeom prst="roundRect">
            <a:avLst>
              <a:gd name="adj" fmla="val 5405"/>
            </a:avLst>
          </a:prstGeom>
          <a:solidFill>
            <a:srgbClr val="0B1F4B"/>
          </a:solidFill>
          <a:ln w="12700">
            <a:solidFill>
              <a:srgbClr val="0B1F4B"/>
            </a:solidFill>
            <a:prstDash val="solid"/>
          </a:ln>
          <a:effectLst>
            <a:outerShdw blurRad="101600" dist="38100" dir="2700000" algn="bl" rotWithShape="0">
              <a:srgbClr val="000000">
                <a:alpha val="12000"/>
              </a:srgbClr>
            </a:outerShdw>
          </a:effectLst>
        </p:spPr>
      </p:sp>
      <p:sp>
        <p:nvSpPr>
          <p:cNvPr id="16" name="Text 14"/>
          <p:cNvSpPr/>
          <p:nvPr/>
        </p:nvSpPr>
        <p:spPr>
          <a:xfrm>
            <a:off x="3999107" y="914400"/>
            <a:ext cx="502920" cy="411480"/>
          </a:xfrm>
          <a:prstGeom prst="rect">
            <a:avLst/>
          </a:prstGeom>
          <a:noFill/>
          <a:ln/>
        </p:spPr>
        <p:txBody>
          <a:bodyPr wrap="square" lIns="0" tIns="0" rIns="0" bIns="0" rtlCol="0" anchor="ctr"/>
          <a:lstStyle/>
          <a:p>
            <a:pPr marL="0" indent="0">
              <a:buNone/>
            </a:pPr>
            <a:r>
              <a:rPr lang="en-US" sz="2000" b="1">
                <a:solidFill>
                  <a:srgbClr val="14B8A6"/>
                </a:solidFill>
              </a:rPr>
              <a:t>3</a:t>
            </a:r>
            <a:endParaRPr lang="en-US" sz="2000"/>
          </a:p>
        </p:txBody>
      </p:sp>
      <p:sp>
        <p:nvSpPr>
          <p:cNvPr id="17" name="Text 15"/>
          <p:cNvSpPr/>
          <p:nvPr/>
        </p:nvSpPr>
        <p:spPr>
          <a:xfrm>
            <a:off x="3768916" y="1325880"/>
            <a:ext cx="1508760" cy="685800"/>
          </a:xfrm>
          <a:prstGeom prst="rect">
            <a:avLst/>
          </a:prstGeom>
          <a:noFill/>
          <a:ln/>
        </p:spPr>
        <p:txBody>
          <a:bodyPr wrap="square" lIns="0" tIns="0" rIns="0" bIns="0" rtlCol="0" anchor="ctr"/>
          <a:lstStyle/>
          <a:p>
            <a:pPr marL="0" indent="0" algn="ctr">
              <a:buNone/>
            </a:pPr>
            <a:r>
              <a:rPr lang="en-US" sz="1350" b="1">
                <a:solidFill>
                  <a:srgbClr val="FFFFFF"/>
                </a:solidFill>
              </a:rPr>
              <a:t>Eğitim</a:t>
            </a:r>
            <a:endParaRPr lang="en-US" sz="1350"/>
          </a:p>
        </p:txBody>
      </p:sp>
      <p:sp>
        <p:nvSpPr>
          <p:cNvPr id="18" name="Text 16"/>
          <p:cNvSpPr/>
          <p:nvPr/>
        </p:nvSpPr>
        <p:spPr>
          <a:xfrm>
            <a:off x="3768916" y="2048256"/>
            <a:ext cx="1508760" cy="685800"/>
          </a:xfrm>
          <a:prstGeom prst="rect">
            <a:avLst/>
          </a:prstGeom>
          <a:noFill/>
          <a:ln/>
        </p:spPr>
        <p:txBody>
          <a:bodyPr wrap="square" lIns="0" tIns="0" rIns="0" bIns="0" rtlCol="0" anchor="ctr"/>
          <a:lstStyle/>
          <a:p>
            <a:pPr marL="0" indent="0" algn="ctr">
              <a:buNone/>
            </a:pPr>
            <a:r>
              <a:rPr lang="en-US" sz="1000">
                <a:solidFill>
                  <a:srgbClr val="A8C4E0"/>
                </a:solidFill>
              </a:rPr>
              <a:t>3 epoch</a:t>
            </a:r>
            <a:endParaRPr lang="en-US" sz="1000"/>
          </a:p>
          <a:p>
            <a:pPr marL="0" indent="0" algn="ctr">
              <a:buNone/>
            </a:pPr>
            <a:r>
              <a:rPr lang="en-US" sz="1000">
                <a:solidFill>
                  <a:srgbClr val="A8C4E0"/>
                </a:solidFill>
              </a:rPr>
              <a:t>8-bit AdamW</a:t>
            </a:r>
            <a:endParaRPr lang="en-US" sz="1000"/>
          </a:p>
        </p:txBody>
      </p:sp>
      <p:sp>
        <p:nvSpPr>
          <p:cNvPr id="19" name="Shape 17"/>
          <p:cNvSpPr/>
          <p:nvPr/>
        </p:nvSpPr>
        <p:spPr>
          <a:xfrm flipV="1">
            <a:off x="5173911" y="1920240"/>
            <a:ext cx="535122" cy="0"/>
          </a:xfrm>
          <a:prstGeom prst="line">
            <a:avLst/>
          </a:prstGeom>
          <a:noFill/>
          <a:ln w="25400">
            <a:solidFill>
              <a:srgbClr val="0D9488"/>
            </a:solidFill>
            <a:prstDash val="solid"/>
          </a:ln>
        </p:spPr>
      </p:sp>
      <p:sp>
        <p:nvSpPr>
          <p:cNvPr id="20" name="Shape 18"/>
          <p:cNvSpPr/>
          <p:nvPr/>
        </p:nvSpPr>
        <p:spPr>
          <a:xfrm>
            <a:off x="5666889" y="868680"/>
            <a:ext cx="1306399" cy="2011680"/>
          </a:xfrm>
          <a:prstGeom prst="roundRect">
            <a:avLst>
              <a:gd name="adj" fmla="val 5405"/>
            </a:avLst>
          </a:prstGeom>
          <a:solidFill>
            <a:srgbClr val="0D9488"/>
          </a:solidFill>
          <a:ln w="12700">
            <a:solidFill>
              <a:srgbClr val="0D9488"/>
            </a:solidFill>
            <a:prstDash val="solid"/>
          </a:ln>
          <a:effectLst>
            <a:outerShdw blurRad="101600" dist="38100" dir="2700000" algn="bl" rotWithShape="0">
              <a:srgbClr val="000000">
                <a:alpha val="12000"/>
              </a:srgbClr>
            </a:outerShdw>
          </a:effectLst>
        </p:spPr>
      </p:sp>
      <p:sp>
        <p:nvSpPr>
          <p:cNvPr id="21" name="Text 19"/>
          <p:cNvSpPr/>
          <p:nvPr/>
        </p:nvSpPr>
        <p:spPr>
          <a:xfrm>
            <a:off x="5815976" y="914400"/>
            <a:ext cx="502920" cy="411480"/>
          </a:xfrm>
          <a:prstGeom prst="rect">
            <a:avLst/>
          </a:prstGeom>
          <a:noFill/>
          <a:ln/>
        </p:spPr>
        <p:txBody>
          <a:bodyPr wrap="square" lIns="0" tIns="0" rIns="0" bIns="0" rtlCol="0" anchor="ctr"/>
          <a:lstStyle/>
          <a:p>
            <a:pPr marL="0" indent="0">
              <a:buNone/>
            </a:pPr>
            <a:r>
              <a:rPr lang="en-US" sz="2000" b="1">
                <a:solidFill>
                  <a:srgbClr val="FFFFFF"/>
                </a:solidFill>
              </a:rPr>
              <a:t>4</a:t>
            </a:r>
            <a:endParaRPr lang="en-US" sz="2000"/>
          </a:p>
        </p:txBody>
      </p:sp>
      <p:sp>
        <p:nvSpPr>
          <p:cNvPr id="22" name="Text 20"/>
          <p:cNvSpPr/>
          <p:nvPr/>
        </p:nvSpPr>
        <p:spPr>
          <a:xfrm>
            <a:off x="5569883" y="1325880"/>
            <a:ext cx="1508760" cy="685800"/>
          </a:xfrm>
          <a:prstGeom prst="rect">
            <a:avLst/>
          </a:prstGeom>
          <a:noFill/>
          <a:ln/>
        </p:spPr>
        <p:txBody>
          <a:bodyPr wrap="square" lIns="0" tIns="0" rIns="0" bIns="0" rtlCol="0" anchor="ctr"/>
          <a:lstStyle/>
          <a:p>
            <a:pPr marL="0" indent="0" algn="ctr">
              <a:buNone/>
            </a:pPr>
            <a:r>
              <a:rPr lang="en-US" sz="1350" b="1">
                <a:solidFill>
                  <a:srgbClr val="FFFFFF"/>
                </a:solidFill>
              </a:rPr>
              <a:t>Değerlendirme</a:t>
            </a:r>
            <a:endParaRPr lang="en-US" sz="1350"/>
          </a:p>
        </p:txBody>
      </p:sp>
      <p:sp>
        <p:nvSpPr>
          <p:cNvPr id="23" name="Text 21"/>
          <p:cNvSpPr/>
          <p:nvPr/>
        </p:nvSpPr>
        <p:spPr>
          <a:xfrm>
            <a:off x="5569883" y="2048256"/>
            <a:ext cx="1508760" cy="685800"/>
          </a:xfrm>
          <a:prstGeom prst="rect">
            <a:avLst/>
          </a:prstGeom>
          <a:noFill/>
          <a:ln/>
        </p:spPr>
        <p:txBody>
          <a:bodyPr wrap="square" lIns="0" tIns="0" rIns="0" bIns="0" rtlCol="0" anchor="ctr"/>
          <a:lstStyle/>
          <a:p>
            <a:pPr marL="0" indent="0" algn="ctr">
              <a:buNone/>
            </a:pPr>
            <a:r>
              <a:rPr lang="en-US" sz="1000">
                <a:solidFill>
                  <a:srgbClr val="CCFBF1"/>
                </a:solidFill>
              </a:rPr>
              <a:t>ROUGE-L</a:t>
            </a:r>
            <a:endParaRPr lang="en-US" sz="1000"/>
          </a:p>
          <a:p>
            <a:pPr marL="0" indent="0" algn="ctr">
              <a:buNone/>
            </a:pPr>
            <a:r>
              <a:rPr lang="en-US" sz="1000">
                <a:solidFill>
                  <a:srgbClr val="CCFBF1"/>
                </a:solidFill>
              </a:rPr>
              <a:t>BERTScore F1</a:t>
            </a:r>
            <a:endParaRPr lang="en-US" sz="1000"/>
          </a:p>
        </p:txBody>
      </p:sp>
      <p:sp>
        <p:nvSpPr>
          <p:cNvPr id="24" name="Shape 22"/>
          <p:cNvSpPr/>
          <p:nvPr/>
        </p:nvSpPr>
        <p:spPr>
          <a:xfrm>
            <a:off x="6949435" y="1920240"/>
            <a:ext cx="735495" cy="0"/>
          </a:xfrm>
          <a:prstGeom prst="line">
            <a:avLst/>
          </a:prstGeom>
          <a:noFill/>
          <a:ln w="25400">
            <a:solidFill>
              <a:srgbClr val="0D9488"/>
            </a:solidFill>
            <a:prstDash val="solid"/>
          </a:ln>
        </p:spPr>
      </p:sp>
      <p:sp>
        <p:nvSpPr>
          <p:cNvPr id="25" name="Shape 23"/>
          <p:cNvSpPr/>
          <p:nvPr/>
        </p:nvSpPr>
        <p:spPr>
          <a:xfrm>
            <a:off x="7483762" y="868680"/>
            <a:ext cx="1270618" cy="2011680"/>
          </a:xfrm>
          <a:prstGeom prst="roundRect">
            <a:avLst>
              <a:gd name="adj" fmla="val 5405"/>
            </a:avLst>
          </a:prstGeom>
          <a:solidFill>
            <a:srgbClr val="0B1F4B"/>
          </a:solidFill>
          <a:ln w="12700">
            <a:solidFill>
              <a:srgbClr val="0B1F4B"/>
            </a:solidFill>
            <a:prstDash val="solid"/>
          </a:ln>
          <a:effectLst>
            <a:outerShdw blurRad="101600" dist="38100" dir="2700000" algn="bl" rotWithShape="0">
              <a:srgbClr val="000000">
                <a:alpha val="12000"/>
              </a:srgbClr>
            </a:outerShdw>
          </a:effectLst>
        </p:spPr>
      </p:sp>
      <p:sp>
        <p:nvSpPr>
          <p:cNvPr id="26" name="Text 24"/>
          <p:cNvSpPr/>
          <p:nvPr/>
        </p:nvSpPr>
        <p:spPr>
          <a:xfrm>
            <a:off x="7632849" y="914400"/>
            <a:ext cx="502920" cy="411480"/>
          </a:xfrm>
          <a:prstGeom prst="rect">
            <a:avLst/>
          </a:prstGeom>
          <a:noFill/>
          <a:ln/>
        </p:spPr>
        <p:txBody>
          <a:bodyPr wrap="square" lIns="0" tIns="0" rIns="0" bIns="0" rtlCol="0" anchor="ctr"/>
          <a:lstStyle/>
          <a:p>
            <a:pPr marL="0" indent="0">
              <a:buNone/>
            </a:pPr>
            <a:r>
              <a:rPr lang="en-US" sz="2000" b="1">
                <a:solidFill>
                  <a:srgbClr val="14B8A6"/>
                </a:solidFill>
              </a:rPr>
              <a:t>5</a:t>
            </a:r>
            <a:endParaRPr lang="en-US" sz="2000"/>
          </a:p>
        </p:txBody>
      </p:sp>
      <p:sp>
        <p:nvSpPr>
          <p:cNvPr id="27" name="Text 25"/>
          <p:cNvSpPr/>
          <p:nvPr/>
        </p:nvSpPr>
        <p:spPr>
          <a:xfrm>
            <a:off x="7418560" y="1325880"/>
            <a:ext cx="1508760" cy="685800"/>
          </a:xfrm>
          <a:prstGeom prst="rect">
            <a:avLst/>
          </a:prstGeom>
          <a:noFill/>
          <a:ln/>
        </p:spPr>
        <p:txBody>
          <a:bodyPr wrap="square" lIns="0" tIns="0" rIns="0" bIns="0" rtlCol="0" anchor="ctr"/>
          <a:lstStyle/>
          <a:p>
            <a:pPr marL="0" indent="0" algn="ctr">
              <a:buNone/>
            </a:pPr>
            <a:r>
              <a:rPr lang="en-US" sz="1350" b="1">
                <a:solidFill>
                  <a:srgbClr val="FFFFFF"/>
                </a:solidFill>
              </a:rPr>
              <a:t>Model</a:t>
            </a:r>
            <a:endParaRPr lang="en-US" sz="1350"/>
          </a:p>
          <a:p>
            <a:pPr marL="0" indent="0" algn="ctr">
              <a:buNone/>
            </a:pPr>
            <a:r>
              <a:rPr lang="en-US" sz="1350" b="1">
                <a:solidFill>
                  <a:srgbClr val="FFFFFF"/>
                </a:solidFill>
              </a:rPr>
              <a:t>Seçimi</a:t>
            </a:r>
            <a:endParaRPr lang="en-US" sz="1350"/>
          </a:p>
        </p:txBody>
      </p:sp>
      <p:sp>
        <p:nvSpPr>
          <p:cNvPr id="28" name="Text 26"/>
          <p:cNvSpPr/>
          <p:nvPr/>
        </p:nvSpPr>
        <p:spPr>
          <a:xfrm>
            <a:off x="7418560" y="2048256"/>
            <a:ext cx="1508760" cy="685800"/>
          </a:xfrm>
          <a:prstGeom prst="rect">
            <a:avLst/>
          </a:prstGeom>
          <a:noFill/>
          <a:ln/>
        </p:spPr>
        <p:txBody>
          <a:bodyPr wrap="square" lIns="0" tIns="0" rIns="0" bIns="0" rtlCol="0" anchor="ctr"/>
          <a:lstStyle/>
          <a:p>
            <a:pPr marL="0" indent="0" algn="ctr">
              <a:buNone/>
            </a:pPr>
            <a:r>
              <a:rPr lang="en-US" sz="1000">
                <a:solidFill>
                  <a:srgbClr val="A8C4E0"/>
                </a:solidFill>
              </a:rPr>
              <a:t>En iyi adaptör</a:t>
            </a:r>
            <a:endParaRPr lang="en-US" sz="1000"/>
          </a:p>
          <a:p>
            <a:pPr marL="0" indent="0" algn="ctr">
              <a:buNone/>
            </a:pPr>
            <a:r>
              <a:rPr lang="en-US" sz="1000">
                <a:solidFill>
                  <a:srgbClr val="A8C4E0"/>
                </a:solidFill>
              </a:rPr>
              <a:t>kaydedilir</a:t>
            </a:r>
            <a:endParaRPr lang="en-US" sz="1000"/>
          </a:p>
        </p:txBody>
      </p:sp>
      <p:sp>
        <p:nvSpPr>
          <p:cNvPr id="29" name="Shape 27"/>
          <p:cNvSpPr/>
          <p:nvPr/>
        </p:nvSpPr>
        <p:spPr>
          <a:xfrm>
            <a:off x="320040" y="3063240"/>
            <a:ext cx="8503920" cy="1463040"/>
          </a:xfrm>
          <a:prstGeom prst="roundRect">
            <a:avLst>
              <a:gd name="adj" fmla="val 5000"/>
            </a:avLst>
          </a:prstGeom>
          <a:solidFill>
            <a:srgbClr val="EFF6FF"/>
          </a:solidFill>
          <a:ln w="12700">
            <a:solidFill>
              <a:srgbClr val="BFDBFE"/>
            </a:solidFill>
            <a:prstDash val="solid"/>
          </a:ln>
          <a:effectLst>
            <a:outerShdw blurRad="101600" dist="38100" dir="2700000" algn="bl" rotWithShape="0">
              <a:srgbClr val="000000">
                <a:alpha val="12000"/>
              </a:srgbClr>
            </a:outerShdw>
          </a:effectLst>
        </p:spPr>
      </p:sp>
      <p:sp>
        <p:nvSpPr>
          <p:cNvPr id="30" name="Text 28"/>
          <p:cNvSpPr/>
          <p:nvPr/>
        </p:nvSpPr>
        <p:spPr>
          <a:xfrm>
            <a:off x="594360" y="3154680"/>
            <a:ext cx="3657600" cy="347472"/>
          </a:xfrm>
          <a:prstGeom prst="rect">
            <a:avLst/>
          </a:prstGeom>
          <a:noFill/>
          <a:ln/>
        </p:spPr>
        <p:txBody>
          <a:bodyPr wrap="square" lIns="0" tIns="0" rIns="0" bIns="0" rtlCol="0" anchor="ctr"/>
          <a:lstStyle/>
          <a:p>
            <a:pPr marL="0" indent="0">
              <a:buNone/>
            </a:pPr>
            <a:r>
              <a:rPr lang="en-US" sz="1300" b="1">
                <a:solidFill>
                  <a:srgbClr val="0B1F4B"/>
                </a:solidFill>
              </a:rPr>
              <a:t>LoRA Hiperparametreleri</a:t>
            </a:r>
            <a:endParaRPr lang="en-US" sz="1300"/>
          </a:p>
        </p:txBody>
      </p:sp>
      <p:sp>
        <p:nvSpPr>
          <p:cNvPr id="31" name="Text 29"/>
          <p:cNvSpPr/>
          <p:nvPr/>
        </p:nvSpPr>
        <p:spPr>
          <a:xfrm>
            <a:off x="457200" y="3566160"/>
            <a:ext cx="2011680" cy="256032"/>
          </a:xfrm>
          <a:prstGeom prst="rect">
            <a:avLst/>
          </a:prstGeom>
          <a:noFill/>
          <a:ln/>
        </p:spPr>
        <p:txBody>
          <a:bodyPr wrap="square" lIns="0" tIns="0" rIns="0" bIns="0" rtlCol="0" anchor="ctr"/>
          <a:lstStyle/>
          <a:p>
            <a:pPr marL="0" indent="0">
              <a:buNone/>
            </a:pPr>
            <a:r>
              <a:rPr lang="en-US" sz="1050">
                <a:solidFill>
                  <a:srgbClr val="64748B"/>
                </a:solidFill>
              </a:rPr>
              <a:t>rank (r): </a:t>
            </a:r>
            <a:endParaRPr lang="en-US" sz="1050"/>
          </a:p>
        </p:txBody>
      </p:sp>
      <p:sp>
        <p:nvSpPr>
          <p:cNvPr id="32" name="Text 30"/>
          <p:cNvSpPr/>
          <p:nvPr/>
        </p:nvSpPr>
        <p:spPr>
          <a:xfrm>
            <a:off x="2377440" y="3566160"/>
            <a:ext cx="2286000" cy="256032"/>
          </a:xfrm>
          <a:prstGeom prst="rect">
            <a:avLst/>
          </a:prstGeom>
          <a:noFill/>
          <a:ln/>
        </p:spPr>
        <p:txBody>
          <a:bodyPr wrap="square" lIns="0" tIns="0" rIns="0" bIns="0" rtlCol="0" anchor="ctr"/>
          <a:lstStyle/>
          <a:p>
            <a:pPr marL="0" indent="0">
              <a:buNone/>
            </a:pPr>
            <a:r>
              <a:rPr lang="en-US" sz="1050" b="1">
                <a:solidFill>
                  <a:srgbClr val="0B1F4B"/>
                </a:solidFill>
              </a:rPr>
              <a:t>16</a:t>
            </a:r>
            <a:endParaRPr lang="en-US" sz="1050"/>
          </a:p>
        </p:txBody>
      </p:sp>
      <p:sp>
        <p:nvSpPr>
          <p:cNvPr id="33" name="Text 31"/>
          <p:cNvSpPr/>
          <p:nvPr/>
        </p:nvSpPr>
        <p:spPr>
          <a:xfrm>
            <a:off x="457200" y="3858768"/>
            <a:ext cx="2011680" cy="256032"/>
          </a:xfrm>
          <a:prstGeom prst="rect">
            <a:avLst/>
          </a:prstGeom>
          <a:noFill/>
          <a:ln/>
        </p:spPr>
        <p:txBody>
          <a:bodyPr wrap="square" lIns="0" tIns="0" rIns="0" bIns="0" rtlCol="0" anchor="ctr"/>
          <a:lstStyle/>
          <a:p>
            <a:pPr marL="0" indent="0">
              <a:buNone/>
            </a:pPr>
            <a:r>
              <a:rPr lang="en-US" sz="1050">
                <a:solidFill>
                  <a:srgbClr val="64748B"/>
                </a:solidFill>
              </a:rPr>
              <a:t>alpha: </a:t>
            </a:r>
            <a:endParaRPr lang="en-US" sz="1050"/>
          </a:p>
        </p:txBody>
      </p:sp>
      <p:sp>
        <p:nvSpPr>
          <p:cNvPr id="34" name="Text 32"/>
          <p:cNvSpPr/>
          <p:nvPr/>
        </p:nvSpPr>
        <p:spPr>
          <a:xfrm>
            <a:off x="2377440" y="3858768"/>
            <a:ext cx="2286000" cy="256032"/>
          </a:xfrm>
          <a:prstGeom prst="rect">
            <a:avLst/>
          </a:prstGeom>
          <a:noFill/>
          <a:ln/>
        </p:spPr>
        <p:txBody>
          <a:bodyPr wrap="square" lIns="0" tIns="0" rIns="0" bIns="0" rtlCol="0" anchor="ctr"/>
          <a:lstStyle/>
          <a:p>
            <a:pPr marL="0" indent="0">
              <a:buNone/>
            </a:pPr>
            <a:r>
              <a:rPr lang="en-US" sz="1050" b="1">
                <a:solidFill>
                  <a:srgbClr val="0B1F4B"/>
                </a:solidFill>
              </a:rPr>
              <a:t>32</a:t>
            </a:r>
            <a:endParaRPr lang="en-US" sz="1050"/>
          </a:p>
        </p:txBody>
      </p:sp>
      <p:sp>
        <p:nvSpPr>
          <p:cNvPr id="35" name="Text 33"/>
          <p:cNvSpPr/>
          <p:nvPr/>
        </p:nvSpPr>
        <p:spPr>
          <a:xfrm>
            <a:off x="457200" y="4151376"/>
            <a:ext cx="2011680" cy="256032"/>
          </a:xfrm>
          <a:prstGeom prst="rect">
            <a:avLst/>
          </a:prstGeom>
          <a:noFill/>
          <a:ln/>
        </p:spPr>
        <p:txBody>
          <a:bodyPr wrap="square" lIns="0" tIns="0" rIns="0" bIns="0" rtlCol="0" anchor="ctr"/>
          <a:lstStyle/>
          <a:p>
            <a:pPr marL="0" indent="0">
              <a:buNone/>
            </a:pPr>
            <a:r>
              <a:rPr lang="en-US" sz="1050">
                <a:solidFill>
                  <a:srgbClr val="64748B"/>
                </a:solidFill>
              </a:rPr>
              <a:t>Quantization: </a:t>
            </a:r>
            <a:endParaRPr lang="en-US" sz="1050"/>
          </a:p>
        </p:txBody>
      </p:sp>
      <p:sp>
        <p:nvSpPr>
          <p:cNvPr id="36" name="Text 34"/>
          <p:cNvSpPr/>
          <p:nvPr/>
        </p:nvSpPr>
        <p:spPr>
          <a:xfrm>
            <a:off x="2377440" y="4151376"/>
            <a:ext cx="2286000" cy="256032"/>
          </a:xfrm>
          <a:prstGeom prst="rect">
            <a:avLst/>
          </a:prstGeom>
          <a:noFill/>
          <a:ln/>
        </p:spPr>
        <p:txBody>
          <a:bodyPr wrap="square" lIns="0" tIns="0" rIns="0" bIns="0" rtlCol="0" anchor="ctr"/>
          <a:lstStyle/>
          <a:p>
            <a:pPr marL="0" indent="0">
              <a:buNone/>
            </a:pPr>
            <a:r>
              <a:rPr lang="en-US" sz="1050" b="1">
                <a:solidFill>
                  <a:srgbClr val="0B1F4B"/>
                </a:solidFill>
              </a:rPr>
              <a:t>4-bit</a:t>
            </a:r>
            <a:endParaRPr lang="en-US" sz="1050"/>
          </a:p>
        </p:txBody>
      </p:sp>
      <p:sp>
        <p:nvSpPr>
          <p:cNvPr id="37" name="Text 35"/>
          <p:cNvSpPr/>
          <p:nvPr/>
        </p:nvSpPr>
        <p:spPr>
          <a:xfrm>
            <a:off x="4754880" y="3566160"/>
            <a:ext cx="2011680" cy="256032"/>
          </a:xfrm>
          <a:prstGeom prst="rect">
            <a:avLst/>
          </a:prstGeom>
          <a:noFill/>
          <a:ln/>
        </p:spPr>
        <p:txBody>
          <a:bodyPr wrap="square" lIns="0" tIns="0" rIns="0" bIns="0" rtlCol="0" anchor="ctr"/>
          <a:lstStyle/>
          <a:p>
            <a:pPr marL="0" indent="0">
              <a:buNone/>
            </a:pPr>
            <a:r>
              <a:rPr lang="en-US" sz="1050">
                <a:solidFill>
                  <a:srgbClr val="64748B"/>
                </a:solidFill>
              </a:rPr>
              <a:t>Optimizer: </a:t>
            </a:r>
            <a:endParaRPr lang="en-US" sz="1050"/>
          </a:p>
        </p:txBody>
      </p:sp>
      <p:sp>
        <p:nvSpPr>
          <p:cNvPr id="38" name="Text 36"/>
          <p:cNvSpPr/>
          <p:nvPr/>
        </p:nvSpPr>
        <p:spPr>
          <a:xfrm>
            <a:off x="6675120" y="3566160"/>
            <a:ext cx="2286000" cy="256032"/>
          </a:xfrm>
          <a:prstGeom prst="rect">
            <a:avLst/>
          </a:prstGeom>
          <a:noFill/>
          <a:ln/>
        </p:spPr>
        <p:txBody>
          <a:bodyPr wrap="square" lIns="0" tIns="0" rIns="0" bIns="0" rtlCol="0" anchor="ctr"/>
          <a:lstStyle/>
          <a:p>
            <a:pPr marL="0" indent="0">
              <a:buNone/>
            </a:pPr>
            <a:r>
              <a:rPr lang="en-US" sz="1050" b="1">
                <a:solidFill>
                  <a:srgbClr val="0B1F4B"/>
                </a:solidFill>
              </a:rPr>
              <a:t>8-bit AdamW</a:t>
            </a:r>
            <a:endParaRPr lang="en-US" sz="1050"/>
          </a:p>
        </p:txBody>
      </p:sp>
      <p:sp>
        <p:nvSpPr>
          <p:cNvPr id="39" name="Text 37"/>
          <p:cNvSpPr/>
          <p:nvPr/>
        </p:nvSpPr>
        <p:spPr>
          <a:xfrm>
            <a:off x="4754880" y="3858768"/>
            <a:ext cx="2011680" cy="256032"/>
          </a:xfrm>
          <a:prstGeom prst="rect">
            <a:avLst/>
          </a:prstGeom>
          <a:noFill/>
          <a:ln/>
        </p:spPr>
        <p:txBody>
          <a:bodyPr wrap="square" lIns="0" tIns="0" rIns="0" bIns="0" rtlCol="0" anchor="ctr"/>
          <a:lstStyle/>
          <a:p>
            <a:pPr marL="0" indent="0">
              <a:buNone/>
            </a:pPr>
            <a:r>
              <a:rPr lang="en-US" sz="1050">
                <a:solidFill>
                  <a:srgbClr val="64748B"/>
                </a:solidFill>
              </a:rPr>
              <a:t>Epoch: </a:t>
            </a:r>
            <a:endParaRPr lang="en-US" sz="1050"/>
          </a:p>
        </p:txBody>
      </p:sp>
      <p:sp>
        <p:nvSpPr>
          <p:cNvPr id="40" name="Text 38"/>
          <p:cNvSpPr/>
          <p:nvPr/>
        </p:nvSpPr>
        <p:spPr>
          <a:xfrm>
            <a:off x="6675120" y="3858768"/>
            <a:ext cx="2286000" cy="256032"/>
          </a:xfrm>
          <a:prstGeom prst="rect">
            <a:avLst/>
          </a:prstGeom>
          <a:noFill/>
          <a:ln/>
        </p:spPr>
        <p:txBody>
          <a:bodyPr wrap="square" lIns="0" tIns="0" rIns="0" bIns="0" rtlCol="0" anchor="ctr"/>
          <a:lstStyle/>
          <a:p>
            <a:pPr marL="0" indent="0">
              <a:buNone/>
            </a:pPr>
            <a:r>
              <a:rPr lang="en-US" sz="1050" b="1">
                <a:solidFill>
                  <a:srgbClr val="0B1F4B"/>
                </a:solidFill>
              </a:rPr>
              <a:t>3</a:t>
            </a:r>
            <a:endParaRPr lang="en-US" sz="1050"/>
          </a:p>
        </p:txBody>
      </p:sp>
      <p:sp>
        <p:nvSpPr>
          <p:cNvPr id="41" name="Text 39"/>
          <p:cNvSpPr/>
          <p:nvPr/>
        </p:nvSpPr>
        <p:spPr>
          <a:xfrm>
            <a:off x="4754880" y="4151376"/>
            <a:ext cx="2011680" cy="256032"/>
          </a:xfrm>
          <a:prstGeom prst="rect">
            <a:avLst/>
          </a:prstGeom>
          <a:noFill/>
          <a:ln/>
        </p:spPr>
        <p:txBody>
          <a:bodyPr wrap="square" lIns="0" tIns="0" rIns="0" bIns="0" rtlCol="0" anchor="ctr"/>
          <a:lstStyle/>
          <a:p>
            <a:pPr marL="0" indent="0">
              <a:buNone/>
            </a:pPr>
            <a:r>
              <a:rPr lang="en-US" sz="1050">
                <a:solidFill>
                  <a:srgbClr val="64748B"/>
                </a:solidFill>
              </a:rPr>
              <a:t>Hedef Katmanlar: </a:t>
            </a:r>
            <a:endParaRPr lang="en-US" sz="1050"/>
          </a:p>
        </p:txBody>
      </p:sp>
      <p:sp>
        <p:nvSpPr>
          <p:cNvPr id="42" name="Text 40"/>
          <p:cNvSpPr/>
          <p:nvPr/>
        </p:nvSpPr>
        <p:spPr>
          <a:xfrm>
            <a:off x="6675120" y="4151376"/>
            <a:ext cx="2286000" cy="256032"/>
          </a:xfrm>
          <a:prstGeom prst="rect">
            <a:avLst/>
          </a:prstGeom>
          <a:noFill/>
          <a:ln/>
        </p:spPr>
        <p:txBody>
          <a:bodyPr wrap="square" lIns="0" tIns="0" rIns="0" bIns="0" rtlCol="0" anchor="ctr"/>
          <a:lstStyle/>
          <a:p>
            <a:pPr marL="0" indent="0">
              <a:buNone/>
            </a:pPr>
            <a:r>
              <a:rPr lang="en-US" sz="1050" b="1">
                <a:solidFill>
                  <a:srgbClr val="0B1F4B"/>
                </a:solidFill>
              </a:rPr>
              <a:t>q/k/v/o/gate/up/down proj</a:t>
            </a:r>
            <a:endParaRPr lang="en-US" sz="105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03</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en-US" sz="3200" b="1">
                <a:solidFill>
                  <a:srgbClr val="FFFFFF"/>
                </a:solidFill>
              </a:rPr>
              <a:t>Kullanılan Modeller</a:t>
            </a:r>
            <a:endParaRPr lang="en-US" sz="320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~10 açık kaynaklı LLM — Llama · Qwen · Phi · Mistral </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03 · Kullanılan Modeller</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40" y="804671"/>
            <a:ext cx="4114800" cy="2124075"/>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6" name="Shape 4"/>
          <p:cNvSpPr/>
          <p:nvPr/>
        </p:nvSpPr>
        <p:spPr>
          <a:xfrm>
            <a:off x="429768" y="896112"/>
            <a:ext cx="3749040" cy="365760"/>
          </a:xfrm>
          <a:prstGeom prst="roundRect">
            <a:avLst>
              <a:gd name="adj" fmla="val 12500"/>
            </a:avLst>
          </a:prstGeom>
          <a:solidFill>
            <a:srgbClr val="0D9488"/>
          </a:solidFill>
          <a:ln w="12700">
            <a:solidFill>
              <a:srgbClr val="0D9488"/>
            </a:solidFill>
            <a:prstDash val="solid"/>
          </a:ln>
        </p:spPr>
      </p:sp>
      <p:sp>
        <p:nvSpPr>
          <p:cNvPr id="7" name="Text 5"/>
          <p:cNvSpPr/>
          <p:nvPr/>
        </p:nvSpPr>
        <p:spPr>
          <a:xfrm>
            <a:off x="502920" y="914400"/>
            <a:ext cx="3566160" cy="329184"/>
          </a:xfrm>
          <a:prstGeom prst="rect">
            <a:avLst/>
          </a:prstGeom>
          <a:noFill/>
          <a:ln/>
        </p:spPr>
        <p:txBody>
          <a:bodyPr wrap="square" lIns="0" tIns="0" rIns="0" bIns="0" rtlCol="0" anchor="ctr"/>
          <a:lstStyle/>
          <a:p>
            <a:r>
              <a:rPr lang="en-US" sz="1150" b="1">
                <a:solidFill>
                  <a:srgbClr val="FFFFFF"/>
                </a:solidFill>
              </a:rPr>
              <a:t>Genel </a:t>
            </a:r>
            <a:r>
              <a:rPr lang="en-US" sz="1150" b="1" err="1">
                <a:solidFill>
                  <a:srgbClr val="FFFFFF"/>
                </a:solidFill>
              </a:rPr>
              <a:t>İngilizce</a:t>
            </a:r>
            <a:r>
              <a:rPr lang="en-US" sz="1150" b="1">
                <a:solidFill>
                  <a:srgbClr val="FFFFFF"/>
                </a:solidFill>
              </a:rPr>
              <a:t> / </a:t>
            </a:r>
            <a:r>
              <a:rPr lang="en-US" sz="1150" b="1" err="1">
                <a:solidFill>
                  <a:srgbClr val="FFFFFF"/>
                </a:solidFill>
              </a:rPr>
              <a:t>Çok</a:t>
            </a:r>
            <a:r>
              <a:rPr lang="en-US" sz="1150" b="1">
                <a:solidFill>
                  <a:srgbClr val="FFFFFF"/>
                </a:solidFill>
              </a:rPr>
              <a:t> Dilli</a:t>
            </a:r>
            <a:endParaRPr lang="en-US" sz="1150"/>
          </a:p>
        </p:txBody>
      </p:sp>
      <p:sp>
        <p:nvSpPr>
          <p:cNvPr id="8" name="Shape 6"/>
          <p:cNvSpPr/>
          <p:nvPr/>
        </p:nvSpPr>
        <p:spPr>
          <a:xfrm>
            <a:off x="502920" y="1470469"/>
            <a:ext cx="109728" cy="109728"/>
          </a:xfrm>
          <a:prstGeom prst="ellipse">
            <a:avLst/>
          </a:prstGeom>
          <a:solidFill>
            <a:srgbClr val="0D9488"/>
          </a:solidFill>
          <a:ln w="12700">
            <a:solidFill>
              <a:srgbClr val="0D9488"/>
            </a:solidFill>
            <a:prstDash val="solid"/>
          </a:ln>
        </p:spPr>
      </p:sp>
      <p:sp>
        <p:nvSpPr>
          <p:cNvPr id="9" name="Text 7"/>
          <p:cNvSpPr/>
          <p:nvPr/>
        </p:nvSpPr>
        <p:spPr>
          <a:xfrm>
            <a:off x="704088" y="1355434"/>
            <a:ext cx="1194435" cy="302895"/>
          </a:xfrm>
          <a:prstGeom prst="rect">
            <a:avLst/>
          </a:prstGeom>
          <a:noFill/>
          <a:ln/>
        </p:spPr>
        <p:txBody>
          <a:bodyPr wrap="square" lIns="0" tIns="0" rIns="0" bIns="0" rtlCol="0" anchor="ctr"/>
          <a:lstStyle/>
          <a:p>
            <a:pPr marL="0" indent="0">
              <a:buNone/>
            </a:pPr>
            <a:r>
              <a:rPr lang="en-US" sz="1150">
                <a:solidFill>
                  <a:srgbClr val="334155"/>
                </a:solidFill>
              </a:rPr>
              <a:t>Llama 1B</a:t>
            </a:r>
            <a:endParaRPr lang="en-US" sz="1150"/>
          </a:p>
        </p:txBody>
      </p:sp>
      <p:sp>
        <p:nvSpPr>
          <p:cNvPr id="10" name="Shape 8"/>
          <p:cNvSpPr/>
          <p:nvPr/>
        </p:nvSpPr>
        <p:spPr>
          <a:xfrm>
            <a:off x="502920" y="1772221"/>
            <a:ext cx="109728" cy="109728"/>
          </a:xfrm>
          <a:prstGeom prst="ellipse">
            <a:avLst/>
          </a:prstGeom>
          <a:solidFill>
            <a:srgbClr val="0D9488"/>
          </a:solidFill>
          <a:ln w="12700">
            <a:solidFill>
              <a:srgbClr val="0D9488"/>
            </a:solidFill>
            <a:prstDash val="solid"/>
          </a:ln>
        </p:spPr>
      </p:sp>
      <p:sp>
        <p:nvSpPr>
          <p:cNvPr id="11" name="Text 9"/>
          <p:cNvSpPr/>
          <p:nvPr/>
        </p:nvSpPr>
        <p:spPr>
          <a:xfrm>
            <a:off x="704088" y="1695286"/>
            <a:ext cx="1194435" cy="236220"/>
          </a:xfrm>
          <a:prstGeom prst="rect">
            <a:avLst/>
          </a:prstGeom>
          <a:noFill/>
          <a:ln/>
        </p:spPr>
        <p:txBody>
          <a:bodyPr wrap="square" lIns="0" tIns="0" rIns="0" bIns="0" rtlCol="0" anchor="ctr"/>
          <a:lstStyle/>
          <a:p>
            <a:pPr marL="0" indent="0">
              <a:buNone/>
            </a:pPr>
            <a:r>
              <a:rPr lang="en-US" sz="1150">
                <a:solidFill>
                  <a:srgbClr val="334155"/>
                </a:solidFill>
              </a:rPr>
              <a:t>Llama 3B</a:t>
            </a:r>
            <a:endParaRPr lang="en-US" sz="1150"/>
          </a:p>
        </p:txBody>
      </p:sp>
      <p:sp>
        <p:nvSpPr>
          <p:cNvPr id="12" name="Shape 10"/>
          <p:cNvSpPr/>
          <p:nvPr/>
        </p:nvSpPr>
        <p:spPr>
          <a:xfrm>
            <a:off x="502920" y="2073973"/>
            <a:ext cx="109728" cy="109728"/>
          </a:xfrm>
          <a:prstGeom prst="ellipse">
            <a:avLst/>
          </a:prstGeom>
          <a:solidFill>
            <a:srgbClr val="0D9488"/>
          </a:solidFill>
          <a:ln w="12700">
            <a:solidFill>
              <a:srgbClr val="0D9488"/>
            </a:solidFill>
            <a:prstDash val="solid"/>
          </a:ln>
        </p:spPr>
      </p:sp>
      <p:sp>
        <p:nvSpPr>
          <p:cNvPr id="13" name="Text 11"/>
          <p:cNvSpPr/>
          <p:nvPr/>
        </p:nvSpPr>
        <p:spPr>
          <a:xfrm>
            <a:off x="704088" y="1977988"/>
            <a:ext cx="3566160" cy="274320"/>
          </a:xfrm>
          <a:prstGeom prst="rect">
            <a:avLst/>
          </a:prstGeom>
          <a:noFill/>
          <a:ln/>
        </p:spPr>
        <p:txBody>
          <a:bodyPr wrap="square" lIns="0" tIns="0" rIns="0" bIns="0" rtlCol="0" anchor="ctr"/>
          <a:lstStyle/>
          <a:p>
            <a:pPr marL="0" indent="0">
              <a:buNone/>
            </a:pPr>
            <a:r>
              <a:rPr lang="en-US" sz="1150">
                <a:solidFill>
                  <a:srgbClr val="334155"/>
                </a:solidFill>
              </a:rPr>
              <a:t>Llama 8B</a:t>
            </a:r>
            <a:endParaRPr lang="en-US" sz="1150"/>
          </a:p>
        </p:txBody>
      </p:sp>
      <p:sp>
        <p:nvSpPr>
          <p:cNvPr id="14" name="Shape 12"/>
          <p:cNvSpPr/>
          <p:nvPr/>
        </p:nvSpPr>
        <p:spPr>
          <a:xfrm>
            <a:off x="502920" y="2345109"/>
            <a:ext cx="109728" cy="109728"/>
          </a:xfrm>
          <a:prstGeom prst="ellipse">
            <a:avLst/>
          </a:prstGeom>
          <a:solidFill>
            <a:srgbClr val="0D9488"/>
          </a:solidFill>
          <a:ln w="12700">
            <a:solidFill>
              <a:srgbClr val="0D9488"/>
            </a:solidFill>
            <a:prstDash val="solid"/>
          </a:ln>
        </p:spPr>
      </p:sp>
      <p:sp>
        <p:nvSpPr>
          <p:cNvPr id="15" name="Text 13"/>
          <p:cNvSpPr/>
          <p:nvPr/>
        </p:nvSpPr>
        <p:spPr>
          <a:xfrm>
            <a:off x="704088" y="2260690"/>
            <a:ext cx="3566160" cy="274320"/>
          </a:xfrm>
          <a:prstGeom prst="rect">
            <a:avLst/>
          </a:prstGeom>
          <a:noFill/>
          <a:ln/>
        </p:spPr>
        <p:txBody>
          <a:bodyPr wrap="square" lIns="0" tIns="0" rIns="0" bIns="0" rtlCol="0" anchor="ctr"/>
          <a:lstStyle/>
          <a:p>
            <a:pPr marL="0" indent="0">
              <a:buNone/>
            </a:pPr>
            <a:r>
              <a:rPr lang="en-US" sz="1150">
                <a:solidFill>
                  <a:srgbClr val="334155"/>
                </a:solidFill>
              </a:rPr>
              <a:t>Qwen 1.5B</a:t>
            </a:r>
            <a:endParaRPr lang="en-US" sz="1150"/>
          </a:p>
        </p:txBody>
      </p:sp>
      <p:sp>
        <p:nvSpPr>
          <p:cNvPr id="16" name="Shape 14"/>
          <p:cNvSpPr/>
          <p:nvPr/>
        </p:nvSpPr>
        <p:spPr>
          <a:xfrm>
            <a:off x="502920" y="2667271"/>
            <a:ext cx="109728" cy="109728"/>
          </a:xfrm>
          <a:prstGeom prst="ellipse">
            <a:avLst/>
          </a:prstGeom>
          <a:solidFill>
            <a:srgbClr val="0D9488"/>
          </a:solidFill>
          <a:ln w="12700">
            <a:solidFill>
              <a:srgbClr val="0D9488"/>
            </a:solidFill>
            <a:prstDash val="solid"/>
          </a:ln>
        </p:spPr>
      </p:sp>
      <p:sp>
        <p:nvSpPr>
          <p:cNvPr id="17" name="Text 15"/>
          <p:cNvSpPr/>
          <p:nvPr/>
        </p:nvSpPr>
        <p:spPr>
          <a:xfrm>
            <a:off x="704088" y="2562442"/>
            <a:ext cx="3566160" cy="274320"/>
          </a:xfrm>
          <a:prstGeom prst="rect">
            <a:avLst/>
          </a:prstGeom>
          <a:noFill/>
          <a:ln/>
        </p:spPr>
        <p:txBody>
          <a:bodyPr wrap="square" lIns="0" tIns="0" rIns="0" bIns="0" rtlCol="0" anchor="ctr"/>
          <a:lstStyle/>
          <a:p>
            <a:pPr marL="0" indent="0">
              <a:buNone/>
            </a:pPr>
            <a:r>
              <a:rPr lang="en-US" sz="1150">
                <a:solidFill>
                  <a:srgbClr val="334155"/>
                </a:solidFill>
              </a:rPr>
              <a:t>Qwen 3B</a:t>
            </a:r>
            <a:endParaRPr lang="en-US" sz="1150"/>
          </a:p>
        </p:txBody>
      </p:sp>
      <p:sp>
        <p:nvSpPr>
          <p:cNvPr id="18" name="Shape 16"/>
          <p:cNvSpPr/>
          <p:nvPr/>
        </p:nvSpPr>
        <p:spPr>
          <a:xfrm>
            <a:off x="320040" y="3073527"/>
            <a:ext cx="4114800" cy="182880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9" name="Shape 17"/>
          <p:cNvSpPr/>
          <p:nvPr/>
        </p:nvSpPr>
        <p:spPr>
          <a:xfrm>
            <a:off x="429768" y="3164967"/>
            <a:ext cx="3749040" cy="365760"/>
          </a:xfrm>
          <a:prstGeom prst="roundRect">
            <a:avLst>
              <a:gd name="adj" fmla="val 12500"/>
            </a:avLst>
          </a:prstGeom>
          <a:solidFill>
            <a:srgbClr val="334155"/>
          </a:solidFill>
          <a:ln w="12700">
            <a:solidFill>
              <a:srgbClr val="334155"/>
            </a:solidFill>
            <a:prstDash val="solid"/>
          </a:ln>
        </p:spPr>
      </p:sp>
      <p:sp>
        <p:nvSpPr>
          <p:cNvPr id="20" name="Text 18"/>
          <p:cNvSpPr/>
          <p:nvPr/>
        </p:nvSpPr>
        <p:spPr>
          <a:xfrm>
            <a:off x="502920" y="3183255"/>
            <a:ext cx="3566160" cy="329184"/>
          </a:xfrm>
          <a:prstGeom prst="rect">
            <a:avLst/>
          </a:prstGeom>
          <a:noFill/>
          <a:ln/>
        </p:spPr>
        <p:txBody>
          <a:bodyPr wrap="square" lIns="0" tIns="0" rIns="0" bIns="0" rtlCol="0" anchor="ctr"/>
          <a:lstStyle/>
          <a:p>
            <a:pPr marL="0" indent="0">
              <a:buNone/>
            </a:pPr>
            <a:r>
              <a:rPr lang="en-US" sz="1150" b="1">
                <a:solidFill>
                  <a:srgbClr val="FFFFFF"/>
                </a:solidFill>
              </a:rPr>
              <a:t>Genel İngilizce</a:t>
            </a:r>
            <a:endParaRPr lang="en-US" sz="1150"/>
          </a:p>
        </p:txBody>
      </p:sp>
      <p:sp>
        <p:nvSpPr>
          <p:cNvPr id="25" name="Shape 23"/>
          <p:cNvSpPr/>
          <p:nvPr/>
        </p:nvSpPr>
        <p:spPr>
          <a:xfrm>
            <a:off x="502920" y="3707375"/>
            <a:ext cx="109728" cy="109728"/>
          </a:xfrm>
          <a:prstGeom prst="ellipse">
            <a:avLst/>
          </a:prstGeom>
          <a:solidFill>
            <a:srgbClr val="334155"/>
          </a:solidFill>
          <a:ln w="12700">
            <a:solidFill>
              <a:srgbClr val="334155"/>
            </a:solidFill>
            <a:prstDash val="solid"/>
          </a:ln>
        </p:spPr>
      </p:sp>
      <p:sp>
        <p:nvSpPr>
          <p:cNvPr id="26" name="Text 24"/>
          <p:cNvSpPr/>
          <p:nvPr/>
        </p:nvSpPr>
        <p:spPr>
          <a:xfrm>
            <a:off x="704088" y="3643367"/>
            <a:ext cx="3566160" cy="274320"/>
          </a:xfrm>
          <a:prstGeom prst="rect">
            <a:avLst/>
          </a:prstGeom>
          <a:noFill/>
          <a:ln/>
        </p:spPr>
        <p:txBody>
          <a:bodyPr wrap="square" lIns="0" tIns="0" rIns="0" bIns="0" rtlCol="0" anchor="ctr"/>
          <a:lstStyle/>
          <a:p>
            <a:r>
              <a:rPr lang="en-US" sz="1150">
                <a:solidFill>
                  <a:srgbClr val="334155"/>
                </a:solidFill>
              </a:rPr>
              <a:t>Turkish Llama</a:t>
            </a:r>
            <a:endParaRPr lang="en-US" sz="1150"/>
          </a:p>
        </p:txBody>
      </p:sp>
      <p:sp>
        <p:nvSpPr>
          <p:cNvPr id="27" name="Shape 25"/>
          <p:cNvSpPr/>
          <p:nvPr/>
        </p:nvSpPr>
        <p:spPr>
          <a:xfrm>
            <a:off x="4709160" y="804672"/>
            <a:ext cx="4114800" cy="2032907"/>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8" name="Shape 26"/>
          <p:cNvSpPr/>
          <p:nvPr/>
        </p:nvSpPr>
        <p:spPr>
          <a:xfrm>
            <a:off x="4818888" y="896112"/>
            <a:ext cx="3749040" cy="365760"/>
          </a:xfrm>
          <a:prstGeom prst="roundRect">
            <a:avLst>
              <a:gd name="adj" fmla="val 12500"/>
            </a:avLst>
          </a:prstGeom>
          <a:solidFill>
            <a:srgbClr val="F59E0B"/>
          </a:solidFill>
          <a:ln w="12700">
            <a:solidFill>
              <a:srgbClr val="F59E0B"/>
            </a:solidFill>
            <a:prstDash val="solid"/>
          </a:ln>
        </p:spPr>
      </p:sp>
      <p:sp>
        <p:nvSpPr>
          <p:cNvPr id="29" name="Text 27"/>
          <p:cNvSpPr/>
          <p:nvPr/>
        </p:nvSpPr>
        <p:spPr>
          <a:xfrm>
            <a:off x="4892040" y="914400"/>
            <a:ext cx="3566160" cy="329184"/>
          </a:xfrm>
          <a:prstGeom prst="rect">
            <a:avLst/>
          </a:prstGeom>
          <a:noFill/>
          <a:ln/>
        </p:spPr>
        <p:txBody>
          <a:bodyPr wrap="square" lIns="0" tIns="0" rIns="0" bIns="0" rtlCol="0" anchor="ctr"/>
          <a:lstStyle/>
          <a:p>
            <a:pPr marL="0" indent="0">
              <a:buNone/>
            </a:pPr>
            <a:r>
              <a:rPr lang="en-US" sz="1150" b="1">
                <a:solidFill>
                  <a:srgbClr val="FFFFFF"/>
                </a:solidFill>
              </a:rPr>
              <a:t>Tıbbi İngilizce</a:t>
            </a:r>
            <a:endParaRPr lang="en-US" sz="1150"/>
          </a:p>
        </p:txBody>
      </p:sp>
      <p:sp>
        <p:nvSpPr>
          <p:cNvPr id="30" name="Shape 28"/>
          <p:cNvSpPr/>
          <p:nvPr/>
        </p:nvSpPr>
        <p:spPr>
          <a:xfrm>
            <a:off x="4892040" y="1399032"/>
            <a:ext cx="109728" cy="109728"/>
          </a:xfrm>
          <a:prstGeom prst="ellipse">
            <a:avLst/>
          </a:prstGeom>
          <a:solidFill>
            <a:srgbClr val="F59E0B"/>
          </a:solidFill>
          <a:ln w="12700">
            <a:solidFill>
              <a:srgbClr val="F59E0B"/>
            </a:solidFill>
            <a:prstDash val="solid"/>
          </a:ln>
        </p:spPr>
      </p:sp>
      <p:sp>
        <p:nvSpPr>
          <p:cNvPr id="31" name="Text 29"/>
          <p:cNvSpPr/>
          <p:nvPr/>
        </p:nvSpPr>
        <p:spPr>
          <a:xfrm>
            <a:off x="5093208" y="1335024"/>
            <a:ext cx="3566160" cy="274320"/>
          </a:xfrm>
          <a:prstGeom prst="rect">
            <a:avLst/>
          </a:prstGeom>
          <a:noFill/>
          <a:ln/>
        </p:spPr>
        <p:txBody>
          <a:bodyPr wrap="square" lIns="0" tIns="0" rIns="0" bIns="0" rtlCol="0" anchor="ctr"/>
          <a:lstStyle/>
          <a:p>
            <a:pPr marL="0" indent="0">
              <a:buNone/>
            </a:pPr>
            <a:r>
              <a:rPr lang="en-US" sz="1150">
                <a:solidFill>
                  <a:srgbClr val="334155"/>
                </a:solidFill>
              </a:rPr>
              <a:t>BioMistral 7B</a:t>
            </a:r>
            <a:endParaRPr lang="en-US" sz="1150"/>
          </a:p>
        </p:txBody>
      </p:sp>
      <p:sp>
        <p:nvSpPr>
          <p:cNvPr id="32" name="Shape 30"/>
          <p:cNvSpPr/>
          <p:nvPr/>
        </p:nvSpPr>
        <p:spPr>
          <a:xfrm>
            <a:off x="4892040" y="1700784"/>
            <a:ext cx="109728" cy="109728"/>
          </a:xfrm>
          <a:prstGeom prst="ellipse">
            <a:avLst/>
          </a:prstGeom>
          <a:solidFill>
            <a:srgbClr val="F59E0B"/>
          </a:solidFill>
          <a:ln w="12700">
            <a:solidFill>
              <a:srgbClr val="F59E0B"/>
            </a:solidFill>
            <a:prstDash val="solid"/>
          </a:ln>
        </p:spPr>
      </p:sp>
      <p:sp>
        <p:nvSpPr>
          <p:cNvPr id="33" name="Text 31"/>
          <p:cNvSpPr/>
          <p:nvPr/>
        </p:nvSpPr>
        <p:spPr>
          <a:xfrm>
            <a:off x="5093208" y="1636776"/>
            <a:ext cx="3566160" cy="274320"/>
          </a:xfrm>
          <a:prstGeom prst="rect">
            <a:avLst/>
          </a:prstGeom>
          <a:noFill/>
          <a:ln/>
        </p:spPr>
        <p:txBody>
          <a:bodyPr wrap="square" lIns="0" tIns="0" rIns="0" bIns="0" rtlCol="0" anchor="ctr"/>
          <a:lstStyle/>
          <a:p>
            <a:pPr marL="0" indent="0">
              <a:buNone/>
            </a:pPr>
            <a:r>
              <a:rPr lang="en-US" sz="1150" err="1">
                <a:solidFill>
                  <a:srgbClr val="334155"/>
                </a:solidFill>
              </a:rPr>
              <a:t>Meditron</a:t>
            </a:r>
            <a:r>
              <a:rPr lang="en-US" sz="1150">
                <a:solidFill>
                  <a:srgbClr val="334155"/>
                </a:solidFill>
              </a:rPr>
              <a:t> 7B</a:t>
            </a:r>
            <a:endParaRPr lang="en-US" sz="1150"/>
          </a:p>
        </p:txBody>
      </p:sp>
      <p:sp>
        <p:nvSpPr>
          <p:cNvPr id="34" name="Shape 32"/>
          <p:cNvSpPr/>
          <p:nvPr/>
        </p:nvSpPr>
        <p:spPr>
          <a:xfrm>
            <a:off x="4709160" y="3008213"/>
            <a:ext cx="4114800" cy="1828800"/>
          </a:xfrm>
          <a:prstGeom prst="roundRect">
            <a:avLst>
              <a:gd name="adj" fmla="val 4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5" name="Shape 33"/>
          <p:cNvSpPr/>
          <p:nvPr/>
        </p:nvSpPr>
        <p:spPr>
          <a:xfrm>
            <a:off x="4818888" y="3099653"/>
            <a:ext cx="3749040" cy="365760"/>
          </a:xfrm>
          <a:prstGeom prst="roundRect">
            <a:avLst>
              <a:gd name="adj" fmla="val 12500"/>
            </a:avLst>
          </a:prstGeom>
          <a:solidFill>
            <a:srgbClr val="16A34A"/>
          </a:solidFill>
          <a:ln w="12700">
            <a:solidFill>
              <a:srgbClr val="16A34A"/>
            </a:solidFill>
            <a:prstDash val="solid"/>
          </a:ln>
        </p:spPr>
      </p:sp>
      <p:sp>
        <p:nvSpPr>
          <p:cNvPr id="36" name="Text 34"/>
          <p:cNvSpPr/>
          <p:nvPr/>
        </p:nvSpPr>
        <p:spPr>
          <a:xfrm>
            <a:off x="4892040" y="3117941"/>
            <a:ext cx="3566160" cy="329184"/>
          </a:xfrm>
          <a:prstGeom prst="rect">
            <a:avLst/>
          </a:prstGeom>
          <a:noFill/>
          <a:ln/>
        </p:spPr>
        <p:txBody>
          <a:bodyPr wrap="square" lIns="0" tIns="0" rIns="0" bIns="0" rtlCol="0" anchor="ctr"/>
          <a:lstStyle/>
          <a:p>
            <a:pPr marL="0" indent="0">
              <a:buNone/>
            </a:pPr>
            <a:r>
              <a:rPr lang="en-US" sz="1150" b="1" err="1">
                <a:solidFill>
                  <a:srgbClr val="FFFFFF"/>
                </a:solidFill>
              </a:rPr>
              <a:t>Tıbbi</a:t>
            </a:r>
            <a:r>
              <a:rPr lang="en-US" sz="1150" b="1">
                <a:solidFill>
                  <a:srgbClr val="FFFFFF"/>
                </a:solidFill>
              </a:rPr>
              <a:t> </a:t>
            </a:r>
            <a:r>
              <a:rPr lang="en-US" sz="1150" b="1" err="1">
                <a:solidFill>
                  <a:srgbClr val="FFFFFF"/>
                </a:solidFill>
              </a:rPr>
              <a:t>Türkçe</a:t>
            </a:r>
            <a:endParaRPr lang="en-US" sz="1150" err="1"/>
          </a:p>
        </p:txBody>
      </p:sp>
      <p:sp>
        <p:nvSpPr>
          <p:cNvPr id="37" name="Shape 35"/>
          <p:cNvSpPr/>
          <p:nvPr/>
        </p:nvSpPr>
        <p:spPr>
          <a:xfrm>
            <a:off x="4892040" y="3602573"/>
            <a:ext cx="109728" cy="109728"/>
          </a:xfrm>
          <a:prstGeom prst="ellipse">
            <a:avLst/>
          </a:prstGeom>
          <a:solidFill>
            <a:srgbClr val="16A34A"/>
          </a:solidFill>
          <a:ln w="12700">
            <a:solidFill>
              <a:srgbClr val="16A34A"/>
            </a:solidFill>
            <a:prstDash val="solid"/>
          </a:ln>
        </p:spPr>
      </p:sp>
      <p:sp>
        <p:nvSpPr>
          <p:cNvPr id="38" name="Text 36"/>
          <p:cNvSpPr/>
          <p:nvPr/>
        </p:nvSpPr>
        <p:spPr>
          <a:xfrm>
            <a:off x="5093208" y="3538565"/>
            <a:ext cx="3566160" cy="274320"/>
          </a:xfrm>
          <a:prstGeom prst="rect">
            <a:avLst/>
          </a:prstGeom>
          <a:noFill/>
          <a:ln/>
        </p:spPr>
        <p:txBody>
          <a:bodyPr wrap="square" lIns="0" tIns="0" rIns="0" bIns="0" rtlCol="0" anchor="ctr"/>
          <a:lstStyle/>
          <a:p>
            <a:pPr marL="0" indent="0">
              <a:buNone/>
            </a:pPr>
            <a:r>
              <a:rPr lang="en-US" sz="1150">
                <a:solidFill>
                  <a:srgbClr val="334155"/>
                </a:solidFill>
              </a:rPr>
              <a:t>Doktor Llama 8B</a:t>
            </a:r>
            <a:endParaRPr lang="en-US" sz="1150"/>
          </a:p>
        </p:txBody>
      </p:sp>
      <p:sp>
        <p:nvSpPr>
          <p:cNvPr id="39" name="Shape 37"/>
          <p:cNvSpPr/>
          <p:nvPr/>
        </p:nvSpPr>
        <p:spPr>
          <a:xfrm>
            <a:off x="4892040" y="3904325"/>
            <a:ext cx="109728" cy="109728"/>
          </a:xfrm>
          <a:prstGeom prst="ellipse">
            <a:avLst/>
          </a:prstGeom>
          <a:solidFill>
            <a:srgbClr val="16A34A"/>
          </a:solidFill>
          <a:ln w="12700">
            <a:solidFill>
              <a:srgbClr val="16A34A"/>
            </a:solidFill>
            <a:prstDash val="solid"/>
          </a:ln>
        </p:spPr>
      </p:sp>
      <p:sp>
        <p:nvSpPr>
          <p:cNvPr id="40" name="Text 38"/>
          <p:cNvSpPr/>
          <p:nvPr/>
        </p:nvSpPr>
        <p:spPr>
          <a:xfrm>
            <a:off x="5093208" y="3840317"/>
            <a:ext cx="3566160" cy="274320"/>
          </a:xfrm>
          <a:prstGeom prst="rect">
            <a:avLst/>
          </a:prstGeom>
          <a:noFill/>
          <a:ln/>
        </p:spPr>
        <p:txBody>
          <a:bodyPr wrap="square" lIns="0" tIns="0" rIns="0" bIns="0" rtlCol="0" anchor="ctr"/>
          <a:lstStyle/>
          <a:p>
            <a:pPr marL="0" indent="0">
              <a:buNone/>
            </a:pPr>
            <a:r>
              <a:rPr lang="en-US" sz="1150">
                <a:solidFill>
                  <a:srgbClr val="334155"/>
                </a:solidFill>
              </a:rPr>
              <a:t>Doktor Llama 8B Cosmos</a:t>
            </a:r>
            <a:endParaRPr lang="en-US" sz="1150"/>
          </a:p>
        </p:txBody>
      </p:sp>
      <p:sp>
        <p:nvSpPr>
          <p:cNvPr id="43" name="Text 20">
            <a:extLst>
              <a:ext uri="{FF2B5EF4-FFF2-40B4-BE49-F238E27FC236}">
                <a16:creationId xmlns:a16="http://schemas.microsoft.com/office/drawing/2014/main" id="{C9B588E3-C9BC-2094-BD79-9A13752754EB}"/>
              </a:ext>
            </a:extLst>
          </p:cNvPr>
          <p:cNvSpPr/>
          <p:nvPr/>
        </p:nvSpPr>
        <p:spPr>
          <a:xfrm>
            <a:off x="2437638" y="1338289"/>
            <a:ext cx="35661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a:solidFill>
                  <a:srgbClr val="334155"/>
                </a:solidFill>
              </a:rPr>
              <a:t>Mistral 7B</a:t>
            </a:r>
            <a:endParaRPr lang="en-US" sz="1150"/>
          </a:p>
        </p:txBody>
      </p:sp>
      <p:sp>
        <p:nvSpPr>
          <p:cNvPr id="44" name="Text 22">
            <a:extLst>
              <a:ext uri="{FF2B5EF4-FFF2-40B4-BE49-F238E27FC236}">
                <a16:creationId xmlns:a16="http://schemas.microsoft.com/office/drawing/2014/main" id="{199D627D-BA89-34FE-69F7-AB566DE77C5E}"/>
              </a:ext>
            </a:extLst>
          </p:cNvPr>
          <p:cNvSpPr/>
          <p:nvPr/>
        </p:nvSpPr>
        <p:spPr>
          <a:xfrm>
            <a:off x="2437638" y="1640041"/>
            <a:ext cx="35661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a:solidFill>
                  <a:srgbClr val="334155"/>
                </a:solidFill>
              </a:rPr>
              <a:t>Phi-3 Mini</a:t>
            </a:r>
            <a:endParaRPr lang="en-US" sz="1150"/>
          </a:p>
        </p:txBody>
      </p:sp>
      <p:sp>
        <p:nvSpPr>
          <p:cNvPr id="45" name="Shape 8">
            <a:extLst>
              <a:ext uri="{FF2B5EF4-FFF2-40B4-BE49-F238E27FC236}">
                <a16:creationId xmlns:a16="http://schemas.microsoft.com/office/drawing/2014/main" id="{40C47755-B128-13DE-07EA-D198E45D8173}"/>
              </a:ext>
            </a:extLst>
          </p:cNvPr>
          <p:cNvSpPr/>
          <p:nvPr/>
        </p:nvSpPr>
        <p:spPr>
          <a:xfrm>
            <a:off x="2237831" y="1742965"/>
            <a:ext cx="109728" cy="109728"/>
          </a:xfrm>
          <a:prstGeom prst="ellipse">
            <a:avLst/>
          </a:prstGeom>
          <a:solidFill>
            <a:srgbClr val="0D9488"/>
          </a:solidFill>
          <a:ln w="12700">
            <a:solidFill>
              <a:srgbClr val="0D9488"/>
            </a:solidFill>
            <a:prstDash val="solid"/>
          </a:ln>
        </p:spPr>
      </p:sp>
      <p:sp>
        <p:nvSpPr>
          <p:cNvPr id="21" name="Shape 8">
            <a:extLst>
              <a:ext uri="{FF2B5EF4-FFF2-40B4-BE49-F238E27FC236}">
                <a16:creationId xmlns:a16="http://schemas.microsoft.com/office/drawing/2014/main" id="{3509C8C7-8DE6-4928-82AC-FD90579484E5}"/>
              </a:ext>
            </a:extLst>
          </p:cNvPr>
          <p:cNvSpPr/>
          <p:nvPr/>
        </p:nvSpPr>
        <p:spPr>
          <a:xfrm>
            <a:off x="2227625" y="1436804"/>
            <a:ext cx="109728" cy="109728"/>
          </a:xfrm>
          <a:prstGeom prst="ellipse">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04</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en-US" sz="3200" b="1">
                <a:solidFill>
                  <a:srgbClr val="FFFFFF"/>
                </a:solidFill>
              </a:rPr>
              <a:t>Kullanılan Metrikler</a:t>
            </a:r>
            <a:endParaRPr lang="en-US" sz="320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ROUGE-L  ·  BERTScore F1  ·  Train/Eval Loss</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04 · Kullanılan Metrikler</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40" y="804672"/>
            <a:ext cx="4160520" cy="4187952"/>
          </a:xfrm>
          <a:prstGeom prst="roundRect">
            <a:avLst>
              <a:gd name="adj" fmla="val 219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6" name="Shape 4"/>
          <p:cNvSpPr/>
          <p:nvPr/>
        </p:nvSpPr>
        <p:spPr>
          <a:xfrm>
            <a:off x="320040" y="804672"/>
            <a:ext cx="4160520" cy="640080"/>
          </a:xfrm>
          <a:prstGeom prst="rect">
            <a:avLst/>
          </a:prstGeom>
          <a:solidFill>
            <a:srgbClr val="0B1F4B"/>
          </a:solidFill>
          <a:ln w="12700">
            <a:solidFill>
              <a:srgbClr val="0B1F4B"/>
            </a:solidFill>
            <a:prstDash val="solid"/>
          </a:ln>
        </p:spPr>
      </p:sp>
      <p:sp>
        <p:nvSpPr>
          <p:cNvPr id="7" name="Text 5"/>
          <p:cNvSpPr/>
          <p:nvPr/>
        </p:nvSpPr>
        <p:spPr>
          <a:xfrm>
            <a:off x="502920" y="850392"/>
            <a:ext cx="3749040" cy="502920"/>
          </a:xfrm>
          <a:prstGeom prst="rect">
            <a:avLst/>
          </a:prstGeom>
          <a:noFill/>
          <a:ln/>
        </p:spPr>
        <p:txBody>
          <a:bodyPr wrap="square" lIns="0" tIns="0" rIns="0" bIns="0" rtlCol="0" anchor="ctr"/>
          <a:lstStyle/>
          <a:p>
            <a:pPr marL="0" indent="0">
              <a:buNone/>
            </a:pPr>
            <a:r>
              <a:rPr lang="en-US" sz="1700" b="1">
                <a:solidFill>
                  <a:srgbClr val="FFFFFF"/>
                </a:solidFill>
              </a:rPr>
              <a:t>📏  ROUGE-L</a:t>
            </a:r>
            <a:endParaRPr lang="en-US" sz="1700"/>
          </a:p>
        </p:txBody>
      </p:sp>
      <p:sp>
        <p:nvSpPr>
          <p:cNvPr id="8" name="Text 6"/>
          <p:cNvSpPr/>
          <p:nvPr/>
        </p:nvSpPr>
        <p:spPr>
          <a:xfrm>
            <a:off x="502920" y="1572768"/>
            <a:ext cx="3749040" cy="292608"/>
          </a:xfrm>
          <a:prstGeom prst="rect">
            <a:avLst/>
          </a:prstGeom>
          <a:noFill/>
          <a:ln/>
        </p:spPr>
        <p:txBody>
          <a:bodyPr wrap="square" lIns="0" tIns="0" rIns="0" bIns="0" rtlCol="0" anchor="ctr"/>
          <a:lstStyle/>
          <a:p>
            <a:pPr marL="0" indent="0">
              <a:buNone/>
            </a:pPr>
            <a:r>
              <a:rPr lang="en-US" sz="1050" b="1">
                <a:solidFill>
                  <a:srgbClr val="0D9488"/>
                </a:solidFill>
              </a:rPr>
              <a:t>Ne ölçer?</a:t>
            </a:r>
            <a:endParaRPr lang="en-US" sz="1050"/>
          </a:p>
        </p:txBody>
      </p:sp>
      <p:sp>
        <p:nvSpPr>
          <p:cNvPr id="9" name="Text 7"/>
          <p:cNvSpPr/>
          <p:nvPr/>
        </p:nvSpPr>
        <p:spPr>
          <a:xfrm>
            <a:off x="502920" y="1856232"/>
            <a:ext cx="3749040" cy="658368"/>
          </a:xfrm>
          <a:prstGeom prst="rect">
            <a:avLst/>
          </a:prstGeom>
          <a:noFill/>
          <a:ln/>
        </p:spPr>
        <p:txBody>
          <a:bodyPr wrap="square" lIns="0" tIns="0" rIns="0" bIns="0" rtlCol="0" anchor="ctr"/>
          <a:lstStyle/>
          <a:p>
            <a:pPr marL="0" indent="0">
              <a:buNone/>
            </a:pPr>
            <a:r>
              <a:rPr lang="en-US" sz="1100">
                <a:solidFill>
                  <a:srgbClr val="334155"/>
                </a:solidFill>
              </a:rPr>
              <a:t>Referans ile üretilen rapor arasındaki en uzun ortak alt dizi (LCS) benzerliği</a:t>
            </a:r>
            <a:endParaRPr lang="en-US" sz="1100"/>
          </a:p>
        </p:txBody>
      </p:sp>
      <p:sp>
        <p:nvSpPr>
          <p:cNvPr id="10" name="Text 8"/>
          <p:cNvSpPr/>
          <p:nvPr/>
        </p:nvSpPr>
        <p:spPr>
          <a:xfrm>
            <a:off x="502920" y="2624328"/>
            <a:ext cx="3749040" cy="292608"/>
          </a:xfrm>
          <a:prstGeom prst="rect">
            <a:avLst/>
          </a:prstGeom>
          <a:noFill/>
          <a:ln/>
        </p:spPr>
        <p:txBody>
          <a:bodyPr wrap="square" lIns="0" tIns="0" rIns="0" bIns="0" rtlCol="0" anchor="ctr"/>
          <a:lstStyle/>
          <a:p>
            <a:pPr marL="0" indent="0">
              <a:buNone/>
            </a:pPr>
            <a:r>
              <a:rPr lang="en-US" sz="1050" b="1">
                <a:solidFill>
                  <a:srgbClr val="16A34A"/>
                </a:solidFill>
              </a:rPr>
              <a:t>Avantaj</a:t>
            </a:r>
            <a:endParaRPr lang="en-US" sz="1050"/>
          </a:p>
        </p:txBody>
      </p:sp>
      <p:sp>
        <p:nvSpPr>
          <p:cNvPr id="11" name="Text 9"/>
          <p:cNvSpPr/>
          <p:nvPr/>
        </p:nvSpPr>
        <p:spPr>
          <a:xfrm>
            <a:off x="502920" y="2907792"/>
            <a:ext cx="3749040" cy="640080"/>
          </a:xfrm>
          <a:prstGeom prst="rect">
            <a:avLst/>
          </a:prstGeom>
          <a:noFill/>
          <a:ln/>
        </p:spPr>
        <p:txBody>
          <a:bodyPr wrap="square" lIns="0" tIns="0" rIns="0" bIns="0" rtlCol="0" anchor="ctr"/>
          <a:lstStyle/>
          <a:p>
            <a:pPr marL="0" indent="0">
              <a:buNone/>
            </a:pPr>
            <a:r>
              <a:rPr lang="en-US" sz="1100" dirty="0" err="1">
                <a:solidFill>
                  <a:srgbClr val="334155"/>
                </a:solidFill>
              </a:rPr>
              <a:t>Yapısal</a:t>
            </a:r>
            <a:r>
              <a:rPr lang="en-US" sz="1100" dirty="0">
                <a:solidFill>
                  <a:srgbClr val="334155"/>
                </a:solidFill>
              </a:rPr>
              <a:t> </a:t>
            </a:r>
            <a:r>
              <a:rPr lang="en-US" sz="1100" dirty="0" err="1">
                <a:solidFill>
                  <a:srgbClr val="334155"/>
                </a:solidFill>
              </a:rPr>
              <a:t>düzeni</a:t>
            </a:r>
            <a:r>
              <a:rPr lang="en-US" sz="1100" dirty="0">
                <a:solidFill>
                  <a:srgbClr val="334155"/>
                </a:solidFill>
              </a:rPr>
              <a:t> </a:t>
            </a:r>
            <a:r>
              <a:rPr lang="en-US" sz="1100" dirty="0" err="1">
                <a:solidFill>
                  <a:srgbClr val="334155"/>
                </a:solidFill>
              </a:rPr>
              <a:t>ve</a:t>
            </a:r>
            <a:r>
              <a:rPr lang="en-US" sz="1100" dirty="0">
                <a:solidFill>
                  <a:srgbClr val="334155"/>
                </a:solidFill>
              </a:rPr>
              <a:t> </a:t>
            </a:r>
            <a:r>
              <a:rPr lang="en-US" sz="1100" dirty="0" err="1">
                <a:solidFill>
                  <a:srgbClr val="334155"/>
                </a:solidFill>
              </a:rPr>
              <a:t>kelime</a:t>
            </a:r>
            <a:r>
              <a:rPr lang="en-US" sz="1100" dirty="0">
                <a:solidFill>
                  <a:srgbClr val="334155"/>
                </a:solidFill>
              </a:rPr>
              <a:t> </a:t>
            </a:r>
            <a:r>
              <a:rPr lang="en-US" sz="1100" dirty="0" err="1">
                <a:solidFill>
                  <a:srgbClr val="334155"/>
                </a:solidFill>
              </a:rPr>
              <a:t>sırasını</a:t>
            </a:r>
            <a:r>
              <a:rPr lang="en-US" sz="1100" dirty="0">
                <a:solidFill>
                  <a:srgbClr val="334155"/>
                </a:solidFill>
              </a:rPr>
              <a:t> </a:t>
            </a:r>
            <a:r>
              <a:rPr lang="en-US" sz="1100" dirty="0" err="1">
                <a:solidFill>
                  <a:srgbClr val="334155"/>
                </a:solidFill>
              </a:rPr>
              <a:t>ölçer</a:t>
            </a:r>
            <a:r>
              <a:rPr lang="en-US" sz="1100" dirty="0">
                <a:solidFill>
                  <a:srgbClr val="334155"/>
                </a:solidFill>
              </a:rPr>
              <a:t>; </a:t>
            </a:r>
            <a:r>
              <a:rPr lang="en-US" sz="1100" dirty="0" err="1">
                <a:solidFill>
                  <a:srgbClr val="334155"/>
                </a:solidFill>
              </a:rPr>
              <a:t>radyoloji</a:t>
            </a:r>
            <a:r>
              <a:rPr lang="en-US" sz="1100" dirty="0">
                <a:solidFill>
                  <a:srgbClr val="334155"/>
                </a:solidFill>
              </a:rPr>
              <a:t> </a:t>
            </a:r>
            <a:r>
              <a:rPr lang="en-US" sz="1100" dirty="0" err="1">
                <a:solidFill>
                  <a:srgbClr val="334155"/>
                </a:solidFill>
              </a:rPr>
              <a:t>formatına</a:t>
            </a:r>
            <a:r>
              <a:rPr lang="en-US" sz="1100" dirty="0">
                <a:solidFill>
                  <a:srgbClr val="334155"/>
                </a:solidFill>
              </a:rPr>
              <a:t> </a:t>
            </a:r>
            <a:r>
              <a:rPr lang="en-US" sz="1100" dirty="0" err="1">
                <a:solidFill>
                  <a:srgbClr val="334155"/>
                </a:solidFill>
              </a:rPr>
              <a:t>uyumu</a:t>
            </a:r>
            <a:r>
              <a:rPr lang="en-US" sz="1100" dirty="0">
                <a:solidFill>
                  <a:srgbClr val="334155"/>
                </a:solidFill>
              </a:rPr>
              <a:t> </a:t>
            </a:r>
            <a:r>
              <a:rPr lang="en-US" sz="1100" dirty="0" err="1" smtClean="0">
                <a:solidFill>
                  <a:srgbClr val="334155"/>
                </a:solidFill>
              </a:rPr>
              <a:t>değerlendirir</a:t>
            </a:r>
            <a:r>
              <a:rPr lang="tr-TR" sz="1100" dirty="0" smtClean="0">
                <a:solidFill>
                  <a:srgbClr val="334155"/>
                </a:solidFill>
              </a:rPr>
              <a:t>.</a:t>
            </a:r>
            <a:endParaRPr lang="en-US" sz="1100" dirty="0"/>
          </a:p>
        </p:txBody>
      </p:sp>
      <p:sp>
        <p:nvSpPr>
          <p:cNvPr id="12" name="Text 10"/>
          <p:cNvSpPr/>
          <p:nvPr/>
        </p:nvSpPr>
        <p:spPr>
          <a:xfrm>
            <a:off x="502920" y="3639312"/>
            <a:ext cx="3749040" cy="292608"/>
          </a:xfrm>
          <a:prstGeom prst="rect">
            <a:avLst/>
          </a:prstGeom>
          <a:noFill/>
          <a:ln/>
        </p:spPr>
        <p:txBody>
          <a:bodyPr wrap="square" lIns="0" tIns="0" rIns="0" bIns="0" rtlCol="0" anchor="ctr"/>
          <a:lstStyle/>
          <a:p>
            <a:pPr marL="0" indent="0">
              <a:buNone/>
            </a:pPr>
            <a:r>
              <a:rPr lang="en-US" sz="1050" b="1" dirty="0" smtClean="0">
                <a:solidFill>
                  <a:srgbClr val="F59E0B"/>
                </a:solidFill>
              </a:rPr>
              <a:t>K</a:t>
            </a:r>
            <a:r>
              <a:rPr lang="tr-TR" sz="1050" b="1" dirty="0" smtClean="0">
                <a:solidFill>
                  <a:srgbClr val="F59E0B"/>
                </a:solidFill>
              </a:rPr>
              <a:t>ısı</a:t>
            </a:r>
            <a:r>
              <a:rPr lang="en-US" sz="1050" b="1" dirty="0" smtClean="0">
                <a:solidFill>
                  <a:srgbClr val="F59E0B"/>
                </a:solidFill>
              </a:rPr>
              <a:t>t</a:t>
            </a:r>
            <a:endParaRPr lang="en-US" sz="1050" dirty="0"/>
          </a:p>
        </p:txBody>
      </p:sp>
      <p:sp>
        <p:nvSpPr>
          <p:cNvPr id="13" name="Text 11"/>
          <p:cNvSpPr/>
          <p:nvPr/>
        </p:nvSpPr>
        <p:spPr>
          <a:xfrm>
            <a:off x="502920" y="3913632"/>
            <a:ext cx="3749040" cy="548640"/>
          </a:xfrm>
          <a:prstGeom prst="rect">
            <a:avLst/>
          </a:prstGeom>
          <a:noFill/>
          <a:ln/>
        </p:spPr>
        <p:txBody>
          <a:bodyPr wrap="square" lIns="0" tIns="0" rIns="0" bIns="0" rtlCol="0" anchor="ctr"/>
          <a:lstStyle/>
          <a:p>
            <a:pPr marL="0" indent="0">
              <a:buNone/>
            </a:pPr>
            <a:r>
              <a:rPr lang="en-US" sz="1050">
                <a:solidFill>
                  <a:srgbClr val="64748B"/>
                </a:solidFill>
              </a:rPr>
              <a:t>Eş anlamlı ama doğru ifadeleri ödüllendirmez; yalnızca yüzeysel benzerlik</a:t>
            </a:r>
            <a:endParaRPr lang="en-US" sz="1050"/>
          </a:p>
        </p:txBody>
      </p:sp>
      <p:sp>
        <p:nvSpPr>
          <p:cNvPr id="14" name="Shape 12"/>
          <p:cNvSpPr/>
          <p:nvPr/>
        </p:nvSpPr>
        <p:spPr>
          <a:xfrm>
            <a:off x="4754880" y="804672"/>
            <a:ext cx="4160520" cy="4187952"/>
          </a:xfrm>
          <a:prstGeom prst="roundRect">
            <a:avLst>
              <a:gd name="adj" fmla="val 219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5" name="Shape 13"/>
          <p:cNvSpPr/>
          <p:nvPr/>
        </p:nvSpPr>
        <p:spPr>
          <a:xfrm>
            <a:off x="4754880" y="804672"/>
            <a:ext cx="4160520" cy="640080"/>
          </a:xfrm>
          <a:prstGeom prst="rect">
            <a:avLst/>
          </a:prstGeom>
          <a:solidFill>
            <a:srgbClr val="0D9488"/>
          </a:solidFill>
          <a:ln w="12700">
            <a:solidFill>
              <a:srgbClr val="0D9488"/>
            </a:solidFill>
            <a:prstDash val="solid"/>
          </a:ln>
        </p:spPr>
      </p:sp>
      <p:sp>
        <p:nvSpPr>
          <p:cNvPr id="16" name="Text 14"/>
          <p:cNvSpPr/>
          <p:nvPr/>
        </p:nvSpPr>
        <p:spPr>
          <a:xfrm>
            <a:off x="4937760" y="850392"/>
            <a:ext cx="3749040" cy="502920"/>
          </a:xfrm>
          <a:prstGeom prst="rect">
            <a:avLst/>
          </a:prstGeom>
          <a:noFill/>
          <a:ln/>
        </p:spPr>
        <p:txBody>
          <a:bodyPr wrap="square" lIns="0" tIns="0" rIns="0" bIns="0" rtlCol="0" anchor="ctr"/>
          <a:lstStyle/>
          <a:p>
            <a:pPr marL="0" indent="0">
              <a:buNone/>
            </a:pPr>
            <a:r>
              <a:rPr lang="en-US" sz="1700" b="1">
                <a:solidFill>
                  <a:srgbClr val="FFFFFF"/>
                </a:solidFill>
              </a:rPr>
              <a:t>🧮  BERTScore F1</a:t>
            </a:r>
            <a:endParaRPr lang="en-US" sz="1700"/>
          </a:p>
        </p:txBody>
      </p:sp>
      <p:sp>
        <p:nvSpPr>
          <p:cNvPr id="17" name="Text 15"/>
          <p:cNvSpPr/>
          <p:nvPr/>
        </p:nvSpPr>
        <p:spPr>
          <a:xfrm>
            <a:off x="4937760" y="1572768"/>
            <a:ext cx="3749040" cy="292608"/>
          </a:xfrm>
          <a:prstGeom prst="rect">
            <a:avLst/>
          </a:prstGeom>
          <a:noFill/>
          <a:ln/>
        </p:spPr>
        <p:txBody>
          <a:bodyPr wrap="square" lIns="0" tIns="0" rIns="0" bIns="0" rtlCol="0" anchor="ctr"/>
          <a:lstStyle/>
          <a:p>
            <a:pPr marL="0" indent="0">
              <a:buNone/>
            </a:pPr>
            <a:r>
              <a:rPr lang="en-US" sz="1050" b="1">
                <a:solidFill>
                  <a:srgbClr val="0D9488"/>
                </a:solidFill>
              </a:rPr>
              <a:t>Ne ölçer?</a:t>
            </a:r>
            <a:endParaRPr lang="en-US" sz="1050"/>
          </a:p>
        </p:txBody>
      </p:sp>
      <p:sp>
        <p:nvSpPr>
          <p:cNvPr id="18" name="Text 16"/>
          <p:cNvSpPr/>
          <p:nvPr/>
        </p:nvSpPr>
        <p:spPr>
          <a:xfrm>
            <a:off x="4937760" y="1856232"/>
            <a:ext cx="3749040" cy="658368"/>
          </a:xfrm>
          <a:prstGeom prst="rect">
            <a:avLst/>
          </a:prstGeom>
          <a:noFill/>
          <a:ln/>
        </p:spPr>
        <p:txBody>
          <a:bodyPr wrap="square" lIns="0" tIns="0" rIns="0" bIns="0" rtlCol="0" anchor="ctr"/>
          <a:lstStyle/>
          <a:p>
            <a:pPr marL="0" indent="0">
              <a:buNone/>
            </a:pPr>
            <a:r>
              <a:rPr lang="en-US" sz="1100" dirty="0">
                <a:solidFill>
                  <a:srgbClr val="334155"/>
                </a:solidFill>
              </a:rPr>
              <a:t>Token embedding </a:t>
            </a:r>
            <a:r>
              <a:rPr lang="en-US" sz="1100" dirty="0" err="1">
                <a:solidFill>
                  <a:srgbClr val="334155"/>
                </a:solidFill>
              </a:rPr>
              <a:t>temsillerini</a:t>
            </a:r>
            <a:r>
              <a:rPr lang="en-US" sz="1100" dirty="0">
                <a:solidFill>
                  <a:srgbClr val="334155"/>
                </a:solidFill>
              </a:rPr>
              <a:t> </a:t>
            </a:r>
            <a:r>
              <a:rPr lang="en-US" sz="1100" dirty="0" err="1">
                <a:solidFill>
                  <a:srgbClr val="334155"/>
                </a:solidFill>
              </a:rPr>
              <a:t>karşılaştırarak</a:t>
            </a:r>
            <a:r>
              <a:rPr lang="en-US" sz="1100" dirty="0">
                <a:solidFill>
                  <a:srgbClr val="334155"/>
                </a:solidFill>
              </a:rPr>
              <a:t> </a:t>
            </a:r>
            <a:r>
              <a:rPr lang="en-US" sz="1100" dirty="0" err="1">
                <a:solidFill>
                  <a:srgbClr val="334155"/>
                </a:solidFill>
              </a:rPr>
              <a:t>anlamsal</a:t>
            </a:r>
            <a:r>
              <a:rPr lang="en-US" sz="1100" dirty="0">
                <a:solidFill>
                  <a:srgbClr val="334155"/>
                </a:solidFill>
              </a:rPr>
              <a:t> </a:t>
            </a:r>
            <a:r>
              <a:rPr lang="en-US" sz="1100" dirty="0" err="1">
                <a:solidFill>
                  <a:srgbClr val="334155"/>
                </a:solidFill>
              </a:rPr>
              <a:t>yakınlığı</a:t>
            </a:r>
            <a:r>
              <a:rPr lang="en-US" sz="1100" dirty="0">
                <a:solidFill>
                  <a:srgbClr val="334155"/>
                </a:solidFill>
              </a:rPr>
              <a:t> </a:t>
            </a:r>
            <a:r>
              <a:rPr lang="en-US" sz="1100" dirty="0" err="1" smtClean="0">
                <a:solidFill>
                  <a:srgbClr val="334155"/>
                </a:solidFill>
              </a:rPr>
              <a:t>ölçer</a:t>
            </a:r>
            <a:r>
              <a:rPr lang="tr-TR" sz="1100" dirty="0" smtClean="0">
                <a:solidFill>
                  <a:srgbClr val="334155"/>
                </a:solidFill>
              </a:rPr>
              <a:t>.</a:t>
            </a:r>
            <a:endParaRPr lang="en-US" sz="1100" dirty="0"/>
          </a:p>
        </p:txBody>
      </p:sp>
      <p:sp>
        <p:nvSpPr>
          <p:cNvPr id="19" name="Text 17"/>
          <p:cNvSpPr/>
          <p:nvPr/>
        </p:nvSpPr>
        <p:spPr>
          <a:xfrm>
            <a:off x="4937760" y="2624328"/>
            <a:ext cx="3749040" cy="292608"/>
          </a:xfrm>
          <a:prstGeom prst="rect">
            <a:avLst/>
          </a:prstGeom>
          <a:noFill/>
          <a:ln/>
        </p:spPr>
        <p:txBody>
          <a:bodyPr wrap="square" lIns="0" tIns="0" rIns="0" bIns="0" rtlCol="0" anchor="ctr"/>
          <a:lstStyle/>
          <a:p>
            <a:pPr marL="0" indent="0">
              <a:buNone/>
            </a:pPr>
            <a:r>
              <a:rPr lang="en-US" sz="1050" b="1">
                <a:solidFill>
                  <a:srgbClr val="16A34A"/>
                </a:solidFill>
              </a:rPr>
              <a:t>Avantaj</a:t>
            </a:r>
            <a:endParaRPr lang="en-US" sz="1050"/>
          </a:p>
        </p:txBody>
      </p:sp>
      <p:sp>
        <p:nvSpPr>
          <p:cNvPr id="20" name="Text 18"/>
          <p:cNvSpPr/>
          <p:nvPr/>
        </p:nvSpPr>
        <p:spPr>
          <a:xfrm>
            <a:off x="4937760" y="2907792"/>
            <a:ext cx="3749040" cy="640080"/>
          </a:xfrm>
          <a:prstGeom prst="rect">
            <a:avLst/>
          </a:prstGeom>
          <a:noFill/>
          <a:ln/>
        </p:spPr>
        <p:txBody>
          <a:bodyPr wrap="square" lIns="0" tIns="0" rIns="0" bIns="0" rtlCol="0" anchor="ctr"/>
          <a:lstStyle/>
          <a:p>
            <a:pPr marL="0" indent="0">
              <a:buNone/>
            </a:pPr>
            <a:r>
              <a:rPr lang="en-US" sz="1100" dirty="0" err="1">
                <a:solidFill>
                  <a:srgbClr val="334155"/>
                </a:solidFill>
              </a:rPr>
              <a:t>Farklı</a:t>
            </a:r>
            <a:r>
              <a:rPr lang="en-US" sz="1100" dirty="0">
                <a:solidFill>
                  <a:srgbClr val="334155"/>
                </a:solidFill>
              </a:rPr>
              <a:t> </a:t>
            </a:r>
            <a:r>
              <a:rPr lang="en-US" sz="1100" dirty="0" err="1">
                <a:solidFill>
                  <a:srgbClr val="334155"/>
                </a:solidFill>
              </a:rPr>
              <a:t>kelimelerle</a:t>
            </a:r>
            <a:r>
              <a:rPr lang="en-US" sz="1100" dirty="0">
                <a:solidFill>
                  <a:srgbClr val="334155"/>
                </a:solidFill>
              </a:rPr>
              <a:t> </a:t>
            </a:r>
            <a:r>
              <a:rPr lang="en-US" sz="1100" dirty="0" err="1">
                <a:solidFill>
                  <a:srgbClr val="334155"/>
                </a:solidFill>
              </a:rPr>
              <a:t>ifade</a:t>
            </a:r>
            <a:r>
              <a:rPr lang="en-US" sz="1100" dirty="0">
                <a:solidFill>
                  <a:srgbClr val="334155"/>
                </a:solidFill>
              </a:rPr>
              <a:t> </a:t>
            </a:r>
            <a:r>
              <a:rPr lang="en-US" sz="1100" dirty="0" err="1">
                <a:solidFill>
                  <a:srgbClr val="334155"/>
                </a:solidFill>
              </a:rPr>
              <a:t>edilen</a:t>
            </a:r>
            <a:r>
              <a:rPr lang="en-US" sz="1100" dirty="0">
                <a:solidFill>
                  <a:srgbClr val="334155"/>
                </a:solidFill>
              </a:rPr>
              <a:t> </a:t>
            </a:r>
            <a:r>
              <a:rPr lang="en-US" sz="1100" dirty="0" err="1">
                <a:solidFill>
                  <a:srgbClr val="334155"/>
                </a:solidFill>
              </a:rPr>
              <a:t>aynı</a:t>
            </a:r>
            <a:r>
              <a:rPr lang="en-US" sz="1100" dirty="0">
                <a:solidFill>
                  <a:srgbClr val="334155"/>
                </a:solidFill>
              </a:rPr>
              <a:t> </a:t>
            </a:r>
            <a:r>
              <a:rPr lang="en-US" sz="1100" dirty="0" err="1">
                <a:solidFill>
                  <a:srgbClr val="334155"/>
                </a:solidFill>
              </a:rPr>
              <a:t>klinik</a:t>
            </a:r>
            <a:r>
              <a:rPr lang="en-US" sz="1100" dirty="0">
                <a:solidFill>
                  <a:srgbClr val="334155"/>
                </a:solidFill>
              </a:rPr>
              <a:t> </a:t>
            </a:r>
            <a:r>
              <a:rPr lang="en-US" sz="1100" dirty="0" err="1">
                <a:solidFill>
                  <a:srgbClr val="334155"/>
                </a:solidFill>
              </a:rPr>
              <a:t>anlamı</a:t>
            </a:r>
            <a:r>
              <a:rPr lang="en-US" sz="1100" dirty="0">
                <a:solidFill>
                  <a:srgbClr val="334155"/>
                </a:solidFill>
              </a:rPr>
              <a:t> </a:t>
            </a:r>
            <a:r>
              <a:rPr lang="en-US" sz="1100" dirty="0" err="1" smtClean="0">
                <a:solidFill>
                  <a:srgbClr val="334155"/>
                </a:solidFill>
              </a:rPr>
              <a:t>yakalayabilir</a:t>
            </a:r>
            <a:r>
              <a:rPr lang="tr-TR" sz="1100" dirty="0" smtClean="0">
                <a:solidFill>
                  <a:srgbClr val="334155"/>
                </a:solidFill>
              </a:rPr>
              <a:t>.</a:t>
            </a:r>
            <a:endParaRPr lang="en-US" sz="1100" dirty="0"/>
          </a:p>
        </p:txBody>
      </p:sp>
      <p:sp>
        <p:nvSpPr>
          <p:cNvPr id="21" name="Text 19"/>
          <p:cNvSpPr/>
          <p:nvPr/>
        </p:nvSpPr>
        <p:spPr>
          <a:xfrm>
            <a:off x="4937760" y="3639312"/>
            <a:ext cx="3749040" cy="292608"/>
          </a:xfrm>
          <a:prstGeom prst="rect">
            <a:avLst/>
          </a:prstGeom>
          <a:noFill/>
          <a:ln/>
        </p:spPr>
        <p:txBody>
          <a:bodyPr wrap="square" lIns="0" tIns="0" rIns="0" bIns="0" rtlCol="0" anchor="ctr"/>
          <a:lstStyle/>
          <a:p>
            <a:pPr marL="0" indent="0">
              <a:buNone/>
            </a:pPr>
            <a:r>
              <a:rPr lang="en-US" sz="1050" b="1" dirty="0" smtClean="0">
                <a:solidFill>
                  <a:srgbClr val="F59E0B"/>
                </a:solidFill>
              </a:rPr>
              <a:t>K</a:t>
            </a:r>
            <a:r>
              <a:rPr lang="tr-TR" sz="1050" b="1" dirty="0" smtClean="0">
                <a:solidFill>
                  <a:srgbClr val="F59E0B"/>
                </a:solidFill>
              </a:rPr>
              <a:t>ısı</a:t>
            </a:r>
            <a:r>
              <a:rPr lang="en-US" sz="1050" b="1" dirty="0" smtClean="0">
                <a:solidFill>
                  <a:srgbClr val="F59E0B"/>
                </a:solidFill>
              </a:rPr>
              <a:t>t</a:t>
            </a:r>
            <a:endParaRPr lang="en-US" sz="1050" dirty="0"/>
          </a:p>
        </p:txBody>
      </p:sp>
      <p:sp>
        <p:nvSpPr>
          <p:cNvPr id="22" name="Text 20"/>
          <p:cNvSpPr/>
          <p:nvPr/>
        </p:nvSpPr>
        <p:spPr>
          <a:xfrm>
            <a:off x="4937760" y="3913632"/>
            <a:ext cx="3749040" cy="548640"/>
          </a:xfrm>
          <a:prstGeom prst="rect">
            <a:avLst/>
          </a:prstGeom>
          <a:noFill/>
          <a:ln/>
        </p:spPr>
        <p:txBody>
          <a:bodyPr wrap="square" lIns="0" tIns="0" rIns="0" bIns="0" rtlCol="0" anchor="ctr"/>
          <a:lstStyle/>
          <a:p>
            <a:pPr marL="0" indent="0">
              <a:buNone/>
            </a:pPr>
            <a:r>
              <a:rPr lang="en-US" sz="1050">
                <a:solidFill>
                  <a:srgbClr val="64748B"/>
                </a:solidFill>
              </a:rPr>
              <a:t>Türkçe medikal/radyoloji için özel eğitilmiş bir BERT modeli yok → sınırlı hassasiyet</a:t>
            </a:r>
            <a:endParaRPr lang="en-US" sz="105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05</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en-US" sz="3200" b="1">
                <a:solidFill>
                  <a:srgbClr val="FFFFFF"/>
                </a:solidFill>
              </a:rPr>
              <a:t>Performans Değerlendirmesi</a:t>
            </a:r>
            <a:endParaRPr lang="en-US" sz="320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Loss Analizi · ROUGE-L · BERTScore F1 · Model Karşılaştırması</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dirty="0">
                <a:solidFill>
                  <a:srgbClr val="FFFFFF"/>
                </a:solidFill>
              </a:rPr>
              <a:t>05 · </a:t>
            </a:r>
            <a:r>
              <a:rPr lang="en-US" sz="1800" b="1" dirty="0" err="1">
                <a:solidFill>
                  <a:srgbClr val="FFFFFF"/>
                </a:solidFill>
              </a:rPr>
              <a:t>Performans</a:t>
            </a:r>
            <a:r>
              <a:rPr lang="en-US" sz="1800" b="1" dirty="0">
                <a:solidFill>
                  <a:srgbClr val="FFFFFF"/>
                </a:solidFill>
              </a:rPr>
              <a:t> — Train/</a:t>
            </a:r>
            <a:r>
              <a:rPr lang="en-US" sz="1800" b="1" dirty="0" err="1">
                <a:solidFill>
                  <a:srgbClr val="FFFFFF"/>
                </a:solidFill>
              </a:rPr>
              <a:t>Eval</a:t>
            </a:r>
            <a:r>
              <a:rPr lang="en-US" sz="1800" b="1" dirty="0">
                <a:solidFill>
                  <a:srgbClr val="FFFFFF"/>
                </a:solidFill>
              </a:rPr>
              <a:t> </a:t>
            </a:r>
            <a:r>
              <a:rPr lang="en-US" sz="1800" b="1" dirty="0" smtClean="0">
                <a:solidFill>
                  <a:srgbClr val="FFFFFF"/>
                </a:solidFill>
              </a:rPr>
              <a:t>Loss</a:t>
            </a:r>
            <a:endParaRPr lang="en-US" sz="1800" dirty="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3001073684"/>
              </p:ext>
            </p:extLst>
          </p:nvPr>
        </p:nvGraphicFramePr>
        <p:xfrm>
          <a:off x="274320" y="777240"/>
          <a:ext cx="5406044" cy="4160520"/>
        </p:xfrm>
        <a:graphic>
          <a:graphicData uri="http://schemas.openxmlformats.org/drawingml/2006/table">
            <a:tbl>
              <a:tblPr/>
              <a:tblGrid>
                <a:gridCol w="2011680">
                  <a:extLst>
                    <a:ext uri="{9D8B030D-6E8A-4147-A177-3AD203B41FA5}">
                      <a16:colId xmlns:a16="http://schemas.microsoft.com/office/drawing/2014/main" val="20000"/>
                    </a:ext>
                  </a:extLst>
                </a:gridCol>
                <a:gridCol w="1611745">
                  <a:extLst>
                    <a:ext uri="{9D8B030D-6E8A-4147-A177-3AD203B41FA5}">
                      <a16:colId xmlns:a16="http://schemas.microsoft.com/office/drawing/2014/main" val="20001"/>
                    </a:ext>
                  </a:extLst>
                </a:gridCol>
                <a:gridCol w="1782619">
                  <a:extLst>
                    <a:ext uri="{9D8B030D-6E8A-4147-A177-3AD203B41FA5}">
                      <a16:colId xmlns:a16="http://schemas.microsoft.com/office/drawing/2014/main" val="20002"/>
                    </a:ext>
                  </a:extLst>
                </a:gridCol>
              </a:tblGrid>
              <a:tr h="320040">
                <a:tc>
                  <a:txBody>
                    <a:bodyPr/>
                    <a:lstStyle/>
                    <a:p>
                      <a:pPr marL="0" indent="0">
                        <a:buNone/>
                      </a:pPr>
                      <a:r>
                        <a:rPr lang="en-US" sz="950" b="1">
                          <a:solidFill>
                            <a:srgbClr val="FFFFFF"/>
                          </a:solidFill>
                        </a:rPr>
                        <a:t>Model</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Train Loss</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Eval Loss</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extLst>
                  <a:ext uri="{0D108BD9-81ED-4DB2-BD59-A6C34878D82A}">
                    <a16:rowId xmlns:a16="http://schemas.microsoft.com/office/drawing/2014/main" val="10000"/>
                  </a:ext>
                </a:extLst>
              </a:tr>
              <a:tr h="320040">
                <a:tc>
                  <a:txBody>
                    <a:bodyPr/>
                    <a:lstStyle/>
                    <a:p>
                      <a:pPr marL="0" indent="0">
                        <a:buNone/>
                      </a:pPr>
                      <a:r>
                        <a:rPr lang="en-US" sz="950">
                          <a:solidFill>
                            <a:srgbClr val="0B1F4B"/>
                          </a:solidFill>
                        </a:rPr>
                        <a:t>Llama 1B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0.45</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0.50</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20040">
                <a:tc>
                  <a:txBody>
                    <a:bodyPr/>
                    <a:lstStyle/>
                    <a:p>
                      <a:pPr marL="0" indent="0">
                        <a:buNone/>
                      </a:pPr>
                      <a:r>
                        <a:rPr lang="en-US" sz="950" b="0" dirty="0">
                          <a:solidFill>
                            <a:srgbClr val="0B1F4B"/>
                          </a:solidFill>
                        </a:rPr>
                        <a:t>Llama 3B</a:t>
                      </a:r>
                      <a:endParaRPr lang="en-US" sz="950" b="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a:solidFill>
                            <a:srgbClr val="334155"/>
                          </a:solidFill>
                        </a:rPr>
                        <a:t>0.41</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dirty="0">
                          <a:solidFill>
                            <a:srgbClr val="334155"/>
                          </a:solidFill>
                        </a:rPr>
                        <a:t>0.48</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0040">
                <a:tc>
                  <a:txBody>
                    <a:bodyPr/>
                    <a:lstStyle/>
                    <a:p>
                      <a:pPr marL="0" indent="0">
                        <a:buNone/>
                      </a:pPr>
                      <a:r>
                        <a:rPr lang="en-US" sz="950">
                          <a:solidFill>
                            <a:srgbClr val="0B1F4B"/>
                          </a:solidFill>
                        </a:rPr>
                        <a:t>Llama 8B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0.36</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0.44</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20040">
                <a:tc>
                  <a:txBody>
                    <a:bodyPr/>
                    <a:lstStyle/>
                    <a:p>
                      <a:pPr marL="0" indent="0">
                        <a:buNone/>
                      </a:pPr>
                      <a:r>
                        <a:rPr lang="en-US" sz="950">
                          <a:solidFill>
                            <a:srgbClr val="0B1F4B"/>
                          </a:solidFill>
                        </a:rPr>
                        <a:t>Qwen 1.5B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a:solidFill>
                            <a:srgbClr val="334155"/>
                          </a:solidFill>
                        </a:rPr>
                        <a:t>0.41</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dirty="0">
                          <a:solidFill>
                            <a:srgbClr val="334155"/>
                          </a:solidFill>
                        </a:rPr>
                        <a:t>0.46</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950">
                          <a:solidFill>
                            <a:srgbClr val="0B1F4B"/>
                          </a:solidFill>
                        </a:rPr>
                        <a:t>Qwen 3B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0.35</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dirty="0">
                          <a:solidFill>
                            <a:srgbClr val="334155"/>
                          </a:solidFill>
                        </a:rPr>
                        <a:t>0.41</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20040">
                <a:tc>
                  <a:txBody>
                    <a:bodyPr/>
                    <a:lstStyle/>
                    <a:p>
                      <a:pPr marL="0" indent="0">
                        <a:buNone/>
                      </a:pPr>
                      <a:r>
                        <a:rPr lang="en-US" sz="950">
                          <a:solidFill>
                            <a:srgbClr val="0B1F4B"/>
                          </a:solidFill>
                        </a:rPr>
                        <a:t>Phi-3 Mini</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a:solidFill>
                            <a:srgbClr val="334155"/>
                          </a:solidFill>
                        </a:rPr>
                        <a:t>0.33</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a:solidFill>
                            <a:srgbClr val="334155"/>
                          </a:solidFill>
                        </a:rPr>
                        <a:t>0.68</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buNone/>
                      </a:pPr>
                      <a:r>
                        <a:rPr lang="en-US" sz="950">
                          <a:solidFill>
                            <a:srgbClr val="0B1F4B"/>
                          </a:solidFill>
                        </a:rPr>
                        <a:t>Mistral 7B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tc>
                  <a:txBody>
                    <a:bodyPr/>
                    <a:lstStyle/>
                    <a:p>
                      <a:pPr marL="0" indent="0">
                        <a:buNone/>
                      </a:pPr>
                      <a:r>
                        <a:rPr lang="tr-TR" sz="950">
                          <a:solidFill>
                            <a:srgbClr val="334155"/>
                          </a:solidFill>
                        </a:rPr>
                        <a:t>0.24</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tc>
                  <a:txBody>
                    <a:bodyPr/>
                    <a:lstStyle/>
                    <a:p>
                      <a:pPr marL="0" indent="0">
                        <a:buNone/>
                      </a:pPr>
                      <a:r>
                        <a:rPr lang="tr-TR" sz="950" b="1" dirty="0">
                          <a:solidFill>
                            <a:srgbClr val="334155"/>
                          </a:solidFill>
                        </a:rPr>
                        <a:t>0.31</a:t>
                      </a:r>
                      <a:endParaRPr lang="en-US" sz="950" b="1"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7"/>
                  </a:ext>
                </a:extLst>
              </a:tr>
              <a:tr h="320040">
                <a:tc>
                  <a:txBody>
                    <a:bodyPr/>
                    <a:lstStyle/>
                    <a:p>
                      <a:pPr marL="0" indent="0">
                        <a:buNone/>
                      </a:pPr>
                      <a:r>
                        <a:rPr lang="en-US" sz="950">
                          <a:solidFill>
                            <a:srgbClr val="0B1F4B"/>
                          </a:solidFill>
                        </a:rPr>
                        <a:t>BioMistral 7B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tc>
                  <a:txBody>
                    <a:bodyPr/>
                    <a:lstStyle/>
                    <a:p>
                      <a:pPr marL="0" indent="0">
                        <a:buNone/>
                      </a:pPr>
                      <a:r>
                        <a:rPr lang="tr-TR" sz="950" b="1">
                          <a:solidFill>
                            <a:srgbClr val="334155"/>
                          </a:solidFill>
                        </a:rPr>
                        <a:t>0.23</a:t>
                      </a:r>
                      <a:endParaRPr lang="en-US" sz="950" b="1"/>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tc>
                  <a:txBody>
                    <a:bodyPr/>
                    <a:lstStyle/>
                    <a:p>
                      <a:pPr marL="0" indent="0">
                        <a:buNone/>
                      </a:pPr>
                      <a:r>
                        <a:rPr lang="tr-TR" sz="950" b="1" dirty="0">
                          <a:solidFill>
                            <a:srgbClr val="334155"/>
                          </a:solidFill>
                        </a:rPr>
                        <a:t>0.31</a:t>
                      </a:r>
                      <a:endParaRPr lang="en-US" sz="950" b="1"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8"/>
                  </a:ext>
                </a:extLst>
              </a:tr>
              <a:tr h="320040">
                <a:tc>
                  <a:txBody>
                    <a:bodyPr/>
                    <a:lstStyle/>
                    <a:p>
                      <a:pPr marL="0" indent="0">
                        <a:buNone/>
                      </a:pPr>
                      <a:r>
                        <a:rPr lang="en-US" sz="950">
                          <a:solidFill>
                            <a:srgbClr val="0B1F4B"/>
                          </a:solidFill>
                        </a:rPr>
                        <a:t>Meditron 7B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0.29</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a:solidFill>
                            <a:srgbClr val="334155"/>
                          </a:solidFill>
                        </a:rPr>
                        <a:t>0.34</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320040">
                <a:tc>
                  <a:txBody>
                    <a:bodyPr/>
                    <a:lstStyle/>
                    <a:p>
                      <a:pPr marL="0" indent="0">
                        <a:buNone/>
                      </a:pPr>
                      <a:r>
                        <a:rPr lang="en-US" sz="950">
                          <a:solidFill>
                            <a:srgbClr val="0B1F4B"/>
                          </a:solidFill>
                        </a:rPr>
                        <a:t>Doktor Llama 8B</a:t>
                      </a:r>
                      <a:endParaRPr lang="en-US" sz="95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dirty="0">
                          <a:solidFill>
                            <a:srgbClr val="334155"/>
                          </a:solidFill>
                        </a:rPr>
                        <a:t>0.37</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tr-TR" sz="950" dirty="0">
                          <a:solidFill>
                            <a:srgbClr val="334155"/>
                          </a:solidFill>
                        </a:rPr>
                        <a:t>0.44</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0040">
                <a:tc>
                  <a:txBody>
                    <a:bodyPr/>
                    <a:lstStyle/>
                    <a:p>
                      <a:pPr marL="0" indent="0">
                        <a:buNone/>
                      </a:pPr>
                      <a:r>
                        <a:rPr lang="en-US" sz="950" b="0" dirty="0" err="1">
                          <a:solidFill>
                            <a:srgbClr val="0B1F4B"/>
                          </a:solidFill>
                        </a:rPr>
                        <a:t>Doktor</a:t>
                      </a:r>
                      <a:r>
                        <a:rPr lang="en-US" sz="950" b="0" dirty="0">
                          <a:solidFill>
                            <a:srgbClr val="0B1F4B"/>
                          </a:solidFill>
                        </a:rPr>
                        <a:t> Llama 8B Cosmos</a:t>
                      </a:r>
                      <a:endParaRPr lang="en-US" sz="950" b="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dirty="0">
                          <a:solidFill>
                            <a:srgbClr val="334155"/>
                          </a:solidFill>
                        </a:rPr>
                        <a:t>0.40</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dirty="0">
                          <a:solidFill>
                            <a:srgbClr val="334155"/>
                          </a:solidFill>
                        </a:rPr>
                        <a:t>0.45</a:t>
                      </a:r>
                      <a:endParaRPr lang="en-US" sz="950" dirty="0"/>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1"/>
                  </a:ext>
                </a:extLst>
              </a:tr>
              <a:tr h="320040">
                <a:tc>
                  <a:txBody>
                    <a:bodyPr/>
                    <a:lstStyle/>
                    <a:p>
                      <a:pPr marL="0" indent="0">
                        <a:buNone/>
                      </a:pPr>
                      <a:r>
                        <a:rPr lang="tr-TR" sz="950" b="0" dirty="0" err="1" smtClean="0">
                          <a:solidFill>
                            <a:srgbClr val="334155"/>
                          </a:solidFill>
                        </a:rPr>
                        <a:t>Turkish</a:t>
                      </a:r>
                      <a:r>
                        <a:rPr lang="tr-TR" sz="950" b="0" dirty="0" smtClean="0">
                          <a:solidFill>
                            <a:srgbClr val="334155"/>
                          </a:solidFill>
                        </a:rPr>
                        <a:t> </a:t>
                      </a:r>
                      <a:r>
                        <a:rPr lang="tr-TR" sz="950" b="0" dirty="0" err="1" smtClean="0">
                          <a:solidFill>
                            <a:srgbClr val="334155"/>
                          </a:solidFill>
                        </a:rPr>
                        <a:t>Llama</a:t>
                      </a:r>
                      <a:endParaRPr lang="en-US" sz="950" b="0" dirty="0">
                        <a:solidFill>
                          <a:srgbClr val="334155"/>
                        </a:solidFill>
                      </a:endParaRPr>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dirty="0" smtClean="0">
                          <a:solidFill>
                            <a:srgbClr val="334155"/>
                          </a:solidFill>
                        </a:rPr>
                        <a:t>0.36</a:t>
                      </a:r>
                      <a:endParaRPr lang="en-US" sz="950" dirty="0">
                        <a:solidFill>
                          <a:srgbClr val="334155"/>
                        </a:solidFill>
                      </a:endParaRPr>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tr-TR" sz="950" dirty="0" smtClean="0">
                          <a:solidFill>
                            <a:srgbClr val="334155"/>
                          </a:solidFill>
                        </a:rPr>
                        <a:t>0.46</a:t>
                      </a:r>
                      <a:endParaRPr lang="en-US" sz="950" dirty="0">
                        <a:solidFill>
                          <a:srgbClr val="334155"/>
                        </a:solidFill>
                      </a:endParaRPr>
                    </a:p>
                  </a:txBody>
                  <a:tcPr marL="50800" marR="508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56065184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05 · Performans — ROUGE-L Karşılaştırması</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graphicFrame>
        <p:nvGraphicFramePr>
          <p:cNvPr id="5" name="Chart 0"/>
          <p:cNvGraphicFramePr/>
          <p:nvPr>
            <p:extLst>
              <p:ext uri="{D42A27DB-BD31-4B8C-83A1-F6EECF244321}">
                <p14:modId xmlns:p14="http://schemas.microsoft.com/office/powerpoint/2010/main" val="2422865028"/>
              </p:ext>
            </p:extLst>
          </p:nvPr>
        </p:nvGraphicFramePr>
        <p:xfrm>
          <a:off x="274320" y="777240"/>
          <a:ext cx="8595360" cy="429310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05 · Performans — BERTScore F1 Karşılaştırması</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graphicFrame>
        <p:nvGraphicFramePr>
          <p:cNvPr id="5" name="Chart 0"/>
          <p:cNvGraphicFramePr/>
          <p:nvPr>
            <p:extLst>
              <p:ext uri="{D42A27DB-BD31-4B8C-83A1-F6EECF244321}">
                <p14:modId xmlns:p14="http://schemas.microsoft.com/office/powerpoint/2010/main" val="1051277172"/>
              </p:ext>
            </p:extLst>
          </p:nvPr>
        </p:nvGraphicFramePr>
        <p:xfrm>
          <a:off x="274320" y="777240"/>
          <a:ext cx="8595360" cy="429310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a:solidFill>
                  <a:srgbClr val="FFFFFF"/>
                </a:solidFill>
              </a:rPr>
              <a:t>05 · Tüm Modeller — Birleşik Performans Tablosu</a:t>
            </a:r>
            <a:endParaRPr lang="en-US" sz="180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3598050188"/>
              </p:ext>
            </p:extLst>
          </p:nvPr>
        </p:nvGraphicFramePr>
        <p:xfrm>
          <a:off x="274320" y="691204"/>
          <a:ext cx="6080760" cy="4398264"/>
        </p:xfrm>
        <a:graphic>
          <a:graphicData uri="http://schemas.openxmlformats.org/drawingml/2006/table">
            <a:tbl>
              <a:tblPr lastCol="1"/>
              <a:tblGrid>
                <a:gridCol w="2057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38328">
                <a:tc>
                  <a:txBody>
                    <a:bodyPr/>
                    <a:lstStyle/>
                    <a:p>
                      <a:pPr marL="0" indent="0">
                        <a:buNone/>
                      </a:pPr>
                      <a:r>
                        <a:rPr lang="en-US" sz="950" b="1">
                          <a:solidFill>
                            <a:srgbClr val="FFFFFF"/>
                          </a:solidFill>
                        </a:rPr>
                        <a:t>Model</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Kategori</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Boyut</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ROUGE-L</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tc>
                  <a:txBody>
                    <a:bodyPr/>
                    <a:lstStyle/>
                    <a:p>
                      <a:pPr marL="0" indent="0">
                        <a:buNone/>
                      </a:pPr>
                      <a:r>
                        <a:rPr lang="en-US" sz="950" b="1">
                          <a:solidFill>
                            <a:srgbClr val="FFFFFF"/>
                          </a:solidFill>
                        </a:rPr>
                        <a:t>BERTScore F1</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F4B"/>
                    </a:solidFill>
                  </a:tcPr>
                </a:tc>
                <a:extLst>
                  <a:ext uri="{0D108BD9-81ED-4DB2-BD59-A6C34878D82A}">
                    <a16:rowId xmlns:a16="http://schemas.microsoft.com/office/drawing/2014/main" val="10000"/>
                  </a:ext>
                </a:extLst>
              </a:tr>
              <a:tr h="338328">
                <a:tc>
                  <a:txBody>
                    <a:bodyPr/>
                    <a:lstStyle/>
                    <a:p>
                      <a:pPr marL="0" indent="0">
                        <a:buNone/>
                      </a:pPr>
                      <a:r>
                        <a:rPr lang="en-US" sz="950">
                          <a:solidFill>
                            <a:schemeClr val="tx1"/>
                          </a:solidFill>
                        </a:rPr>
                        <a:t>Llama 1B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Genel</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1B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0.4</a:t>
                      </a:r>
                      <a:r>
                        <a:rPr lang="tr-TR" sz="950">
                          <a:solidFill>
                            <a:schemeClr val="tx1"/>
                          </a:solidFill>
                        </a:rPr>
                        <a:t>9</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0.76</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38328">
                <a:tc>
                  <a:txBody>
                    <a:bodyPr/>
                    <a:lstStyle/>
                    <a:p>
                      <a:pPr marL="0" indent="0">
                        <a:buNone/>
                      </a:pPr>
                      <a:r>
                        <a:rPr lang="en-US" sz="950" b="0">
                          <a:solidFill>
                            <a:schemeClr val="tx1"/>
                          </a:solidFill>
                        </a:rPr>
                        <a:t>Llama 3B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en-US" sz="950">
                          <a:solidFill>
                            <a:schemeClr val="tx1"/>
                          </a:solidFill>
                        </a:rPr>
                        <a:t>Genel</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en-US" sz="950">
                          <a:solidFill>
                            <a:schemeClr val="tx1"/>
                          </a:solidFill>
                        </a:rPr>
                        <a:t>3B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en-US" sz="950">
                          <a:solidFill>
                            <a:schemeClr val="tx1"/>
                          </a:solidFill>
                        </a:rPr>
                        <a:t>0.5</a:t>
                      </a:r>
                      <a:r>
                        <a:rPr lang="tr-TR" sz="950">
                          <a:solidFill>
                            <a:schemeClr val="tx1"/>
                          </a:solidFill>
                        </a:rPr>
                        <a:t>4</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en-US" sz="950">
                          <a:solidFill>
                            <a:schemeClr val="tx1"/>
                          </a:solidFill>
                        </a:rPr>
                        <a:t>0.</a:t>
                      </a:r>
                      <a:r>
                        <a:rPr lang="tr-TR" sz="950">
                          <a:solidFill>
                            <a:schemeClr val="tx1"/>
                          </a:solidFill>
                        </a:rPr>
                        <a:t>78</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38328">
                <a:tc>
                  <a:txBody>
                    <a:bodyPr/>
                    <a:lstStyle/>
                    <a:p>
                      <a:pPr marL="0" indent="0">
                        <a:buNone/>
                      </a:pPr>
                      <a:r>
                        <a:rPr lang="en-US" sz="950">
                          <a:solidFill>
                            <a:schemeClr val="tx1"/>
                          </a:solidFill>
                        </a:rPr>
                        <a:t>Llama 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Genel</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0.5</a:t>
                      </a:r>
                      <a:r>
                        <a:rPr lang="tr-TR" sz="950">
                          <a:solidFill>
                            <a:schemeClr val="tx1"/>
                          </a:solidFill>
                        </a:rPr>
                        <a:t>5</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a:t>
                      </a:r>
                      <a:r>
                        <a:rPr lang="tr-TR" sz="950">
                          <a:solidFill>
                            <a:schemeClr val="tx1"/>
                          </a:solidFill>
                        </a:rPr>
                        <a:t>78</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38328">
                <a:tc>
                  <a:txBody>
                    <a:bodyPr/>
                    <a:lstStyle/>
                    <a:p>
                      <a:pPr marL="0" indent="0">
                        <a:buNone/>
                      </a:pPr>
                      <a:r>
                        <a:rPr lang="en-US" sz="950">
                          <a:solidFill>
                            <a:schemeClr val="tx1"/>
                          </a:solidFill>
                        </a:rPr>
                        <a:t>Qwen 1.5B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Çok Dilli</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1.5B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a:t>
                      </a:r>
                      <a:r>
                        <a:rPr lang="tr-TR" sz="950">
                          <a:solidFill>
                            <a:schemeClr val="tx1"/>
                          </a:solidFill>
                        </a:rPr>
                        <a:t>50</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0.7</a:t>
                      </a:r>
                      <a:r>
                        <a:rPr lang="tr-TR" sz="950">
                          <a:solidFill>
                            <a:schemeClr val="tx1"/>
                          </a:solidFill>
                        </a:rPr>
                        <a:t>6</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950">
                          <a:solidFill>
                            <a:schemeClr val="tx1"/>
                          </a:solidFill>
                        </a:rPr>
                        <a:t>Qwen 3B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Çok Dilli</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3B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0.5</a:t>
                      </a:r>
                      <a:r>
                        <a:rPr lang="tr-TR" sz="950">
                          <a:solidFill>
                            <a:schemeClr val="tx1"/>
                          </a:solidFill>
                        </a:rPr>
                        <a:t>4</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a:t>
                      </a:r>
                      <a:r>
                        <a:rPr lang="tr-TR" sz="950">
                          <a:solidFill>
                            <a:schemeClr val="tx1"/>
                          </a:solidFill>
                        </a:rPr>
                        <a:t>78</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5"/>
                  </a:ext>
                </a:extLst>
              </a:tr>
              <a:tr h="338328">
                <a:tc>
                  <a:txBody>
                    <a:bodyPr/>
                    <a:lstStyle/>
                    <a:p>
                      <a:pPr marL="0" indent="0">
                        <a:buNone/>
                      </a:pPr>
                      <a:r>
                        <a:rPr lang="en-US" sz="950">
                          <a:solidFill>
                            <a:schemeClr val="tx1"/>
                          </a:solidFill>
                        </a:rPr>
                        <a:t>Phi-3 Mini</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Genel</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3.8B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a:t>
                      </a:r>
                      <a:r>
                        <a:rPr lang="tr-TR" sz="950">
                          <a:solidFill>
                            <a:schemeClr val="tx1"/>
                          </a:solidFill>
                        </a:rPr>
                        <a:t>49</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0.7</a:t>
                      </a:r>
                      <a:r>
                        <a:rPr lang="tr-TR" sz="950">
                          <a:solidFill>
                            <a:schemeClr val="tx1"/>
                          </a:solidFill>
                        </a:rPr>
                        <a:t>6</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950">
                          <a:solidFill>
                            <a:schemeClr val="tx1"/>
                          </a:solidFill>
                        </a:rPr>
                        <a:t>Mistral 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Genel/İngilizce</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b="1">
                          <a:solidFill>
                            <a:schemeClr val="tx1"/>
                          </a:solidFill>
                        </a:rPr>
                        <a:t>0.</a:t>
                      </a:r>
                      <a:r>
                        <a:rPr lang="tr-TR" sz="950" b="1">
                          <a:solidFill>
                            <a:schemeClr val="tx1"/>
                          </a:solidFill>
                        </a:rPr>
                        <a:t>60</a:t>
                      </a:r>
                      <a:endParaRPr lang="en-US" sz="950" b="1">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b="1">
                          <a:solidFill>
                            <a:schemeClr val="tx1"/>
                          </a:solidFill>
                        </a:rPr>
                        <a:t>0.</a:t>
                      </a:r>
                      <a:r>
                        <a:rPr lang="tr-TR" sz="950" b="1">
                          <a:solidFill>
                            <a:schemeClr val="tx1"/>
                          </a:solidFill>
                        </a:rPr>
                        <a:t>81</a:t>
                      </a:r>
                      <a:endParaRPr lang="en-US" sz="950" b="1">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7"/>
                  </a:ext>
                </a:extLst>
              </a:tr>
              <a:tr h="338328">
                <a:tc>
                  <a:txBody>
                    <a:bodyPr/>
                    <a:lstStyle/>
                    <a:p>
                      <a:pPr marL="0" indent="0">
                        <a:buNone/>
                      </a:pPr>
                      <a:r>
                        <a:rPr lang="en-US" sz="950">
                          <a:solidFill>
                            <a:schemeClr val="tx1"/>
                          </a:solidFill>
                        </a:rPr>
                        <a:t>BioMistral 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Tıbbi/İngilizce</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a:t>
                      </a:r>
                      <a:r>
                        <a:rPr lang="tr-TR" sz="950">
                          <a:solidFill>
                            <a:schemeClr val="tx1"/>
                          </a:solidFill>
                        </a:rPr>
                        <a:t>55</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0.7</a:t>
                      </a:r>
                      <a:r>
                        <a:rPr lang="tr-TR" sz="950">
                          <a:solidFill>
                            <a:schemeClr val="tx1"/>
                          </a:solidFill>
                        </a:rPr>
                        <a:t>8</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950">
                          <a:solidFill>
                            <a:schemeClr val="tx1"/>
                          </a:solidFill>
                        </a:rPr>
                        <a:t>Meditron 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Tıbbi/İngilizce</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7B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a:t>
                      </a:r>
                      <a:r>
                        <a:rPr lang="tr-TR" sz="950">
                          <a:solidFill>
                            <a:schemeClr val="tx1"/>
                          </a:solidFill>
                        </a:rPr>
                        <a:t>52</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a:solidFill>
                            <a:schemeClr val="tx1"/>
                          </a:solidFill>
                        </a:rPr>
                        <a:t>0.77</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9"/>
                  </a:ext>
                </a:extLst>
              </a:tr>
              <a:tr h="338328">
                <a:tc>
                  <a:txBody>
                    <a:bodyPr/>
                    <a:lstStyle/>
                    <a:p>
                      <a:pPr marL="0" indent="0">
                        <a:buNone/>
                      </a:pPr>
                      <a:r>
                        <a:rPr lang="en-US" sz="950">
                          <a:solidFill>
                            <a:schemeClr val="tx1"/>
                          </a:solidFill>
                        </a:rPr>
                        <a:t>Doktor Llama 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Tıbbi/Türkçe</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0.5</a:t>
                      </a:r>
                      <a:r>
                        <a:rPr lang="tr-TR" sz="950">
                          <a:solidFill>
                            <a:schemeClr val="tx1"/>
                          </a:solidFill>
                        </a:rPr>
                        <a:t>5</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a:solidFill>
                            <a:schemeClr val="tx1"/>
                          </a:solidFill>
                        </a:rPr>
                        <a:t>0.</a:t>
                      </a:r>
                      <a:r>
                        <a:rPr lang="tr-TR" sz="950">
                          <a:solidFill>
                            <a:schemeClr val="tx1"/>
                          </a:solidFill>
                        </a:rPr>
                        <a:t>78</a:t>
                      </a:r>
                      <a:endParaRPr lang="en-US" sz="95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8328">
                <a:tc>
                  <a:txBody>
                    <a:bodyPr/>
                    <a:lstStyle/>
                    <a:p>
                      <a:pPr marL="0" indent="0">
                        <a:buNone/>
                      </a:pPr>
                      <a:r>
                        <a:rPr lang="en-US" sz="950" b="0">
                          <a:solidFill>
                            <a:schemeClr val="tx1"/>
                          </a:solidFill>
                        </a:rPr>
                        <a:t>Doktor Llama 8B Cosmos</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buNone/>
                      </a:pPr>
                      <a:r>
                        <a:rPr lang="en-US" sz="950" b="0">
                          <a:solidFill>
                            <a:schemeClr val="tx1"/>
                          </a:solidFill>
                        </a:rPr>
                        <a:t>Tıbbi/Türkçe</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buNone/>
                      </a:pPr>
                      <a:r>
                        <a:rPr lang="en-US" sz="950" b="0">
                          <a:solidFill>
                            <a:schemeClr val="tx1"/>
                          </a:solidFill>
                        </a:rPr>
                        <a:t>8B</a:t>
                      </a: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buNone/>
                      </a:pPr>
                      <a:r>
                        <a:rPr lang="en-US" sz="950" b="0">
                          <a:solidFill>
                            <a:schemeClr val="tx1"/>
                          </a:solidFill>
                        </a:rPr>
                        <a:t>0.5</a:t>
                      </a:r>
                      <a:r>
                        <a:rPr lang="tr-TR" sz="950" b="0">
                          <a:solidFill>
                            <a:schemeClr val="tx1"/>
                          </a:solidFill>
                        </a:rPr>
                        <a:t>2</a:t>
                      </a:r>
                      <a:endParaRPr lang="en-US" sz="950" b="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marL="0" indent="0">
                        <a:buNone/>
                      </a:pPr>
                      <a:r>
                        <a:rPr lang="en-US" sz="950" b="0">
                          <a:solidFill>
                            <a:schemeClr val="tx1"/>
                          </a:solidFill>
                        </a:rPr>
                        <a:t>0.</a:t>
                      </a:r>
                      <a:r>
                        <a:rPr lang="tr-TR" sz="950" b="0">
                          <a:solidFill>
                            <a:schemeClr val="tx1"/>
                          </a:solidFill>
                        </a:rPr>
                        <a:t>77</a:t>
                      </a:r>
                      <a:endParaRPr lang="en-US" sz="950" b="0">
                        <a:solidFill>
                          <a:schemeClr val="tx1"/>
                        </a:solidFill>
                      </a:endParaRPr>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extLst>
                  <a:ext uri="{0D108BD9-81ED-4DB2-BD59-A6C34878D82A}">
                    <a16:rowId xmlns:a16="http://schemas.microsoft.com/office/drawing/2014/main" val="10011"/>
                  </a:ext>
                </a:extLst>
              </a:tr>
              <a:tr h="338328">
                <a:tc>
                  <a:txBody>
                    <a:bodyPr/>
                    <a:lstStyle/>
                    <a:p>
                      <a:pPr marL="0" indent="0">
                        <a:buNone/>
                      </a:pPr>
                      <a:r>
                        <a:rPr lang="tr-TR" sz="950" err="1"/>
                        <a:t>Turkish</a:t>
                      </a:r>
                      <a:r>
                        <a:rPr lang="tr-TR" sz="950" baseline="0"/>
                        <a:t> </a:t>
                      </a:r>
                      <a:r>
                        <a:rPr lang="tr-TR" sz="950" baseline="0" err="1"/>
                        <a:t>Llama</a:t>
                      </a:r>
                      <a:r>
                        <a:rPr lang="tr-TR" sz="950" baseline="0"/>
                        <a:t> 8B</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a:t>Genel/Türkçe</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a:t>8B</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a:t>0.56</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tc>
                  <a:txBody>
                    <a:bodyPr/>
                    <a:lstStyle/>
                    <a:p>
                      <a:pPr marL="0" indent="0">
                        <a:buNone/>
                      </a:pPr>
                      <a:r>
                        <a:rPr lang="tr-TR" sz="950"/>
                        <a:t>0.79</a:t>
                      </a:r>
                      <a:endParaRPr lang="en-US" sz="950"/>
                    </a:p>
                  </a:txBody>
                  <a:tcPr marL="50800" marR="50800" marT="25400" marB="254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bg1"/>
                    </a:solidFill>
                  </a:tcPr>
                </a:tc>
                <a:extLst>
                  <a:ext uri="{0D108BD9-81ED-4DB2-BD59-A6C34878D82A}">
                    <a16:rowId xmlns:a16="http://schemas.microsoft.com/office/drawing/2014/main" val="300465303"/>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4B"/>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9488"/>
          </a:solidFill>
          <a:ln w="12700">
            <a:solidFill>
              <a:srgbClr val="0D9488"/>
            </a:solidFill>
            <a:prstDash val="solid"/>
          </a:ln>
        </p:spPr>
      </p:sp>
      <p:sp>
        <p:nvSpPr>
          <p:cNvPr id="3" name="Text 1"/>
          <p:cNvSpPr/>
          <p:nvPr/>
        </p:nvSpPr>
        <p:spPr>
          <a:xfrm>
            <a:off x="548640" y="1371600"/>
            <a:ext cx="1828800" cy="1645920"/>
          </a:xfrm>
          <a:prstGeom prst="rect">
            <a:avLst/>
          </a:prstGeom>
          <a:noFill/>
          <a:ln/>
        </p:spPr>
        <p:txBody>
          <a:bodyPr wrap="square" rtlCol="0" anchor="ctr"/>
          <a:lstStyle/>
          <a:p>
            <a:pPr marL="0" indent="0" algn="l">
              <a:buNone/>
            </a:pPr>
            <a:r>
              <a:rPr lang="en-US" sz="7200" b="1">
                <a:solidFill>
                  <a:srgbClr val="0D9488">
                    <a:alpha val="70000"/>
                  </a:srgbClr>
                </a:solidFill>
              </a:rPr>
              <a:t>06</a:t>
            </a:r>
            <a:endParaRPr lang="en-US" sz="7200"/>
          </a:p>
        </p:txBody>
      </p:sp>
      <p:sp>
        <p:nvSpPr>
          <p:cNvPr id="4" name="Text 2"/>
          <p:cNvSpPr/>
          <p:nvPr/>
        </p:nvSpPr>
        <p:spPr>
          <a:xfrm>
            <a:off x="640080" y="1828800"/>
            <a:ext cx="7772400" cy="1005840"/>
          </a:xfrm>
          <a:prstGeom prst="rect">
            <a:avLst/>
          </a:prstGeom>
          <a:noFill/>
          <a:ln/>
        </p:spPr>
        <p:txBody>
          <a:bodyPr wrap="square" rtlCol="0" anchor="ctr"/>
          <a:lstStyle/>
          <a:p>
            <a:pPr marL="0" indent="0" algn="l">
              <a:buNone/>
            </a:pPr>
            <a:r>
              <a:rPr lang="tr-TR" sz="3200" b="1" dirty="0" smtClean="0">
                <a:solidFill>
                  <a:srgbClr val="FFFFFF"/>
                </a:solidFill>
              </a:rPr>
              <a:t>Örnek Sonuçlar</a:t>
            </a:r>
            <a:endParaRPr lang="en-US" sz="3200" dirty="0"/>
          </a:p>
        </p:txBody>
      </p:sp>
      <p:sp>
        <p:nvSpPr>
          <p:cNvPr id="5" name="Text 3"/>
          <p:cNvSpPr/>
          <p:nvPr/>
        </p:nvSpPr>
        <p:spPr>
          <a:xfrm>
            <a:off x="640080" y="2926080"/>
            <a:ext cx="7772400" cy="731520"/>
          </a:xfrm>
          <a:prstGeom prst="rect">
            <a:avLst/>
          </a:prstGeom>
          <a:noFill/>
          <a:ln/>
        </p:spPr>
        <p:txBody>
          <a:bodyPr wrap="square" rtlCol="0" anchor="ctr"/>
          <a:lstStyle/>
          <a:p>
            <a:pPr marL="0" indent="0" algn="l">
              <a:buNone/>
            </a:pPr>
            <a:r>
              <a:rPr lang="en-US" sz="1500">
                <a:solidFill>
                  <a:srgbClr val="A8C4E0"/>
                </a:solidFill>
              </a:rPr>
              <a:t>Modellerin hiç görmediği bir örnek üzerinde gerçek zamanlı rapor üretimi</a:t>
            </a:r>
            <a:endParaRPr lang="en-US" sz="1500"/>
          </a:p>
        </p:txBody>
      </p:sp>
      <p:sp>
        <p:nvSpPr>
          <p:cNvPr id="6" name="Shape 4"/>
          <p:cNvSpPr/>
          <p:nvPr/>
        </p:nvSpPr>
        <p:spPr>
          <a:xfrm>
            <a:off x="0" y="5070348"/>
            <a:ext cx="9144000" cy="73152"/>
          </a:xfrm>
          <a:prstGeom prst="rect">
            <a:avLst/>
          </a:prstGeom>
          <a:solidFill>
            <a:srgbClr val="0D9488"/>
          </a:solidFill>
          <a:ln w="12700">
            <a:solidFill>
              <a:srgbClr val="0D9488"/>
            </a:solidFill>
            <a:prstDash val="solid"/>
          </a:ln>
        </p:spPr>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B1F4B"/>
          </a:solidFill>
          <a:ln w="12700">
            <a:solidFill>
              <a:srgbClr val="0B1F4B"/>
            </a:solidFill>
            <a:prstDash val="solid"/>
          </a:ln>
        </p:spPr>
      </p:sp>
      <p:sp>
        <p:nvSpPr>
          <p:cNvPr id="3" name="Text 1"/>
          <p:cNvSpPr/>
          <p:nvPr/>
        </p:nvSpPr>
        <p:spPr>
          <a:xfrm>
            <a:off x="320040" y="0"/>
            <a:ext cx="8503920" cy="685800"/>
          </a:xfrm>
          <a:prstGeom prst="rect">
            <a:avLst/>
          </a:prstGeom>
          <a:noFill/>
          <a:ln/>
        </p:spPr>
        <p:txBody>
          <a:bodyPr wrap="square" lIns="0" tIns="0" rIns="0" bIns="0" rtlCol="0" anchor="ctr"/>
          <a:lstStyle/>
          <a:p>
            <a:pPr marL="0" indent="0">
              <a:buNone/>
            </a:pPr>
            <a:r>
              <a:rPr lang="en-US" sz="1800" b="1" dirty="0">
                <a:solidFill>
                  <a:srgbClr val="FFFFFF"/>
                </a:solidFill>
              </a:rPr>
              <a:t>06 · </a:t>
            </a:r>
            <a:r>
              <a:rPr lang="en-US" sz="1800" b="1" dirty="0" err="1" smtClean="0">
                <a:solidFill>
                  <a:srgbClr val="FFFFFF"/>
                </a:solidFill>
              </a:rPr>
              <a:t>Örnek</a:t>
            </a:r>
            <a:r>
              <a:rPr lang="tr-TR" sz="1800" b="1" dirty="0" smtClean="0">
                <a:solidFill>
                  <a:srgbClr val="FFFFFF"/>
                </a:solidFill>
              </a:rPr>
              <a:t> Sonuçlar</a:t>
            </a:r>
            <a:endParaRPr lang="en-US" sz="1800" dirty="0"/>
          </a:p>
        </p:txBody>
      </p:sp>
      <p:sp>
        <p:nvSpPr>
          <p:cNvPr id="4" name="Shape 2"/>
          <p:cNvSpPr/>
          <p:nvPr/>
        </p:nvSpPr>
        <p:spPr>
          <a:xfrm>
            <a:off x="0" y="5070348"/>
            <a:ext cx="9144000" cy="73152"/>
          </a:xfrm>
          <a:prstGeom prst="rect">
            <a:avLst/>
          </a:prstGeom>
          <a:solidFill>
            <a:srgbClr val="0D9488"/>
          </a:solidFill>
          <a:ln w="12700">
            <a:solidFill>
              <a:srgbClr val="0D9488"/>
            </a:solidFill>
            <a:prstDash val="solid"/>
          </a:ln>
        </p:spPr>
      </p:sp>
      <p:sp>
        <p:nvSpPr>
          <p:cNvPr id="5" name="Shape 3"/>
          <p:cNvSpPr/>
          <p:nvPr/>
        </p:nvSpPr>
        <p:spPr>
          <a:xfrm>
            <a:off x="320039" y="841249"/>
            <a:ext cx="4063209" cy="1947672"/>
          </a:xfrm>
          <a:prstGeom prst="roundRect">
            <a:avLst>
              <a:gd name="adj" fmla="val 2222"/>
            </a:avLst>
          </a:prstGeom>
          <a:solidFill>
            <a:srgbClr val="1E293B"/>
          </a:solidFill>
          <a:ln w="19050">
            <a:solidFill>
              <a:srgbClr val="0D9488"/>
            </a:solidFill>
            <a:prstDash val="solid"/>
          </a:ln>
        </p:spPr>
      </p:sp>
      <p:sp>
        <p:nvSpPr>
          <p:cNvPr id="6" name="Text 4"/>
          <p:cNvSpPr/>
          <p:nvPr/>
        </p:nvSpPr>
        <p:spPr>
          <a:xfrm>
            <a:off x="457200" y="914400"/>
            <a:ext cx="3749040" cy="320040"/>
          </a:xfrm>
          <a:prstGeom prst="rect">
            <a:avLst/>
          </a:prstGeom>
          <a:noFill/>
          <a:ln/>
        </p:spPr>
        <p:txBody>
          <a:bodyPr wrap="square" lIns="0" tIns="0" rIns="0" bIns="0" rtlCol="0" anchor="ctr"/>
          <a:lstStyle/>
          <a:p>
            <a:pPr marL="0" indent="0">
              <a:buNone/>
            </a:pPr>
            <a:r>
              <a:rPr lang="en-US" sz="1000" b="1" dirty="0" smtClean="0">
                <a:solidFill>
                  <a:srgbClr val="14B8A6"/>
                </a:solidFill>
              </a:rPr>
              <a:t>G</a:t>
            </a:r>
            <a:r>
              <a:rPr lang="tr-TR" sz="1000" b="1" dirty="0" err="1" smtClean="0">
                <a:solidFill>
                  <a:srgbClr val="14B8A6"/>
                </a:solidFill>
              </a:rPr>
              <a:t>erçek</a:t>
            </a:r>
            <a:r>
              <a:rPr lang="tr-TR" sz="1000" b="1" dirty="0" smtClean="0">
                <a:solidFill>
                  <a:srgbClr val="14B8A6"/>
                </a:solidFill>
              </a:rPr>
              <a:t> </a:t>
            </a:r>
            <a:r>
              <a:rPr lang="tr-TR" sz="1000" b="1" dirty="0" err="1" smtClean="0">
                <a:solidFill>
                  <a:srgbClr val="14B8A6"/>
                </a:solidFill>
              </a:rPr>
              <a:t>Output</a:t>
            </a:r>
            <a:endParaRPr lang="en-US" sz="1000" dirty="0"/>
          </a:p>
        </p:txBody>
      </p:sp>
      <p:sp>
        <p:nvSpPr>
          <p:cNvPr id="7" name="Text 5"/>
          <p:cNvSpPr/>
          <p:nvPr/>
        </p:nvSpPr>
        <p:spPr>
          <a:xfrm>
            <a:off x="457200" y="1298448"/>
            <a:ext cx="3749040" cy="1369251"/>
          </a:xfrm>
          <a:prstGeom prst="rect">
            <a:avLst/>
          </a:prstGeom>
          <a:noFill/>
          <a:ln/>
        </p:spPr>
        <p:txBody>
          <a:bodyPr wrap="square" rtlCol="0" anchor="ctr"/>
          <a:lstStyle/>
          <a:p>
            <a:pPr algn="just"/>
            <a:r>
              <a:rPr lang="en-US" sz="900" dirty="0" err="1">
                <a:solidFill>
                  <a:schemeClr val="bg1">
                    <a:lumMod val="95000"/>
                  </a:schemeClr>
                </a:solidFill>
                <a:ea typeface="Courier New" pitchFamily="34" charset="-122"/>
                <a:cs typeface="Courier New" pitchFamily="34" charset="-120"/>
              </a:rPr>
              <a:t>Bulgular</a:t>
            </a:r>
            <a:r>
              <a:rPr lang="en-US" sz="900" dirty="0">
                <a:solidFill>
                  <a:schemeClr val="bg1">
                    <a:lumMod val="95000"/>
                  </a:schemeClr>
                </a:solidFill>
                <a:ea typeface="Courier New" pitchFamily="34" charset="-122"/>
                <a:cs typeface="Courier New" pitchFamily="34" charset="-120"/>
              </a:rPr>
              <a:t>: </a:t>
            </a:r>
            <a:r>
              <a:rPr lang="en-US" sz="900" dirty="0" err="1" smtClean="0">
                <a:solidFill>
                  <a:schemeClr val="bg1">
                    <a:lumMod val="95000"/>
                  </a:schemeClr>
                </a:solidFill>
                <a:ea typeface="Courier New" pitchFamily="34" charset="-122"/>
                <a:cs typeface="Courier New" pitchFamily="34" charset="-120"/>
              </a:rPr>
              <a:t>Sağ</a:t>
            </a:r>
            <a:r>
              <a:rPr lang="en-US" sz="900" dirty="0" smtClean="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sentrum</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semiovalede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sağ</a:t>
            </a:r>
            <a:r>
              <a:rPr lang="en-US" sz="900" dirty="0">
                <a:solidFill>
                  <a:schemeClr val="bg1">
                    <a:lumMod val="95000"/>
                  </a:schemeClr>
                </a:solidFill>
                <a:ea typeface="Courier New" pitchFamily="34" charset="-122"/>
                <a:cs typeface="Courier New" pitchFamily="34" charset="-120"/>
              </a:rPr>
              <a:t> temporal </a:t>
            </a:r>
            <a:r>
              <a:rPr lang="en-US" sz="900" dirty="0" err="1">
                <a:solidFill>
                  <a:schemeClr val="bg1">
                    <a:lumMod val="95000"/>
                  </a:schemeClr>
                </a:solidFill>
                <a:ea typeface="Courier New" pitchFamily="34" charset="-122"/>
                <a:cs typeface="Courier New" pitchFamily="34" charset="-120"/>
              </a:rPr>
              <a:t>bolgede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ve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sağ</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periventrikuler</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beyaz</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cevherden</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sağ</a:t>
            </a:r>
            <a:r>
              <a:rPr lang="en-US" sz="900" dirty="0">
                <a:solidFill>
                  <a:schemeClr val="bg1">
                    <a:lumMod val="95000"/>
                  </a:schemeClr>
                </a:solidFill>
                <a:ea typeface="Courier New" pitchFamily="34" charset="-122"/>
                <a:cs typeface="Courier New" pitchFamily="34" charset="-120"/>
              </a:rPr>
              <a:t> internal </a:t>
            </a:r>
            <a:r>
              <a:rPr lang="en-US" sz="900" dirty="0" err="1">
                <a:solidFill>
                  <a:schemeClr val="bg1">
                    <a:lumMod val="95000"/>
                  </a:schemeClr>
                </a:solidFill>
                <a:ea typeface="Courier New" pitchFamily="34" charset="-122"/>
                <a:cs typeface="Courier New" pitchFamily="34" charset="-120"/>
              </a:rPr>
              <a:t>kapsule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uzanan</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akut</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iskemi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infarkt</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izleri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görülmüştür</a:t>
            </a:r>
            <a:r>
              <a:rPr lang="en-US" sz="900" dirty="0">
                <a:solidFill>
                  <a:schemeClr val="bg1">
                    <a:lumMod val="95000"/>
                  </a:schemeClr>
                </a:solidFill>
                <a:ea typeface="Courier New" pitchFamily="34" charset="-122"/>
                <a:cs typeface="Courier New" pitchFamily="34" charset="-120"/>
              </a:rPr>
              <a:t>. Bu </a:t>
            </a:r>
            <a:r>
              <a:rPr lang="en-US" sz="900" dirty="0" err="1">
                <a:solidFill>
                  <a:schemeClr val="bg1">
                    <a:lumMod val="95000"/>
                  </a:schemeClr>
                </a:solidFill>
                <a:ea typeface="Courier New" pitchFamily="34" charset="-122"/>
                <a:cs typeface="Courier New" pitchFamily="34" charset="-120"/>
              </a:rPr>
              <a:t>bulgular</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akut</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iskemi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infarktın</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varlığını</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düşündürmektedir</a:t>
            </a:r>
            <a:r>
              <a:rPr lang="en-US" sz="900" dirty="0">
                <a:solidFill>
                  <a:schemeClr val="bg1">
                    <a:lumMod val="95000"/>
                  </a:schemeClr>
                </a:solidFill>
                <a:ea typeface="Courier New" pitchFamily="34" charset="-122"/>
                <a:cs typeface="Courier New" pitchFamily="34" charset="-120"/>
              </a:rPr>
              <a:t>. </a:t>
            </a:r>
            <a:endParaRPr lang="tr-TR" sz="900" dirty="0">
              <a:solidFill>
                <a:schemeClr val="bg1">
                  <a:lumMod val="95000"/>
                </a:schemeClr>
              </a:solidFill>
              <a:ea typeface="Courier New" pitchFamily="34" charset="-122"/>
              <a:cs typeface="Courier New" pitchFamily="34" charset="-120"/>
            </a:endParaRPr>
          </a:p>
          <a:p>
            <a:pPr algn="just"/>
            <a:endParaRPr lang="tr-TR" sz="900" dirty="0" smtClean="0">
              <a:solidFill>
                <a:schemeClr val="bg1">
                  <a:lumMod val="95000"/>
                </a:schemeClr>
              </a:solidFill>
              <a:ea typeface="Courier New" pitchFamily="34" charset="-122"/>
              <a:cs typeface="Courier New" pitchFamily="34" charset="-120"/>
            </a:endParaRPr>
          </a:p>
          <a:p>
            <a:pPr algn="just"/>
            <a:r>
              <a:rPr lang="en-US" sz="900" dirty="0" err="1" smtClean="0">
                <a:solidFill>
                  <a:schemeClr val="bg1">
                    <a:lumMod val="95000"/>
                  </a:schemeClr>
                </a:solidFill>
                <a:ea typeface="Courier New" pitchFamily="34" charset="-122"/>
                <a:cs typeface="Courier New" pitchFamily="34" charset="-120"/>
              </a:rPr>
              <a:t>Sonuç</a:t>
            </a:r>
            <a:r>
              <a:rPr lang="en-US" sz="900" dirty="0">
                <a:solidFill>
                  <a:schemeClr val="bg1">
                    <a:lumMod val="95000"/>
                  </a:schemeClr>
                </a:solidFill>
                <a:ea typeface="Courier New" pitchFamily="34" charset="-122"/>
                <a:cs typeface="Courier New" pitchFamily="34" charset="-120"/>
              </a:rPr>
              <a:t>: </a:t>
            </a:r>
            <a:r>
              <a:rPr lang="en-US" sz="900" dirty="0" err="1" smtClean="0">
                <a:solidFill>
                  <a:schemeClr val="bg1">
                    <a:lumMod val="95000"/>
                  </a:schemeClr>
                </a:solidFill>
                <a:ea typeface="Courier New" pitchFamily="34" charset="-122"/>
                <a:cs typeface="Courier New" pitchFamily="34" charset="-120"/>
              </a:rPr>
              <a:t>Görülen</a:t>
            </a:r>
            <a:r>
              <a:rPr lang="en-US" sz="900" dirty="0" smtClean="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bulgular</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akut</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iskemi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infarktın</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varlığını</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düşündürmektedir</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Dikkatli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takip</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ve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gerektiğinde</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ileri</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tetkik</a:t>
            </a:r>
            <a:r>
              <a:rPr lang="en-US" sz="900" dirty="0">
                <a:solidFill>
                  <a:schemeClr val="bg1">
                    <a:lumMod val="95000"/>
                  </a:schemeClr>
                </a:solidFill>
                <a:ea typeface="Courier New" pitchFamily="34" charset="-122"/>
                <a:cs typeface="Courier New" pitchFamily="34" charset="-120"/>
              </a:rPr>
              <a:t> </a:t>
            </a:r>
            <a:r>
              <a:rPr lang="en-US" sz="900" dirty="0" err="1">
                <a:solidFill>
                  <a:schemeClr val="bg1">
                    <a:lumMod val="95000"/>
                  </a:schemeClr>
                </a:solidFill>
                <a:ea typeface="Courier New" pitchFamily="34" charset="-122"/>
                <a:cs typeface="Courier New" pitchFamily="34" charset="-120"/>
              </a:rPr>
              <a:t>gerektirebilir</a:t>
            </a:r>
            <a:r>
              <a:rPr lang="en-US" sz="900" dirty="0" smtClean="0">
                <a:solidFill>
                  <a:schemeClr val="bg1">
                    <a:lumMod val="95000"/>
                  </a:schemeClr>
                </a:solidFill>
                <a:ea typeface="Courier New" pitchFamily="34" charset="-122"/>
                <a:cs typeface="Courier New" pitchFamily="34" charset="-120"/>
              </a:rPr>
              <a:t>.</a:t>
            </a:r>
            <a:endParaRPr lang="en-US" sz="900" dirty="0">
              <a:solidFill>
                <a:schemeClr val="bg1">
                  <a:lumMod val="95000"/>
                </a:schemeClr>
              </a:solidFill>
            </a:endParaRPr>
          </a:p>
        </p:txBody>
      </p:sp>
      <p:sp>
        <p:nvSpPr>
          <p:cNvPr id="9" name="Text 7"/>
          <p:cNvSpPr/>
          <p:nvPr/>
        </p:nvSpPr>
        <p:spPr>
          <a:xfrm>
            <a:off x="4892040" y="2788920"/>
            <a:ext cx="365760" cy="365760"/>
          </a:xfrm>
          <a:prstGeom prst="rect">
            <a:avLst/>
          </a:prstGeom>
          <a:noFill/>
          <a:ln/>
        </p:spPr>
        <p:txBody>
          <a:bodyPr wrap="square" lIns="0" tIns="0" rIns="0" bIns="0" rtlCol="0" anchor="ctr"/>
          <a:lstStyle/>
          <a:p>
            <a:pPr marL="0" indent="0">
              <a:buNone/>
            </a:pPr>
            <a:r>
              <a:rPr lang="en-US" sz="1800">
                <a:solidFill>
                  <a:srgbClr val="0D9488"/>
                </a:solidFill>
              </a:rPr>
              <a:t>►</a:t>
            </a:r>
            <a:endParaRPr lang="en-US" sz="1800"/>
          </a:p>
        </p:txBody>
      </p:sp>
      <p:sp>
        <p:nvSpPr>
          <p:cNvPr id="10" name="Shape 8"/>
          <p:cNvSpPr/>
          <p:nvPr/>
        </p:nvSpPr>
        <p:spPr>
          <a:xfrm>
            <a:off x="4709160" y="841248"/>
            <a:ext cx="4114800" cy="4114800"/>
          </a:xfrm>
          <a:prstGeom prst="roundRect">
            <a:avLst>
              <a:gd name="adj" fmla="val 2222"/>
            </a:avLst>
          </a:prstGeom>
          <a:solidFill>
            <a:srgbClr val="F8FAFC"/>
          </a:solidFill>
          <a:ln w="19050">
            <a:solidFill>
              <a:srgbClr val="0D9488"/>
            </a:solidFill>
            <a:prstDash val="solid"/>
          </a:ln>
        </p:spPr>
      </p:sp>
      <p:sp>
        <p:nvSpPr>
          <p:cNvPr id="11" name="Text 9"/>
          <p:cNvSpPr/>
          <p:nvPr/>
        </p:nvSpPr>
        <p:spPr>
          <a:xfrm>
            <a:off x="4846320" y="914400"/>
            <a:ext cx="3749040" cy="320040"/>
          </a:xfrm>
          <a:prstGeom prst="rect">
            <a:avLst/>
          </a:prstGeom>
          <a:noFill/>
          <a:ln/>
        </p:spPr>
        <p:txBody>
          <a:bodyPr wrap="square" lIns="0" tIns="0" rIns="0" bIns="0" rtlCol="0" anchor="ctr"/>
          <a:lstStyle/>
          <a:p>
            <a:pPr marL="0" indent="0">
              <a:buNone/>
            </a:pPr>
            <a:r>
              <a:rPr lang="en-US" sz="1000" b="1" dirty="0">
                <a:solidFill>
                  <a:srgbClr val="0B1F4B"/>
                </a:solidFill>
              </a:rPr>
              <a:t>MODEL ÇIKTISI </a:t>
            </a:r>
            <a:endParaRPr lang="en-US" sz="1000" dirty="0"/>
          </a:p>
        </p:txBody>
      </p:sp>
      <p:sp>
        <p:nvSpPr>
          <p:cNvPr id="15" name="AutoShape 4" descr="https://powerpoint.officeapps.live.com/pods/GetClipboardImage.ashx?Id=fc6de9ff-084a-4b86-ada8-aa475cd607ac&amp;DC=PMX1&amp;pkey=f3b36ea4-50bd-4163-9dfd-f3f69bf07374&amp;wdwaccluster=PMX1"/>
          <p:cNvSpPr>
            <a:spLocks noChangeAspect="1" noChangeArrowheads="1"/>
          </p:cNvSpPr>
          <p:nvPr/>
        </p:nvSpPr>
        <p:spPr bwMode="auto">
          <a:xfrm>
            <a:off x="2190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16" name="Text 11"/>
          <p:cNvSpPr/>
          <p:nvPr/>
        </p:nvSpPr>
        <p:spPr>
          <a:xfrm>
            <a:off x="4800600" y="1141490"/>
            <a:ext cx="1386700" cy="376414"/>
          </a:xfrm>
          <a:prstGeom prst="rect">
            <a:avLst/>
          </a:prstGeom>
          <a:noFill/>
          <a:ln/>
        </p:spPr>
        <p:txBody>
          <a:bodyPr wrap="square" rtlCol="0" anchor="ctr"/>
          <a:lstStyle/>
          <a:p>
            <a:r>
              <a:rPr lang="tr-TR" sz="1050" b="1" dirty="0" err="1" smtClean="0">
                <a:latin typeface="Courier New" panose="02070309020205020404" pitchFamily="49" charset="0"/>
                <a:cs typeface="Courier New" panose="02070309020205020404" pitchFamily="49" charset="0"/>
              </a:rPr>
              <a:t>Turkish</a:t>
            </a:r>
            <a:r>
              <a:rPr lang="tr-TR" sz="1050" b="1" dirty="0" smtClean="0">
                <a:latin typeface="Courier New" panose="02070309020205020404" pitchFamily="49" charset="0"/>
                <a:cs typeface="Courier New" panose="02070309020205020404" pitchFamily="49" charset="0"/>
              </a:rPr>
              <a:t> </a:t>
            </a:r>
            <a:r>
              <a:rPr lang="tr-TR" sz="1050" b="1" dirty="0" err="1" smtClean="0">
                <a:latin typeface="Courier New" panose="02070309020205020404" pitchFamily="49" charset="0"/>
                <a:cs typeface="Courier New" panose="02070309020205020404" pitchFamily="49" charset="0"/>
              </a:rPr>
              <a:t>Llama</a:t>
            </a:r>
            <a:endParaRPr lang="en-US" sz="1050" b="1" dirty="0">
              <a:latin typeface="Courier New" panose="02070309020205020404" pitchFamily="49" charset="0"/>
              <a:cs typeface="Courier New" panose="02070309020205020404" pitchFamily="49" charset="0"/>
            </a:endParaRPr>
          </a:p>
        </p:txBody>
      </p:sp>
      <p:sp>
        <p:nvSpPr>
          <p:cNvPr id="17" name="Text 11"/>
          <p:cNvSpPr/>
          <p:nvPr/>
        </p:nvSpPr>
        <p:spPr>
          <a:xfrm>
            <a:off x="4800600" y="1438210"/>
            <a:ext cx="3697448" cy="928096"/>
          </a:xfrm>
          <a:prstGeom prst="rect">
            <a:avLst/>
          </a:prstGeom>
          <a:noFill/>
          <a:ln/>
        </p:spPr>
        <p:txBody>
          <a:bodyPr wrap="square" rtlCol="0" anchor="ctr"/>
          <a:lstStyle/>
          <a:p>
            <a:pPr algn="just"/>
            <a:r>
              <a:rPr lang="tr-TR" sz="800" dirty="0" smtClean="0">
                <a:cs typeface="Courier New" panose="02070309020205020404" pitchFamily="49" charset="0"/>
              </a:rPr>
              <a:t>Bulgular: Sağ </a:t>
            </a:r>
            <a:r>
              <a:rPr lang="tr-TR" sz="800" dirty="0" err="1" smtClean="0">
                <a:cs typeface="Courier New" panose="02070309020205020404" pitchFamily="49" charset="0"/>
              </a:rPr>
              <a:t>lateral</a:t>
            </a:r>
            <a:r>
              <a:rPr lang="tr-TR" sz="800" dirty="0" smtClean="0">
                <a:cs typeface="Courier New" panose="02070309020205020404" pitchFamily="49" charset="0"/>
              </a:rPr>
              <a:t> </a:t>
            </a:r>
            <a:r>
              <a:rPr lang="tr-TR" sz="800" dirty="0" err="1" smtClean="0">
                <a:cs typeface="Courier New" panose="02070309020205020404" pitchFamily="49" charset="0"/>
              </a:rPr>
              <a:t>ventrikülün</a:t>
            </a:r>
            <a:r>
              <a:rPr lang="tr-TR" sz="800" dirty="0" smtClean="0">
                <a:cs typeface="Courier New" panose="02070309020205020404" pitchFamily="49" charset="0"/>
              </a:rPr>
              <a:t> </a:t>
            </a:r>
            <a:r>
              <a:rPr lang="tr-TR" sz="800" dirty="0" err="1" smtClean="0">
                <a:cs typeface="Courier New" panose="02070309020205020404" pitchFamily="49" charset="0"/>
              </a:rPr>
              <a:t>silvian</a:t>
            </a:r>
            <a:r>
              <a:rPr lang="tr-TR" sz="800" dirty="0" smtClean="0">
                <a:cs typeface="Courier New" panose="02070309020205020404" pitchFamily="49" charset="0"/>
              </a:rPr>
              <a:t> </a:t>
            </a:r>
            <a:r>
              <a:rPr lang="tr-TR" sz="800" dirty="0" err="1" smtClean="0">
                <a:cs typeface="Courier New" panose="02070309020205020404" pitchFamily="49" charset="0"/>
              </a:rPr>
              <a:t>fissür</a:t>
            </a:r>
            <a:r>
              <a:rPr lang="tr-TR" sz="800" dirty="0" smtClean="0">
                <a:cs typeface="Courier New" panose="02070309020205020404" pitchFamily="49" charset="0"/>
              </a:rPr>
              <a:t> düzeyi komşuluğunda, sağ </a:t>
            </a:r>
            <a:r>
              <a:rPr lang="tr-TR" sz="800" dirty="0" err="1" smtClean="0">
                <a:cs typeface="Courier New" panose="02070309020205020404" pitchFamily="49" charset="0"/>
              </a:rPr>
              <a:t>frontal</a:t>
            </a:r>
            <a:r>
              <a:rPr lang="tr-TR" sz="800" dirty="0" smtClean="0">
                <a:cs typeface="Courier New" panose="02070309020205020404" pitchFamily="49" charset="0"/>
              </a:rPr>
              <a:t> ve </a:t>
            </a:r>
            <a:r>
              <a:rPr lang="tr-TR" sz="800" dirty="0" err="1" smtClean="0">
                <a:cs typeface="Courier New" panose="02070309020205020404" pitchFamily="49" charset="0"/>
              </a:rPr>
              <a:t>temporal</a:t>
            </a:r>
            <a:r>
              <a:rPr lang="tr-TR" sz="800" dirty="0" smtClean="0">
                <a:cs typeface="Courier New" panose="02070309020205020404" pitchFamily="49" charset="0"/>
              </a:rPr>
              <a:t> loblarında </a:t>
            </a:r>
            <a:r>
              <a:rPr lang="tr-TR" sz="800" dirty="0" err="1" smtClean="0">
                <a:cs typeface="Courier New" panose="02070309020205020404" pitchFamily="49" charset="0"/>
              </a:rPr>
              <a:t>internal</a:t>
            </a:r>
            <a:r>
              <a:rPr lang="tr-TR" sz="800" dirty="0" smtClean="0">
                <a:cs typeface="Courier New" panose="02070309020205020404" pitchFamily="49" charset="0"/>
              </a:rPr>
              <a:t> kapsül düzeyinde akut </a:t>
            </a:r>
            <a:r>
              <a:rPr lang="tr-TR" sz="800" dirty="0" err="1" smtClean="0">
                <a:cs typeface="Courier New" panose="02070309020205020404" pitchFamily="49" charset="0"/>
              </a:rPr>
              <a:t>iskemik</a:t>
            </a:r>
            <a:r>
              <a:rPr lang="tr-TR" sz="800" dirty="0" smtClean="0">
                <a:cs typeface="Courier New" panose="02070309020205020404" pitchFamily="49" charset="0"/>
              </a:rPr>
              <a:t> sürece </a:t>
            </a:r>
            <a:r>
              <a:rPr lang="tr-TR" sz="800" dirty="0" err="1" smtClean="0">
                <a:cs typeface="Courier New" panose="02070309020205020404" pitchFamily="49" charset="0"/>
              </a:rPr>
              <a:t>sekonder</a:t>
            </a:r>
            <a:r>
              <a:rPr lang="tr-TR" sz="800" dirty="0" smtClean="0">
                <a:cs typeface="Courier New" panose="02070309020205020404" pitchFamily="49" charset="0"/>
              </a:rPr>
              <a:t> </a:t>
            </a:r>
            <a:r>
              <a:rPr lang="tr-TR" sz="800" dirty="0" err="1" smtClean="0">
                <a:cs typeface="Courier New" panose="02070309020205020404" pitchFamily="49" charset="0"/>
              </a:rPr>
              <a:t>fokal</a:t>
            </a:r>
            <a:r>
              <a:rPr lang="tr-TR" sz="800" dirty="0" smtClean="0">
                <a:cs typeface="Courier New" panose="02070309020205020404" pitchFamily="49" charset="0"/>
              </a:rPr>
              <a:t> difüzyon kısıtlaması izlenmektedir. Ayrıca, sol </a:t>
            </a:r>
            <a:r>
              <a:rPr lang="tr-TR" sz="800" dirty="0" err="1" smtClean="0">
                <a:cs typeface="Courier New" panose="02070309020205020404" pitchFamily="49" charset="0"/>
              </a:rPr>
              <a:t>serebellum</a:t>
            </a:r>
            <a:r>
              <a:rPr lang="tr-TR" sz="800" dirty="0" smtClean="0">
                <a:cs typeface="Courier New" panose="02070309020205020404" pitchFamily="49" charset="0"/>
              </a:rPr>
              <a:t> </a:t>
            </a:r>
            <a:r>
              <a:rPr lang="tr-TR" sz="800" dirty="0" err="1" smtClean="0">
                <a:cs typeface="Courier New" panose="02070309020205020404" pitchFamily="49" charset="0"/>
              </a:rPr>
              <a:t>pedunkülünün</a:t>
            </a:r>
            <a:r>
              <a:rPr lang="tr-TR" sz="800" dirty="0" smtClean="0">
                <a:cs typeface="Courier New" panose="02070309020205020404" pitchFamily="49" charset="0"/>
              </a:rPr>
              <a:t> </a:t>
            </a:r>
            <a:r>
              <a:rPr lang="tr-TR" sz="800" dirty="0" err="1" smtClean="0">
                <a:cs typeface="Courier New" panose="02070309020205020404" pitchFamily="49" charset="0"/>
              </a:rPr>
              <a:t>inferior</a:t>
            </a:r>
            <a:r>
              <a:rPr lang="tr-TR" sz="800" dirty="0" smtClean="0">
                <a:cs typeface="Courier New" panose="02070309020205020404" pitchFamily="49" charset="0"/>
              </a:rPr>
              <a:t> kesiminde milimetrik boyutlu </a:t>
            </a:r>
            <a:r>
              <a:rPr lang="tr-TR" sz="800" dirty="0" err="1" smtClean="0">
                <a:cs typeface="Courier New" panose="02070309020205020404" pitchFamily="49" charset="0"/>
              </a:rPr>
              <a:t>nodüler</a:t>
            </a:r>
            <a:r>
              <a:rPr lang="tr-TR" sz="800" dirty="0" smtClean="0">
                <a:cs typeface="Courier New" panose="02070309020205020404" pitchFamily="49" charset="0"/>
              </a:rPr>
              <a:t> akut </a:t>
            </a:r>
            <a:r>
              <a:rPr lang="tr-TR" sz="800" dirty="0" err="1" smtClean="0">
                <a:cs typeface="Courier New" panose="02070309020205020404" pitchFamily="49" charset="0"/>
              </a:rPr>
              <a:t>infarkt</a:t>
            </a:r>
            <a:r>
              <a:rPr lang="tr-TR" sz="800" dirty="0" smtClean="0">
                <a:cs typeface="Courier New" panose="02070309020205020404" pitchFamily="49" charset="0"/>
              </a:rPr>
              <a:t> ile uyumlu alan dikkat çekmektedir. </a:t>
            </a:r>
          </a:p>
          <a:p>
            <a:pPr algn="just"/>
            <a:r>
              <a:rPr lang="tr-TR" sz="800" dirty="0" smtClean="0">
                <a:cs typeface="Courier New" panose="02070309020205020404" pitchFamily="49" charset="0"/>
              </a:rPr>
              <a:t>Sonuç: Olguya ait patolojiler bulgular kısmında belirtilmiştir. Klinik, fizik muayene ve laboratuvar verileri ile birlikte korelasyonu önerilir.</a:t>
            </a:r>
            <a:endParaRPr lang="en-US" sz="800" dirty="0">
              <a:cs typeface="Courier New" panose="02070309020205020404" pitchFamily="49" charset="0"/>
            </a:endParaRPr>
          </a:p>
        </p:txBody>
      </p:sp>
      <p:sp>
        <p:nvSpPr>
          <p:cNvPr id="19" name="Text 11"/>
          <p:cNvSpPr/>
          <p:nvPr/>
        </p:nvSpPr>
        <p:spPr>
          <a:xfrm>
            <a:off x="4800600" y="2426106"/>
            <a:ext cx="3697448" cy="1274917"/>
          </a:xfrm>
          <a:prstGeom prst="rect">
            <a:avLst/>
          </a:prstGeom>
          <a:noFill/>
          <a:ln/>
        </p:spPr>
        <p:txBody>
          <a:bodyPr wrap="square" rtlCol="0" anchor="ctr"/>
          <a:lstStyle/>
          <a:p>
            <a:pPr algn="just"/>
            <a:r>
              <a:rPr lang="tr-TR" sz="800" dirty="0">
                <a:cs typeface="Courier New" panose="02070309020205020404" pitchFamily="49" charset="0"/>
              </a:rPr>
              <a:t>Bulgular: Sağ </a:t>
            </a:r>
            <a:r>
              <a:rPr lang="tr-TR" sz="800" dirty="0" err="1">
                <a:cs typeface="Courier New" panose="02070309020205020404" pitchFamily="49" charset="0"/>
              </a:rPr>
              <a:t>lateral</a:t>
            </a:r>
            <a:r>
              <a:rPr lang="tr-TR" sz="800" dirty="0">
                <a:cs typeface="Courier New" panose="02070309020205020404" pitchFamily="49" charset="0"/>
              </a:rPr>
              <a:t> </a:t>
            </a:r>
            <a:r>
              <a:rPr lang="tr-TR" sz="800" dirty="0" err="1">
                <a:cs typeface="Courier New" panose="02070309020205020404" pitchFamily="49" charset="0"/>
              </a:rPr>
              <a:t>ventrikülün</a:t>
            </a:r>
            <a:r>
              <a:rPr lang="tr-TR" sz="800" dirty="0">
                <a:cs typeface="Courier New" panose="02070309020205020404" pitchFamily="49" charset="0"/>
              </a:rPr>
              <a:t> </a:t>
            </a:r>
            <a:r>
              <a:rPr lang="tr-TR" sz="800" dirty="0" err="1">
                <a:cs typeface="Courier New" panose="02070309020205020404" pitchFamily="49" charset="0"/>
              </a:rPr>
              <a:t>temporal</a:t>
            </a:r>
            <a:r>
              <a:rPr lang="tr-TR" sz="800" dirty="0">
                <a:cs typeface="Courier New" panose="02070309020205020404" pitchFamily="49" charset="0"/>
              </a:rPr>
              <a:t> kapağının </a:t>
            </a:r>
            <a:r>
              <a:rPr lang="tr-TR" sz="800" dirty="0" err="1">
                <a:cs typeface="Courier New" panose="02070309020205020404" pitchFamily="49" charset="0"/>
              </a:rPr>
              <a:t>lateral</a:t>
            </a:r>
            <a:r>
              <a:rPr lang="tr-TR" sz="800" dirty="0">
                <a:cs typeface="Courier New" panose="02070309020205020404" pitchFamily="49" charset="0"/>
              </a:rPr>
              <a:t> komşuluğunda, </a:t>
            </a:r>
            <a:r>
              <a:rPr lang="tr-TR" sz="800" dirty="0" err="1">
                <a:cs typeface="Courier New" panose="02070309020205020404" pitchFamily="49" charset="0"/>
              </a:rPr>
              <a:t>internal</a:t>
            </a:r>
            <a:r>
              <a:rPr lang="tr-TR" sz="800" dirty="0">
                <a:cs typeface="Courier New" panose="02070309020205020404" pitchFamily="49" charset="0"/>
              </a:rPr>
              <a:t> kapsülün arka bacasında akut </a:t>
            </a:r>
            <a:r>
              <a:rPr lang="tr-TR" sz="800" dirty="0" err="1">
                <a:cs typeface="Courier New" panose="02070309020205020404" pitchFamily="49" charset="0"/>
              </a:rPr>
              <a:t>iskemi</a:t>
            </a:r>
            <a:r>
              <a:rPr lang="tr-TR" sz="800" dirty="0">
                <a:cs typeface="Courier New" panose="02070309020205020404" pitchFamily="49" charset="0"/>
              </a:rPr>
              <a:t> ile uyumlu </a:t>
            </a:r>
            <a:r>
              <a:rPr lang="tr-TR" sz="800" dirty="0" err="1">
                <a:cs typeface="Courier New" panose="02070309020205020404" pitchFamily="49" charset="0"/>
              </a:rPr>
              <a:t>fokal</a:t>
            </a:r>
            <a:r>
              <a:rPr lang="tr-TR" sz="800" dirty="0">
                <a:cs typeface="Courier New" panose="02070309020205020404" pitchFamily="49" charset="0"/>
              </a:rPr>
              <a:t> difüzyon kısıtlama alanı dikkat çekmektedir. Bu bulgular, akut beyin damar hastalığı veya diğer nörolojik koşulların bir sonucu olabilir. </a:t>
            </a:r>
            <a:endParaRPr lang="tr-TR" sz="800" dirty="0" smtClean="0">
              <a:cs typeface="Courier New" panose="02070309020205020404" pitchFamily="49" charset="0"/>
            </a:endParaRPr>
          </a:p>
          <a:p>
            <a:pPr algn="just"/>
            <a:r>
              <a:rPr lang="tr-TR" sz="800" dirty="0" smtClean="0">
                <a:cs typeface="Courier New" panose="02070309020205020404" pitchFamily="49" charset="0"/>
              </a:rPr>
              <a:t>Sonuç</a:t>
            </a:r>
            <a:r>
              <a:rPr lang="tr-TR" sz="800" dirty="0">
                <a:cs typeface="Courier New" panose="02070309020205020404" pitchFamily="49" charset="0"/>
              </a:rPr>
              <a:t>: Akut beyin damar hastalığı veya diğer nörolojik koşulların olası bir belirtisi görülmektedir. Düzenli takip ve </a:t>
            </a:r>
            <a:r>
              <a:rPr lang="tr-TR" sz="800" dirty="0" err="1">
                <a:cs typeface="Courier New" panose="02070309020205020404" pitchFamily="49" charset="0"/>
              </a:rPr>
              <a:t>further</a:t>
            </a:r>
            <a:r>
              <a:rPr lang="tr-TR" sz="800" dirty="0">
                <a:cs typeface="Courier New" panose="02070309020205020404" pitchFamily="49" charset="0"/>
              </a:rPr>
              <a:t> inceleme </a:t>
            </a:r>
            <a:r>
              <a:rPr lang="tr-TR" sz="800" dirty="0" smtClean="0">
                <a:cs typeface="Courier New" panose="02070309020205020404" pitchFamily="49" charset="0"/>
              </a:rPr>
              <a:t>gerektirmektedir.</a:t>
            </a:r>
            <a:endParaRPr lang="en-US" sz="800" dirty="0">
              <a:cs typeface="Courier New" panose="02070309020205020404" pitchFamily="49" charset="0"/>
            </a:endParaRPr>
          </a:p>
        </p:txBody>
      </p:sp>
      <p:sp>
        <p:nvSpPr>
          <p:cNvPr id="20" name="Text 11"/>
          <p:cNvSpPr/>
          <p:nvPr/>
        </p:nvSpPr>
        <p:spPr>
          <a:xfrm>
            <a:off x="4800600" y="2366305"/>
            <a:ext cx="1386700" cy="376414"/>
          </a:xfrm>
          <a:prstGeom prst="rect">
            <a:avLst/>
          </a:prstGeom>
          <a:noFill/>
          <a:ln/>
        </p:spPr>
        <p:txBody>
          <a:bodyPr wrap="square" rtlCol="0" anchor="ctr"/>
          <a:lstStyle/>
          <a:p>
            <a:r>
              <a:rPr lang="tr-TR" sz="1050" b="1" dirty="0" err="1" smtClean="0">
                <a:latin typeface="Courier New" panose="02070309020205020404" pitchFamily="49" charset="0"/>
                <a:cs typeface="Courier New" panose="02070309020205020404" pitchFamily="49" charset="0"/>
              </a:rPr>
              <a:t>Mistral</a:t>
            </a:r>
            <a:r>
              <a:rPr lang="tr-TR" sz="1050" b="1" dirty="0" smtClean="0">
                <a:latin typeface="Courier New" panose="02070309020205020404" pitchFamily="49" charset="0"/>
                <a:cs typeface="Courier New" panose="02070309020205020404" pitchFamily="49" charset="0"/>
              </a:rPr>
              <a:t> 7b</a:t>
            </a:r>
            <a:endParaRPr lang="en-US" sz="1050" b="1" dirty="0">
              <a:latin typeface="Courier New" panose="02070309020205020404" pitchFamily="49" charset="0"/>
              <a:cs typeface="Courier New" panose="02070309020205020404" pitchFamily="49" charset="0"/>
            </a:endParaRPr>
          </a:p>
        </p:txBody>
      </p:sp>
      <p:sp>
        <p:nvSpPr>
          <p:cNvPr id="22" name="Shape 8"/>
          <p:cNvSpPr/>
          <p:nvPr/>
        </p:nvSpPr>
        <p:spPr>
          <a:xfrm>
            <a:off x="320039" y="2971800"/>
            <a:ext cx="4063209" cy="1931670"/>
          </a:xfrm>
          <a:prstGeom prst="roundRect">
            <a:avLst>
              <a:gd name="adj" fmla="val 2222"/>
            </a:avLst>
          </a:prstGeom>
          <a:solidFill>
            <a:srgbClr val="F8FAFC"/>
          </a:solidFill>
          <a:ln w="19050">
            <a:solidFill>
              <a:srgbClr val="0D9488"/>
            </a:solidFill>
            <a:prstDash val="solid"/>
          </a:ln>
        </p:spPr>
      </p:sp>
      <p:sp>
        <p:nvSpPr>
          <p:cNvPr id="26" name="Text 11"/>
          <p:cNvSpPr/>
          <p:nvPr/>
        </p:nvSpPr>
        <p:spPr>
          <a:xfrm>
            <a:off x="457200" y="3369808"/>
            <a:ext cx="3697448" cy="1274917"/>
          </a:xfrm>
          <a:prstGeom prst="rect">
            <a:avLst/>
          </a:prstGeom>
          <a:noFill/>
          <a:ln/>
        </p:spPr>
        <p:txBody>
          <a:bodyPr wrap="square" rtlCol="0" anchor="ctr"/>
          <a:lstStyle/>
          <a:p>
            <a:pPr algn="just"/>
            <a:r>
              <a:rPr lang="tr-TR" sz="800" dirty="0" smtClean="0">
                <a:cs typeface="Courier New" panose="02070309020205020404" pitchFamily="49" charset="0"/>
              </a:rPr>
              <a:t>Bulgular: Sağ </a:t>
            </a:r>
            <a:r>
              <a:rPr lang="tr-TR" sz="800" dirty="0" err="1" smtClean="0">
                <a:cs typeface="Courier New" panose="02070309020205020404" pitchFamily="49" charset="0"/>
              </a:rPr>
              <a:t>lateral</a:t>
            </a:r>
            <a:r>
              <a:rPr lang="tr-TR" sz="800" dirty="0" smtClean="0">
                <a:cs typeface="Courier New" panose="02070309020205020404" pitchFamily="49" charset="0"/>
              </a:rPr>
              <a:t> </a:t>
            </a:r>
            <a:r>
              <a:rPr lang="tr-TR" sz="800" dirty="0" err="1" smtClean="0">
                <a:cs typeface="Courier New" panose="02070309020205020404" pitchFamily="49" charset="0"/>
              </a:rPr>
              <a:t>ventrikülün</a:t>
            </a:r>
            <a:r>
              <a:rPr lang="tr-TR" sz="800" dirty="0" smtClean="0">
                <a:cs typeface="Courier New" panose="02070309020205020404" pitchFamily="49" charset="0"/>
              </a:rPr>
              <a:t> </a:t>
            </a:r>
            <a:r>
              <a:rPr lang="tr-TR" sz="800" dirty="0" err="1" smtClean="0">
                <a:cs typeface="Courier New" panose="02070309020205020404" pitchFamily="49" charset="0"/>
              </a:rPr>
              <a:t>silvian</a:t>
            </a:r>
            <a:r>
              <a:rPr lang="tr-TR" sz="800" dirty="0" smtClean="0">
                <a:cs typeface="Courier New" panose="02070309020205020404" pitchFamily="49" charset="0"/>
              </a:rPr>
              <a:t> </a:t>
            </a:r>
            <a:r>
              <a:rPr lang="tr-TR" sz="800" dirty="0" err="1" smtClean="0">
                <a:cs typeface="Courier New" panose="02070309020205020404" pitchFamily="49" charset="0"/>
              </a:rPr>
              <a:t>fissür</a:t>
            </a:r>
            <a:r>
              <a:rPr lang="tr-TR" sz="800" dirty="0" smtClean="0">
                <a:cs typeface="Courier New" panose="02070309020205020404" pitchFamily="49" charset="0"/>
              </a:rPr>
              <a:t> düzeyi komşuluğunda, sağ </a:t>
            </a:r>
            <a:r>
              <a:rPr lang="tr-TR" sz="800" dirty="0" err="1" smtClean="0">
                <a:cs typeface="Courier New" panose="02070309020205020404" pitchFamily="49" charset="0"/>
              </a:rPr>
              <a:t>frontal</a:t>
            </a:r>
            <a:r>
              <a:rPr lang="tr-TR" sz="800" dirty="0" smtClean="0">
                <a:cs typeface="Courier New" panose="02070309020205020404" pitchFamily="49" charset="0"/>
              </a:rPr>
              <a:t> ve </a:t>
            </a:r>
            <a:r>
              <a:rPr lang="tr-TR" sz="800" dirty="0" err="1" smtClean="0">
                <a:cs typeface="Courier New" panose="02070309020205020404" pitchFamily="49" charset="0"/>
              </a:rPr>
              <a:t>temporal</a:t>
            </a:r>
            <a:r>
              <a:rPr lang="tr-TR" sz="800" dirty="0" smtClean="0">
                <a:cs typeface="Courier New" panose="02070309020205020404" pitchFamily="49" charset="0"/>
              </a:rPr>
              <a:t> loblarında </a:t>
            </a:r>
            <a:r>
              <a:rPr lang="tr-TR" sz="800" dirty="0" err="1" smtClean="0">
                <a:cs typeface="Courier New" panose="02070309020205020404" pitchFamily="49" charset="0"/>
              </a:rPr>
              <a:t>internal</a:t>
            </a:r>
            <a:r>
              <a:rPr lang="tr-TR" sz="800" dirty="0" smtClean="0">
                <a:cs typeface="Courier New" panose="02070309020205020404" pitchFamily="49" charset="0"/>
              </a:rPr>
              <a:t> kapsül düzeyinde akut </a:t>
            </a:r>
            <a:r>
              <a:rPr lang="tr-TR" sz="800" dirty="0" err="1" smtClean="0">
                <a:cs typeface="Courier New" panose="02070309020205020404" pitchFamily="49" charset="0"/>
              </a:rPr>
              <a:t>iskemik</a:t>
            </a:r>
            <a:r>
              <a:rPr lang="tr-TR" sz="800" dirty="0" smtClean="0">
                <a:cs typeface="Courier New" panose="02070309020205020404" pitchFamily="49" charset="0"/>
              </a:rPr>
              <a:t> sürece </a:t>
            </a:r>
            <a:r>
              <a:rPr lang="tr-TR" sz="800" dirty="0" err="1" smtClean="0">
                <a:cs typeface="Courier New" panose="02070309020205020404" pitchFamily="49" charset="0"/>
              </a:rPr>
              <a:t>sekonder</a:t>
            </a:r>
            <a:r>
              <a:rPr lang="tr-TR" sz="800" dirty="0" smtClean="0">
                <a:cs typeface="Courier New" panose="02070309020205020404" pitchFamily="49" charset="0"/>
              </a:rPr>
              <a:t> </a:t>
            </a:r>
            <a:r>
              <a:rPr lang="tr-TR" sz="800" dirty="0" err="1" smtClean="0">
                <a:cs typeface="Courier New" panose="02070309020205020404" pitchFamily="49" charset="0"/>
              </a:rPr>
              <a:t>fokal</a:t>
            </a:r>
            <a:r>
              <a:rPr lang="tr-TR" sz="800" dirty="0" smtClean="0">
                <a:cs typeface="Courier New" panose="02070309020205020404" pitchFamily="49" charset="0"/>
              </a:rPr>
              <a:t> difüzyon kısıtlaması izlenmektedir. Ayrıca, sol </a:t>
            </a:r>
            <a:r>
              <a:rPr lang="tr-TR" sz="800" dirty="0" err="1" smtClean="0">
                <a:cs typeface="Courier New" panose="02070309020205020404" pitchFamily="49" charset="0"/>
              </a:rPr>
              <a:t>serebellum</a:t>
            </a:r>
            <a:r>
              <a:rPr lang="tr-TR" sz="800" dirty="0" smtClean="0">
                <a:cs typeface="Courier New" panose="02070309020205020404" pitchFamily="49" charset="0"/>
              </a:rPr>
              <a:t> </a:t>
            </a:r>
            <a:r>
              <a:rPr lang="tr-TR" sz="800" dirty="0" err="1" smtClean="0">
                <a:cs typeface="Courier New" panose="02070309020205020404" pitchFamily="49" charset="0"/>
              </a:rPr>
              <a:t>pedunkülünün</a:t>
            </a:r>
            <a:r>
              <a:rPr lang="tr-TR" sz="800" dirty="0" smtClean="0">
                <a:cs typeface="Courier New" panose="02070309020205020404" pitchFamily="49" charset="0"/>
              </a:rPr>
              <a:t> </a:t>
            </a:r>
            <a:r>
              <a:rPr lang="tr-TR" sz="800" dirty="0" err="1" smtClean="0">
                <a:cs typeface="Courier New" panose="02070309020205020404" pitchFamily="49" charset="0"/>
              </a:rPr>
              <a:t>inferior</a:t>
            </a:r>
            <a:r>
              <a:rPr lang="tr-TR" sz="800" dirty="0" smtClean="0">
                <a:cs typeface="Courier New" panose="02070309020205020404" pitchFamily="49" charset="0"/>
              </a:rPr>
              <a:t> kesiminde milimetrik boyutlu </a:t>
            </a:r>
            <a:r>
              <a:rPr lang="tr-TR" sz="800" dirty="0" err="1" smtClean="0">
                <a:cs typeface="Courier New" panose="02070309020205020404" pitchFamily="49" charset="0"/>
              </a:rPr>
              <a:t>nodüler</a:t>
            </a:r>
            <a:r>
              <a:rPr lang="tr-TR" sz="800" dirty="0" smtClean="0">
                <a:cs typeface="Courier New" panose="02070309020205020404" pitchFamily="49" charset="0"/>
              </a:rPr>
              <a:t> akut </a:t>
            </a:r>
            <a:r>
              <a:rPr lang="tr-TR" sz="800" dirty="0" err="1" smtClean="0">
                <a:cs typeface="Courier New" panose="02070309020205020404" pitchFamily="49" charset="0"/>
              </a:rPr>
              <a:t>infarkt</a:t>
            </a:r>
            <a:r>
              <a:rPr lang="tr-TR" sz="800" dirty="0" smtClean="0">
                <a:cs typeface="Courier New" panose="02070309020205020404" pitchFamily="49" charset="0"/>
              </a:rPr>
              <a:t> ile uyumlu alan dikkat çekmektedir. </a:t>
            </a:r>
          </a:p>
          <a:p>
            <a:pPr algn="just"/>
            <a:endParaRPr lang="tr-TR" sz="800" dirty="0" smtClean="0">
              <a:cs typeface="Courier New" panose="02070309020205020404" pitchFamily="49" charset="0"/>
            </a:endParaRPr>
          </a:p>
          <a:p>
            <a:pPr algn="just"/>
            <a:r>
              <a:rPr lang="tr-TR" sz="800" dirty="0" smtClean="0">
                <a:cs typeface="Courier New" panose="02070309020205020404" pitchFamily="49" charset="0"/>
              </a:rPr>
              <a:t>Sonuç: Olguya ait patolojiler bulgular kısmında belirtilmiştir. Klinik, fizik muayene ve laboratuvar verileri ile birlikte korelasyonu önerilir.</a:t>
            </a:r>
            <a:endParaRPr lang="en-US" sz="800" dirty="0">
              <a:cs typeface="Courier New" panose="02070309020205020404" pitchFamily="49" charset="0"/>
            </a:endParaRPr>
          </a:p>
        </p:txBody>
      </p:sp>
      <p:sp>
        <p:nvSpPr>
          <p:cNvPr id="27" name="Text 11"/>
          <p:cNvSpPr/>
          <p:nvPr/>
        </p:nvSpPr>
        <p:spPr>
          <a:xfrm>
            <a:off x="457200" y="2998722"/>
            <a:ext cx="1386700" cy="376414"/>
          </a:xfrm>
          <a:prstGeom prst="rect">
            <a:avLst/>
          </a:prstGeom>
          <a:noFill/>
          <a:ln/>
        </p:spPr>
        <p:txBody>
          <a:bodyPr wrap="square" rtlCol="0" anchor="ctr"/>
          <a:lstStyle/>
          <a:p>
            <a:r>
              <a:rPr lang="tr-TR" sz="1050" b="1" dirty="0" err="1" smtClean="0">
                <a:latin typeface="Courier New" panose="02070309020205020404" pitchFamily="49" charset="0"/>
                <a:cs typeface="Courier New" panose="02070309020205020404" pitchFamily="49" charset="0"/>
              </a:rPr>
              <a:t>Llama</a:t>
            </a:r>
            <a:r>
              <a:rPr lang="tr-TR" sz="1050" b="1" dirty="0" smtClean="0">
                <a:latin typeface="Courier New" panose="02070309020205020404" pitchFamily="49" charset="0"/>
                <a:cs typeface="Courier New" panose="02070309020205020404" pitchFamily="49" charset="0"/>
              </a:rPr>
              <a:t> 8b</a:t>
            </a:r>
            <a:endParaRPr lang="en-US" sz="1050" b="1" dirty="0">
              <a:latin typeface="Courier New" panose="02070309020205020404" pitchFamily="49" charset="0"/>
              <a:cs typeface="Courier New" panose="02070309020205020404" pitchFamily="49" charset="0"/>
            </a:endParaRPr>
          </a:p>
        </p:txBody>
      </p:sp>
      <p:sp>
        <p:nvSpPr>
          <p:cNvPr id="28" name="Text 11"/>
          <p:cNvSpPr/>
          <p:nvPr/>
        </p:nvSpPr>
        <p:spPr>
          <a:xfrm>
            <a:off x="4791372" y="3422917"/>
            <a:ext cx="1386700" cy="376414"/>
          </a:xfrm>
          <a:prstGeom prst="rect">
            <a:avLst/>
          </a:prstGeom>
          <a:noFill/>
          <a:ln/>
        </p:spPr>
        <p:txBody>
          <a:bodyPr wrap="square" rtlCol="0" anchor="ctr"/>
          <a:lstStyle/>
          <a:p>
            <a:r>
              <a:rPr lang="tr-TR" sz="1050" b="1" dirty="0" err="1" smtClean="0">
                <a:latin typeface="Courier New" panose="02070309020205020404" pitchFamily="49" charset="0"/>
                <a:cs typeface="Courier New" panose="02070309020205020404" pitchFamily="49" charset="0"/>
              </a:rPr>
              <a:t>Qwen</a:t>
            </a:r>
            <a:r>
              <a:rPr lang="tr-TR" sz="1050" b="1" dirty="0" smtClean="0">
                <a:latin typeface="Courier New" panose="02070309020205020404" pitchFamily="49" charset="0"/>
                <a:cs typeface="Courier New" panose="02070309020205020404" pitchFamily="49" charset="0"/>
              </a:rPr>
              <a:t> 3b</a:t>
            </a:r>
            <a:endParaRPr lang="en-US" sz="1050" b="1" dirty="0">
              <a:latin typeface="Courier New" panose="02070309020205020404" pitchFamily="49" charset="0"/>
              <a:cs typeface="Courier New" panose="02070309020205020404" pitchFamily="49" charset="0"/>
            </a:endParaRPr>
          </a:p>
        </p:txBody>
      </p:sp>
      <p:sp>
        <p:nvSpPr>
          <p:cNvPr id="29" name="Text 11"/>
          <p:cNvSpPr/>
          <p:nvPr/>
        </p:nvSpPr>
        <p:spPr>
          <a:xfrm>
            <a:off x="4791372" y="3508082"/>
            <a:ext cx="3697448" cy="1274917"/>
          </a:xfrm>
          <a:prstGeom prst="rect">
            <a:avLst/>
          </a:prstGeom>
          <a:noFill/>
          <a:ln/>
        </p:spPr>
        <p:txBody>
          <a:bodyPr wrap="square" rtlCol="0" anchor="ctr"/>
          <a:lstStyle/>
          <a:p>
            <a:pPr algn="just"/>
            <a:r>
              <a:rPr lang="tr-TR" sz="800" dirty="0"/>
              <a:t>Bulgular: Sağda </a:t>
            </a:r>
            <a:r>
              <a:rPr lang="tr-TR" sz="800" dirty="0" err="1"/>
              <a:t>internal</a:t>
            </a:r>
            <a:r>
              <a:rPr lang="tr-TR" sz="800" dirty="0"/>
              <a:t> kapsülün içine uzanan geniş akut </a:t>
            </a:r>
            <a:r>
              <a:rPr lang="tr-TR" sz="800" dirty="0" err="1"/>
              <a:t>iskemi</a:t>
            </a:r>
            <a:r>
              <a:rPr lang="tr-TR" sz="800" dirty="0"/>
              <a:t> lehine difüzyon kısıtlaması alanı izlenmiştir. Bu bulgu, muhtemelen bir akut beyin </a:t>
            </a:r>
            <a:r>
              <a:rPr lang="tr-TR" sz="800" dirty="0" err="1"/>
              <a:t>infarktı</a:t>
            </a:r>
            <a:r>
              <a:rPr lang="tr-TR" sz="800" dirty="0"/>
              <a:t> veya başka bir acil durumun bir sonucu olabilir. </a:t>
            </a:r>
            <a:endParaRPr lang="tr-TR" sz="800" dirty="0" smtClean="0"/>
          </a:p>
          <a:p>
            <a:pPr algn="just"/>
            <a:r>
              <a:rPr lang="tr-TR" sz="800" dirty="0" smtClean="0"/>
              <a:t>Sonuç</a:t>
            </a:r>
            <a:r>
              <a:rPr lang="tr-TR" sz="800" dirty="0"/>
              <a:t>: Olguya ait patolojiler bulgular kısmında belirtilmiştir. Klinik, fizik muayene ve laboratuvar verileri ile birlikte korelasyonu önerilir.</a:t>
            </a:r>
            <a:endParaRPr lang="en-US" sz="800" dirty="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F4B"/>
        </a:solidFill>
        <a:effectLst/>
      </p:bgPr>
    </p:bg>
    <p:spTree>
      <p:nvGrpSpPr>
        <p:cNvPr id="1" name="">
          <a:extLst>
            <a:ext uri="{FF2B5EF4-FFF2-40B4-BE49-F238E27FC236}">
              <a16:creationId xmlns:a16="http://schemas.microsoft.com/office/drawing/2014/main" id="{9916AF6C-F961-A494-A5B4-E7C6B692EF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90CE9D-E122-969D-04A2-93DA3663083C}"/>
              </a:ext>
            </a:extLst>
          </p:cNvPr>
          <p:cNvSpPr/>
          <p:nvPr/>
        </p:nvSpPr>
        <p:spPr>
          <a:xfrm>
            <a:off x="0" y="0"/>
            <a:ext cx="9144000" cy="7315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ABD20C11-61AF-D23C-A932-879DAF8759A6}"/>
              </a:ext>
            </a:extLst>
          </p:cNvPr>
          <p:cNvSpPr/>
          <p:nvPr/>
        </p:nvSpPr>
        <p:spPr>
          <a:xfrm>
            <a:off x="640080" y="502920"/>
            <a:ext cx="7772400" cy="594360"/>
          </a:xfrm>
          <a:prstGeom prst="rect">
            <a:avLst/>
          </a:prstGeom>
          <a:noFill/>
          <a:ln/>
        </p:spPr>
        <p:txBody>
          <a:bodyPr wrap="square" lIns="91440" tIns="45720" rIns="91440" bIns="45720" rtlCol="0" anchor="ctr"/>
          <a:lstStyle/>
          <a:p>
            <a:r>
              <a:rPr lang="en-US" sz="2400" b="1" dirty="0" err="1" smtClean="0">
                <a:solidFill>
                  <a:srgbClr val="FFFFFF"/>
                </a:solidFill>
              </a:rPr>
              <a:t>Karşılaşılan</a:t>
            </a:r>
            <a:r>
              <a:rPr lang="tr-TR" sz="2400" b="1" dirty="0" smtClean="0">
                <a:solidFill>
                  <a:srgbClr val="FFFFFF"/>
                </a:solidFill>
              </a:rPr>
              <a:t> Zorluklar</a:t>
            </a:r>
            <a:r>
              <a:rPr lang="en-US" sz="2400" b="1" dirty="0" smtClean="0">
                <a:solidFill>
                  <a:srgbClr val="FFFFFF"/>
                </a:solidFill>
              </a:rPr>
              <a:t> </a:t>
            </a:r>
            <a:endParaRPr lang="tr-TR" dirty="0"/>
          </a:p>
        </p:txBody>
      </p:sp>
      <p:sp>
        <p:nvSpPr>
          <p:cNvPr id="4" name="Shape 2">
            <a:extLst>
              <a:ext uri="{FF2B5EF4-FFF2-40B4-BE49-F238E27FC236}">
                <a16:creationId xmlns:a16="http://schemas.microsoft.com/office/drawing/2014/main" id="{0E229373-D8A9-1663-4534-A0F47AD5DCA0}"/>
              </a:ext>
            </a:extLst>
          </p:cNvPr>
          <p:cNvSpPr/>
          <p:nvPr/>
        </p:nvSpPr>
        <p:spPr>
          <a:xfrm>
            <a:off x="640080" y="1170432"/>
            <a:ext cx="2743200" cy="0"/>
          </a:xfrm>
          <a:prstGeom prst="line">
            <a:avLst/>
          </a:prstGeom>
          <a:noFill/>
          <a:ln w="25400">
            <a:solidFill>
              <a:srgbClr val="0D9488"/>
            </a:solidFill>
            <a:prstDash val="solid"/>
          </a:ln>
        </p:spPr>
      </p:sp>
      <p:sp>
        <p:nvSpPr>
          <p:cNvPr id="5" name="Text 3">
            <a:extLst>
              <a:ext uri="{FF2B5EF4-FFF2-40B4-BE49-F238E27FC236}">
                <a16:creationId xmlns:a16="http://schemas.microsoft.com/office/drawing/2014/main" id="{8C434260-4376-46F9-5CE2-EF981D16B3C8}"/>
              </a:ext>
            </a:extLst>
          </p:cNvPr>
          <p:cNvSpPr/>
          <p:nvPr/>
        </p:nvSpPr>
        <p:spPr>
          <a:xfrm>
            <a:off x="640080" y="1325880"/>
            <a:ext cx="7863840" cy="347472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rPr>
              <a:t> </a:t>
            </a:r>
            <a:r>
              <a:rPr lang="en-US" sz="1300" dirty="0" err="1">
                <a:solidFill>
                  <a:srgbClr val="CBD5E1"/>
                </a:solidFill>
              </a:rPr>
              <a:t>Veri</a:t>
            </a:r>
            <a:r>
              <a:rPr lang="en-US" sz="1300" dirty="0">
                <a:solidFill>
                  <a:srgbClr val="CBD5E1"/>
                </a:solidFill>
              </a:rPr>
              <a:t> </a:t>
            </a:r>
            <a:r>
              <a:rPr lang="en-US" sz="1300" dirty="0" err="1">
                <a:solidFill>
                  <a:srgbClr val="CBD5E1"/>
                </a:solidFill>
              </a:rPr>
              <a:t>setindeki</a:t>
            </a:r>
            <a:r>
              <a:rPr lang="en-US" sz="1300" dirty="0">
                <a:solidFill>
                  <a:srgbClr val="CBD5E1"/>
                </a:solidFill>
              </a:rPr>
              <a:t> </a:t>
            </a:r>
            <a:r>
              <a:rPr lang="en-US" sz="1300" dirty="0" err="1">
                <a:solidFill>
                  <a:srgbClr val="CBD5E1"/>
                </a:solidFill>
              </a:rPr>
              <a:t>klinik</a:t>
            </a:r>
            <a:r>
              <a:rPr lang="en-US" sz="1300" dirty="0">
                <a:solidFill>
                  <a:srgbClr val="CBD5E1"/>
                </a:solidFill>
              </a:rPr>
              <a:t> </a:t>
            </a:r>
            <a:r>
              <a:rPr lang="en-US" sz="1300" dirty="0" err="1">
                <a:solidFill>
                  <a:srgbClr val="CBD5E1"/>
                </a:solidFill>
              </a:rPr>
              <a:t>alanların</a:t>
            </a:r>
            <a:r>
              <a:rPr lang="en-US" sz="1300" dirty="0">
                <a:solidFill>
                  <a:srgbClr val="CBD5E1"/>
                </a:solidFill>
              </a:rPr>
              <a:t> </a:t>
            </a:r>
            <a:r>
              <a:rPr lang="en-US" sz="1300" dirty="0" err="1">
                <a:solidFill>
                  <a:srgbClr val="CBD5E1"/>
                </a:solidFill>
              </a:rPr>
              <a:t>ve</a:t>
            </a:r>
            <a:r>
              <a:rPr lang="en-US" sz="1300" dirty="0">
                <a:solidFill>
                  <a:srgbClr val="CBD5E1"/>
                </a:solidFill>
              </a:rPr>
              <a:t> </a:t>
            </a:r>
            <a:r>
              <a:rPr lang="en-US" sz="1300" dirty="0" err="1">
                <a:solidFill>
                  <a:srgbClr val="CBD5E1"/>
                </a:solidFill>
              </a:rPr>
              <a:t>rapor</a:t>
            </a:r>
            <a:r>
              <a:rPr lang="en-US" sz="1300" dirty="0">
                <a:solidFill>
                  <a:srgbClr val="CBD5E1"/>
                </a:solidFill>
              </a:rPr>
              <a:t> </a:t>
            </a:r>
            <a:r>
              <a:rPr lang="en-US" sz="1300" dirty="0" err="1">
                <a:solidFill>
                  <a:srgbClr val="CBD5E1"/>
                </a:solidFill>
              </a:rPr>
              <a:t>ifadelerinin</a:t>
            </a:r>
            <a:r>
              <a:rPr lang="en-US" sz="1300" dirty="0">
                <a:solidFill>
                  <a:srgbClr val="CBD5E1"/>
                </a:solidFill>
              </a:rPr>
              <a:t> </a:t>
            </a:r>
            <a:r>
              <a:rPr lang="en-US" sz="1300" dirty="0" err="1">
                <a:solidFill>
                  <a:srgbClr val="CBD5E1"/>
                </a:solidFill>
              </a:rPr>
              <a:t>standartlaştırılması</a:t>
            </a:r>
            <a:r>
              <a:rPr lang="en-US" sz="1300" dirty="0">
                <a:solidFill>
                  <a:srgbClr val="CBD5E1"/>
                </a:solidFill>
              </a:rPr>
              <a:t> </a:t>
            </a:r>
            <a:r>
              <a:rPr lang="en-US" sz="1300" dirty="0" err="1">
                <a:solidFill>
                  <a:srgbClr val="CBD5E1"/>
                </a:solidFill>
              </a:rPr>
              <a:t>gerekmiştir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smtClean="0">
                <a:solidFill>
                  <a:srgbClr val="CBD5E1"/>
                </a:solidFill>
              </a:rPr>
              <a:t>Output </a:t>
            </a:r>
            <a:r>
              <a:rPr lang="en-US" sz="1300" dirty="0" err="1">
                <a:solidFill>
                  <a:srgbClr val="CBD5E1"/>
                </a:solidFill>
              </a:rPr>
              <a:t>kısmındaki</a:t>
            </a:r>
            <a:r>
              <a:rPr lang="en-US" sz="1300" dirty="0">
                <a:solidFill>
                  <a:srgbClr val="CBD5E1"/>
                </a:solidFill>
              </a:rPr>
              <a:t> </a:t>
            </a:r>
            <a:r>
              <a:rPr lang="en-US" sz="1300" dirty="0" err="1">
                <a:solidFill>
                  <a:srgbClr val="CBD5E1"/>
                </a:solidFill>
              </a:rPr>
              <a:t>bazı</a:t>
            </a:r>
            <a:r>
              <a:rPr lang="en-US" sz="1300" dirty="0">
                <a:solidFill>
                  <a:srgbClr val="CBD5E1"/>
                </a:solidFill>
              </a:rPr>
              <a:t> </a:t>
            </a:r>
            <a:r>
              <a:rPr lang="en-US" sz="1300" dirty="0" err="1">
                <a:solidFill>
                  <a:srgbClr val="CBD5E1"/>
                </a:solidFill>
              </a:rPr>
              <a:t>ifadelerin</a:t>
            </a:r>
            <a:r>
              <a:rPr lang="en-US" sz="1300" dirty="0">
                <a:solidFill>
                  <a:srgbClr val="CBD5E1"/>
                </a:solidFill>
              </a:rPr>
              <a:t> tam </a:t>
            </a:r>
            <a:r>
              <a:rPr lang="en-US" sz="1300" dirty="0" err="1">
                <a:solidFill>
                  <a:srgbClr val="CBD5E1"/>
                </a:solidFill>
              </a:rPr>
              <a:t>ve</a:t>
            </a:r>
            <a:r>
              <a:rPr lang="en-US" sz="1300" dirty="0">
                <a:solidFill>
                  <a:srgbClr val="CBD5E1"/>
                </a:solidFill>
              </a:rPr>
              <a:t> </a:t>
            </a:r>
            <a:r>
              <a:rPr lang="en-US" sz="1300" dirty="0" err="1">
                <a:solidFill>
                  <a:srgbClr val="CBD5E1"/>
                </a:solidFill>
              </a:rPr>
              <a:t>doğal</a:t>
            </a:r>
            <a:r>
              <a:rPr lang="en-US" sz="1300" dirty="0">
                <a:solidFill>
                  <a:srgbClr val="CBD5E1"/>
                </a:solidFill>
              </a:rPr>
              <a:t> </a:t>
            </a:r>
            <a:r>
              <a:rPr lang="en-US" sz="1300" dirty="0" err="1">
                <a:solidFill>
                  <a:srgbClr val="CBD5E1"/>
                </a:solidFill>
              </a:rPr>
              <a:t>cümle</a:t>
            </a:r>
            <a:r>
              <a:rPr lang="en-US" sz="1300" dirty="0">
                <a:solidFill>
                  <a:srgbClr val="CBD5E1"/>
                </a:solidFill>
              </a:rPr>
              <a:t> </a:t>
            </a:r>
            <a:r>
              <a:rPr lang="en-US" sz="1300" dirty="0" err="1">
                <a:solidFill>
                  <a:srgbClr val="CBD5E1"/>
                </a:solidFill>
              </a:rPr>
              <a:t>yapısına</a:t>
            </a:r>
            <a:r>
              <a:rPr lang="en-US" sz="1300" dirty="0">
                <a:solidFill>
                  <a:srgbClr val="CBD5E1"/>
                </a:solidFill>
              </a:rPr>
              <a:t> </a:t>
            </a:r>
            <a:r>
              <a:rPr lang="en-US" sz="1300" dirty="0" err="1">
                <a:solidFill>
                  <a:srgbClr val="CBD5E1"/>
                </a:solidFill>
              </a:rPr>
              <a:t>dönüştürülmesi</a:t>
            </a:r>
            <a:r>
              <a:rPr lang="en-US" sz="1300" dirty="0">
                <a:solidFill>
                  <a:srgbClr val="CBD5E1"/>
                </a:solidFill>
              </a:rPr>
              <a:t> </a:t>
            </a:r>
            <a:r>
              <a:rPr lang="en-US" sz="1300" dirty="0" err="1">
                <a:solidFill>
                  <a:srgbClr val="CBD5E1"/>
                </a:solidFill>
              </a:rPr>
              <a:t>gerekmiştir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err="1" smtClean="0">
                <a:solidFill>
                  <a:srgbClr val="CBD5E1"/>
                </a:solidFill>
              </a:rPr>
              <a:t>Türkçe</a:t>
            </a:r>
            <a:r>
              <a:rPr lang="en-US" sz="1300" dirty="0" smtClean="0">
                <a:solidFill>
                  <a:srgbClr val="CBD5E1"/>
                </a:solidFill>
              </a:rPr>
              <a:t> </a:t>
            </a:r>
            <a:r>
              <a:rPr lang="en-US" sz="1300" dirty="0" err="1">
                <a:solidFill>
                  <a:srgbClr val="CBD5E1"/>
                </a:solidFill>
              </a:rPr>
              <a:t>radyoloji</a:t>
            </a:r>
            <a:r>
              <a:rPr lang="en-US" sz="1300" dirty="0">
                <a:solidFill>
                  <a:srgbClr val="CBD5E1"/>
                </a:solidFill>
              </a:rPr>
              <a:t> </a:t>
            </a:r>
            <a:r>
              <a:rPr lang="en-US" sz="1300" dirty="0" err="1">
                <a:solidFill>
                  <a:srgbClr val="CBD5E1"/>
                </a:solidFill>
              </a:rPr>
              <a:t>raporları</a:t>
            </a:r>
            <a:r>
              <a:rPr lang="en-US" sz="1300" dirty="0">
                <a:solidFill>
                  <a:srgbClr val="CBD5E1"/>
                </a:solidFill>
              </a:rPr>
              <a:t> </a:t>
            </a:r>
            <a:r>
              <a:rPr lang="en-US" sz="1300" dirty="0" err="1">
                <a:solidFill>
                  <a:srgbClr val="CBD5E1"/>
                </a:solidFill>
              </a:rPr>
              <a:t>için</a:t>
            </a:r>
            <a:r>
              <a:rPr lang="en-US" sz="1300" dirty="0">
                <a:solidFill>
                  <a:srgbClr val="CBD5E1"/>
                </a:solidFill>
              </a:rPr>
              <a:t> </a:t>
            </a:r>
            <a:r>
              <a:rPr lang="en-US" sz="1300" dirty="0" err="1">
                <a:solidFill>
                  <a:srgbClr val="CBD5E1"/>
                </a:solidFill>
              </a:rPr>
              <a:t>doğrudan</a:t>
            </a:r>
            <a:r>
              <a:rPr lang="en-US" sz="1300" dirty="0">
                <a:solidFill>
                  <a:srgbClr val="CBD5E1"/>
                </a:solidFill>
              </a:rPr>
              <a:t> </a:t>
            </a:r>
            <a:r>
              <a:rPr lang="en-US" sz="1300" dirty="0" err="1">
                <a:solidFill>
                  <a:srgbClr val="CBD5E1"/>
                </a:solidFill>
              </a:rPr>
              <a:t>kullanılabilecek</a:t>
            </a:r>
            <a:r>
              <a:rPr lang="en-US" sz="1300" dirty="0">
                <a:solidFill>
                  <a:srgbClr val="CBD5E1"/>
                </a:solidFill>
              </a:rPr>
              <a:t> </a:t>
            </a:r>
            <a:r>
              <a:rPr lang="en-US" sz="1300" dirty="0" err="1">
                <a:solidFill>
                  <a:srgbClr val="CBD5E1"/>
                </a:solidFill>
              </a:rPr>
              <a:t>güvenilir</a:t>
            </a:r>
            <a:r>
              <a:rPr lang="en-US" sz="1300" dirty="0">
                <a:solidFill>
                  <a:srgbClr val="CBD5E1"/>
                </a:solidFill>
              </a:rPr>
              <a:t> </a:t>
            </a:r>
            <a:r>
              <a:rPr lang="en-US" sz="1300" dirty="0" err="1">
                <a:solidFill>
                  <a:srgbClr val="CBD5E1"/>
                </a:solidFill>
              </a:rPr>
              <a:t>medikal</a:t>
            </a:r>
            <a:r>
              <a:rPr lang="en-US" sz="1300" dirty="0">
                <a:solidFill>
                  <a:srgbClr val="CBD5E1"/>
                </a:solidFill>
              </a:rPr>
              <a:t> </a:t>
            </a:r>
            <a:r>
              <a:rPr lang="en-US" sz="1300" dirty="0" err="1">
                <a:solidFill>
                  <a:srgbClr val="CBD5E1"/>
                </a:solidFill>
              </a:rPr>
              <a:t>metrik</a:t>
            </a:r>
            <a:r>
              <a:rPr lang="en-US" sz="1300" dirty="0">
                <a:solidFill>
                  <a:srgbClr val="CBD5E1"/>
                </a:solidFill>
              </a:rPr>
              <a:t> </a:t>
            </a:r>
            <a:r>
              <a:rPr lang="en-US" sz="1300" dirty="0" err="1">
                <a:solidFill>
                  <a:srgbClr val="CBD5E1"/>
                </a:solidFill>
              </a:rPr>
              <a:t>eksikliği</a:t>
            </a:r>
            <a:r>
              <a:rPr lang="en-US" sz="1300" dirty="0">
                <a:solidFill>
                  <a:srgbClr val="CBD5E1"/>
                </a:solidFill>
              </a:rPr>
              <a:t> </a:t>
            </a:r>
            <a:r>
              <a:rPr lang="en-US" sz="1300" dirty="0" err="1">
                <a:solidFill>
                  <a:srgbClr val="CBD5E1"/>
                </a:solidFill>
              </a:rPr>
              <a:t>yaşanmıştır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smtClean="0">
                <a:solidFill>
                  <a:srgbClr val="CBD5E1"/>
                </a:solidFill>
              </a:rPr>
              <a:t>ROUGE-L </a:t>
            </a:r>
            <a:r>
              <a:rPr lang="en-US" sz="1300" dirty="0" err="1" smtClean="0">
                <a:solidFill>
                  <a:srgbClr val="CBD5E1"/>
                </a:solidFill>
              </a:rPr>
              <a:t>ve</a:t>
            </a:r>
            <a:r>
              <a:rPr lang="tr-TR" sz="1300" dirty="0" smtClean="0">
                <a:solidFill>
                  <a:srgbClr val="CBD5E1"/>
                </a:solidFill>
              </a:rPr>
              <a:t> </a:t>
            </a:r>
            <a:r>
              <a:rPr lang="en-US" sz="1300" dirty="0" err="1" smtClean="0">
                <a:solidFill>
                  <a:srgbClr val="CBD5E1"/>
                </a:solidFill>
              </a:rPr>
              <a:t>BERTScore</a:t>
            </a:r>
            <a:r>
              <a:rPr lang="en-US" sz="1300" dirty="0" smtClean="0">
                <a:solidFill>
                  <a:srgbClr val="CBD5E1"/>
                </a:solidFill>
              </a:rPr>
              <a:t> </a:t>
            </a:r>
            <a:r>
              <a:rPr lang="en-US" sz="1300" dirty="0">
                <a:solidFill>
                  <a:srgbClr val="CBD5E1"/>
                </a:solidFill>
              </a:rPr>
              <a:t>F1 </a:t>
            </a:r>
            <a:r>
              <a:rPr lang="en-US" sz="1300" dirty="0" err="1">
                <a:solidFill>
                  <a:srgbClr val="CBD5E1"/>
                </a:solidFill>
              </a:rPr>
              <a:t>gibi</a:t>
            </a:r>
            <a:r>
              <a:rPr lang="en-US" sz="1300" dirty="0">
                <a:solidFill>
                  <a:srgbClr val="CBD5E1"/>
                </a:solidFill>
              </a:rPr>
              <a:t> </a:t>
            </a:r>
            <a:r>
              <a:rPr lang="en-US" sz="1300" dirty="0" err="1">
                <a:solidFill>
                  <a:srgbClr val="CBD5E1"/>
                </a:solidFill>
              </a:rPr>
              <a:t>metriklerin</a:t>
            </a:r>
            <a:r>
              <a:rPr lang="en-US" sz="1300" dirty="0">
                <a:solidFill>
                  <a:srgbClr val="CBD5E1"/>
                </a:solidFill>
              </a:rPr>
              <a:t> </a:t>
            </a:r>
            <a:r>
              <a:rPr lang="en-US" sz="1300" dirty="0" err="1">
                <a:solidFill>
                  <a:srgbClr val="CBD5E1"/>
                </a:solidFill>
              </a:rPr>
              <a:t>klinik</a:t>
            </a:r>
            <a:r>
              <a:rPr lang="en-US" sz="1300" dirty="0">
                <a:solidFill>
                  <a:srgbClr val="CBD5E1"/>
                </a:solidFill>
              </a:rPr>
              <a:t> </a:t>
            </a:r>
            <a:r>
              <a:rPr lang="en-US" sz="1300" dirty="0" err="1">
                <a:solidFill>
                  <a:srgbClr val="CBD5E1"/>
                </a:solidFill>
              </a:rPr>
              <a:t>doğruluğu</a:t>
            </a:r>
            <a:r>
              <a:rPr lang="en-US" sz="1300" dirty="0">
                <a:solidFill>
                  <a:srgbClr val="CBD5E1"/>
                </a:solidFill>
              </a:rPr>
              <a:t> tam </a:t>
            </a:r>
            <a:r>
              <a:rPr lang="en-US" sz="1300" dirty="0" err="1">
                <a:solidFill>
                  <a:srgbClr val="CBD5E1"/>
                </a:solidFill>
              </a:rPr>
              <a:t>olarak</a:t>
            </a:r>
            <a:r>
              <a:rPr lang="en-US" sz="1300" dirty="0">
                <a:solidFill>
                  <a:srgbClr val="CBD5E1"/>
                </a:solidFill>
              </a:rPr>
              <a:t> </a:t>
            </a:r>
            <a:r>
              <a:rPr lang="en-US" sz="1300" dirty="0" err="1">
                <a:solidFill>
                  <a:srgbClr val="CBD5E1"/>
                </a:solidFill>
              </a:rPr>
              <a:t>ölçememesi</a:t>
            </a:r>
            <a:r>
              <a:rPr lang="en-US" sz="1300" dirty="0">
                <a:solidFill>
                  <a:srgbClr val="CBD5E1"/>
                </a:solidFill>
              </a:rPr>
              <a:t> </a:t>
            </a:r>
            <a:r>
              <a:rPr lang="en-US" sz="1300" dirty="0" err="1">
                <a:solidFill>
                  <a:srgbClr val="CBD5E1"/>
                </a:solidFill>
              </a:rPr>
              <a:t>değerlendirme</a:t>
            </a:r>
            <a:r>
              <a:rPr lang="en-US" sz="1300" dirty="0">
                <a:solidFill>
                  <a:srgbClr val="CBD5E1"/>
                </a:solidFill>
              </a:rPr>
              <a:t> </a:t>
            </a:r>
            <a:r>
              <a:rPr lang="en-US" sz="1300" dirty="0" err="1" smtClean="0">
                <a:solidFill>
                  <a:srgbClr val="CBD5E1"/>
                </a:solidFill>
              </a:rPr>
              <a:t>sürecini</a:t>
            </a:r>
            <a:r>
              <a:rPr lang="tr-TR" sz="1300" dirty="0" smtClean="0">
                <a:solidFill>
                  <a:srgbClr val="CBD5E1"/>
                </a:solidFill>
              </a:rPr>
              <a:t> </a:t>
            </a:r>
            <a:r>
              <a:rPr lang="en-US" sz="1300" dirty="0" err="1" smtClean="0">
                <a:solidFill>
                  <a:srgbClr val="CBD5E1"/>
                </a:solidFill>
              </a:rPr>
              <a:t>zorlaştırmıştır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smtClean="0">
                <a:solidFill>
                  <a:srgbClr val="CBD5E1"/>
                </a:solidFill>
              </a:rPr>
              <a:t>Gemma </a:t>
            </a:r>
            <a:r>
              <a:rPr lang="en-US" sz="1300" dirty="0" err="1">
                <a:solidFill>
                  <a:srgbClr val="CBD5E1"/>
                </a:solidFill>
              </a:rPr>
              <a:t>modelinin</a:t>
            </a:r>
            <a:r>
              <a:rPr lang="en-US" sz="1300" dirty="0">
                <a:solidFill>
                  <a:srgbClr val="CBD5E1"/>
                </a:solidFill>
              </a:rPr>
              <a:t> loss </a:t>
            </a:r>
            <a:r>
              <a:rPr lang="en-US" sz="1300" dirty="0" err="1" smtClean="0">
                <a:solidFill>
                  <a:srgbClr val="CBD5E1"/>
                </a:solidFill>
              </a:rPr>
              <a:t>değeri</a:t>
            </a:r>
            <a:r>
              <a:rPr lang="tr-TR" sz="1300" dirty="0" smtClean="0">
                <a:solidFill>
                  <a:srgbClr val="CBD5E1"/>
                </a:solidFill>
              </a:rPr>
              <a:t> </a:t>
            </a:r>
            <a:r>
              <a:rPr lang="en-US" sz="1300" dirty="0" err="1" smtClean="0">
                <a:solidFill>
                  <a:srgbClr val="CBD5E1"/>
                </a:solidFill>
              </a:rPr>
              <a:t>düşmesine</a:t>
            </a:r>
            <a:r>
              <a:rPr lang="en-US" sz="1300" dirty="0" smtClean="0">
                <a:solidFill>
                  <a:srgbClr val="CBD5E1"/>
                </a:solidFill>
              </a:rPr>
              <a:t> </a:t>
            </a:r>
            <a:r>
              <a:rPr lang="en-US" sz="1300" dirty="0" err="1">
                <a:solidFill>
                  <a:srgbClr val="CBD5E1"/>
                </a:solidFill>
              </a:rPr>
              <a:t>rağmen</a:t>
            </a:r>
            <a:r>
              <a:rPr lang="en-US" sz="1300" dirty="0">
                <a:solidFill>
                  <a:srgbClr val="CBD5E1"/>
                </a:solidFill>
              </a:rPr>
              <a:t> </a:t>
            </a:r>
            <a:r>
              <a:rPr lang="en-US" sz="1300" dirty="0" err="1">
                <a:solidFill>
                  <a:srgbClr val="CBD5E1"/>
                </a:solidFill>
              </a:rPr>
              <a:t>rapor</a:t>
            </a:r>
            <a:r>
              <a:rPr lang="en-US" sz="1300" dirty="0">
                <a:solidFill>
                  <a:srgbClr val="CBD5E1"/>
                </a:solidFill>
              </a:rPr>
              <a:t> </a:t>
            </a:r>
            <a:r>
              <a:rPr lang="en-US" sz="1300" dirty="0" err="1">
                <a:solidFill>
                  <a:srgbClr val="CBD5E1"/>
                </a:solidFill>
              </a:rPr>
              <a:t>üretim</a:t>
            </a:r>
            <a:r>
              <a:rPr lang="en-US" sz="1300" dirty="0">
                <a:solidFill>
                  <a:srgbClr val="CBD5E1"/>
                </a:solidFill>
              </a:rPr>
              <a:t> </a:t>
            </a:r>
            <a:r>
              <a:rPr lang="en-US" sz="1300" dirty="0" err="1">
                <a:solidFill>
                  <a:srgbClr val="CBD5E1"/>
                </a:solidFill>
              </a:rPr>
              <a:t>performansı</a:t>
            </a:r>
            <a:r>
              <a:rPr lang="en-US" sz="1300" dirty="0">
                <a:solidFill>
                  <a:srgbClr val="CBD5E1"/>
                </a:solidFill>
              </a:rPr>
              <a:t> </a:t>
            </a:r>
            <a:r>
              <a:rPr lang="en-US" sz="1300" dirty="0" err="1">
                <a:solidFill>
                  <a:srgbClr val="CBD5E1"/>
                </a:solidFill>
              </a:rPr>
              <a:t>düşük</a:t>
            </a:r>
            <a:r>
              <a:rPr lang="en-US" sz="1300" dirty="0">
                <a:solidFill>
                  <a:srgbClr val="CBD5E1"/>
                </a:solidFill>
              </a:rPr>
              <a:t> </a:t>
            </a:r>
            <a:r>
              <a:rPr lang="en-US" sz="1300" dirty="0" err="1" smtClean="0">
                <a:solidFill>
                  <a:srgbClr val="CBD5E1"/>
                </a:solidFill>
              </a:rPr>
              <a:t>kalmıştır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smtClean="0">
                <a:solidFill>
                  <a:srgbClr val="CBD5E1"/>
                </a:solidFill>
              </a:rPr>
              <a:t>Gemma </a:t>
            </a:r>
            <a:r>
              <a:rPr lang="en-US" sz="1300" dirty="0" err="1">
                <a:solidFill>
                  <a:srgbClr val="CBD5E1"/>
                </a:solidFill>
              </a:rPr>
              <a:t>modelinin</a:t>
            </a:r>
            <a:r>
              <a:rPr lang="en-US" sz="1300" dirty="0">
                <a:solidFill>
                  <a:srgbClr val="CBD5E1"/>
                </a:solidFill>
              </a:rPr>
              <a:t> </a:t>
            </a:r>
            <a:r>
              <a:rPr lang="en-US" sz="1300" dirty="0" err="1" smtClean="0">
                <a:solidFill>
                  <a:srgbClr val="CBD5E1"/>
                </a:solidFill>
              </a:rPr>
              <a:t>mevcut</a:t>
            </a:r>
            <a:r>
              <a:rPr lang="tr-TR" sz="1300" dirty="0" smtClean="0">
                <a:solidFill>
                  <a:srgbClr val="CBD5E1"/>
                </a:solidFill>
              </a:rPr>
              <a:t> </a:t>
            </a:r>
            <a:r>
              <a:rPr lang="en-US" sz="1300" dirty="0" err="1" smtClean="0">
                <a:solidFill>
                  <a:srgbClr val="CBD5E1"/>
                </a:solidFill>
              </a:rPr>
              <a:t>veri</a:t>
            </a:r>
            <a:r>
              <a:rPr lang="en-US" sz="1300" dirty="0" smtClean="0">
                <a:solidFill>
                  <a:srgbClr val="CBD5E1"/>
                </a:solidFill>
              </a:rPr>
              <a:t> </a:t>
            </a:r>
            <a:r>
              <a:rPr lang="en-US" sz="1300" dirty="0" err="1">
                <a:solidFill>
                  <a:srgbClr val="CBD5E1"/>
                </a:solidFill>
              </a:rPr>
              <a:t>seti</a:t>
            </a:r>
            <a:r>
              <a:rPr lang="en-US" sz="1300" dirty="0">
                <a:solidFill>
                  <a:srgbClr val="CBD5E1"/>
                </a:solidFill>
              </a:rPr>
              <a:t> </a:t>
            </a:r>
            <a:r>
              <a:rPr lang="en-US" sz="1300" dirty="0" err="1">
                <a:solidFill>
                  <a:srgbClr val="CBD5E1"/>
                </a:solidFill>
              </a:rPr>
              <a:t>ve</a:t>
            </a:r>
            <a:r>
              <a:rPr lang="en-US" sz="1300" dirty="0">
                <a:solidFill>
                  <a:srgbClr val="CBD5E1"/>
                </a:solidFill>
              </a:rPr>
              <a:t> </a:t>
            </a:r>
            <a:r>
              <a:rPr lang="en-US" sz="1300" dirty="0" err="1">
                <a:solidFill>
                  <a:srgbClr val="CBD5E1"/>
                </a:solidFill>
              </a:rPr>
              <a:t>eğitim</a:t>
            </a:r>
            <a:r>
              <a:rPr lang="en-US" sz="1300" dirty="0">
                <a:solidFill>
                  <a:srgbClr val="CBD5E1"/>
                </a:solidFill>
              </a:rPr>
              <a:t> </a:t>
            </a:r>
            <a:r>
              <a:rPr lang="en-US" sz="1300" dirty="0" err="1">
                <a:solidFill>
                  <a:srgbClr val="CBD5E1"/>
                </a:solidFill>
              </a:rPr>
              <a:t>yapılandırmasına</a:t>
            </a:r>
            <a:r>
              <a:rPr lang="en-US" sz="1300" dirty="0">
                <a:solidFill>
                  <a:srgbClr val="CBD5E1"/>
                </a:solidFill>
              </a:rPr>
              <a:t> </a:t>
            </a:r>
            <a:r>
              <a:rPr lang="en-US" sz="1300" dirty="0" err="1">
                <a:solidFill>
                  <a:srgbClr val="CBD5E1"/>
                </a:solidFill>
              </a:rPr>
              <a:t>yeterince</a:t>
            </a:r>
            <a:r>
              <a:rPr lang="en-US" sz="1300" dirty="0">
                <a:solidFill>
                  <a:srgbClr val="CBD5E1"/>
                </a:solidFill>
              </a:rPr>
              <a:t> </a:t>
            </a:r>
            <a:r>
              <a:rPr lang="en-US" sz="1300" dirty="0" err="1">
                <a:solidFill>
                  <a:srgbClr val="CBD5E1"/>
                </a:solidFill>
              </a:rPr>
              <a:t>uyum</a:t>
            </a:r>
            <a:r>
              <a:rPr lang="en-US" sz="1300" dirty="0">
                <a:solidFill>
                  <a:srgbClr val="CBD5E1"/>
                </a:solidFill>
              </a:rPr>
              <a:t> </a:t>
            </a:r>
            <a:r>
              <a:rPr lang="en-US" sz="1300" dirty="0" err="1">
                <a:solidFill>
                  <a:srgbClr val="CBD5E1"/>
                </a:solidFill>
              </a:rPr>
              <a:t>sağlayamadığı</a:t>
            </a:r>
            <a:r>
              <a:rPr lang="en-US" sz="1300" dirty="0">
                <a:solidFill>
                  <a:srgbClr val="CBD5E1"/>
                </a:solidFill>
              </a:rPr>
              <a:t> </a:t>
            </a:r>
            <a:r>
              <a:rPr lang="en-US" sz="1300" dirty="0" err="1">
                <a:solidFill>
                  <a:srgbClr val="CBD5E1"/>
                </a:solidFill>
              </a:rPr>
              <a:t>görülmüştür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err="1" smtClean="0">
                <a:solidFill>
                  <a:srgbClr val="CBD5E1"/>
                </a:solidFill>
              </a:rPr>
              <a:t>Başlangıçta</a:t>
            </a:r>
            <a:r>
              <a:rPr lang="en-US" sz="1300" dirty="0" smtClean="0">
                <a:solidFill>
                  <a:srgbClr val="CBD5E1"/>
                </a:solidFill>
              </a:rPr>
              <a:t> </a:t>
            </a:r>
            <a:r>
              <a:rPr lang="en-US" sz="1300" dirty="0" err="1">
                <a:solidFill>
                  <a:srgbClr val="CBD5E1"/>
                </a:solidFill>
              </a:rPr>
              <a:t>planlanan</a:t>
            </a:r>
            <a:r>
              <a:rPr lang="en-US" sz="1300" dirty="0">
                <a:solidFill>
                  <a:srgbClr val="CBD5E1"/>
                </a:solidFill>
              </a:rPr>
              <a:t> </a:t>
            </a:r>
            <a:r>
              <a:rPr lang="en-US" sz="1300" dirty="0" err="1">
                <a:solidFill>
                  <a:srgbClr val="CBD5E1"/>
                </a:solidFill>
              </a:rPr>
              <a:t>geniş</a:t>
            </a:r>
            <a:r>
              <a:rPr lang="en-US" sz="1300" dirty="0">
                <a:solidFill>
                  <a:srgbClr val="CBD5E1"/>
                </a:solidFill>
              </a:rPr>
              <a:t> pipeline, zaman </a:t>
            </a:r>
            <a:r>
              <a:rPr lang="en-US" sz="1300" dirty="0" err="1">
                <a:solidFill>
                  <a:srgbClr val="CBD5E1"/>
                </a:solidFill>
              </a:rPr>
              <a:t>ve</a:t>
            </a:r>
            <a:r>
              <a:rPr lang="en-US" sz="1300" dirty="0">
                <a:solidFill>
                  <a:srgbClr val="CBD5E1"/>
                </a:solidFill>
              </a:rPr>
              <a:t> </a:t>
            </a:r>
            <a:r>
              <a:rPr lang="en-US" sz="1300" dirty="0" err="1">
                <a:solidFill>
                  <a:srgbClr val="CBD5E1"/>
                </a:solidFill>
              </a:rPr>
              <a:t>kaynak</a:t>
            </a:r>
            <a:r>
              <a:rPr lang="en-US" sz="1300" dirty="0">
                <a:solidFill>
                  <a:srgbClr val="CBD5E1"/>
                </a:solidFill>
              </a:rPr>
              <a:t> </a:t>
            </a:r>
            <a:r>
              <a:rPr lang="en-US" sz="1300" dirty="0" err="1">
                <a:solidFill>
                  <a:srgbClr val="CBD5E1"/>
                </a:solidFill>
              </a:rPr>
              <a:t>kısıtları</a:t>
            </a:r>
            <a:r>
              <a:rPr lang="en-US" sz="1300" dirty="0">
                <a:solidFill>
                  <a:srgbClr val="CBD5E1"/>
                </a:solidFill>
              </a:rPr>
              <a:t> </a:t>
            </a:r>
            <a:r>
              <a:rPr lang="en-US" sz="1300" dirty="0" err="1">
                <a:solidFill>
                  <a:srgbClr val="CBD5E1"/>
                </a:solidFill>
              </a:rPr>
              <a:t>nedeniyle</a:t>
            </a:r>
            <a:r>
              <a:rPr lang="en-US" sz="1300" dirty="0">
                <a:solidFill>
                  <a:srgbClr val="CBD5E1"/>
                </a:solidFill>
              </a:rPr>
              <a:t> </a:t>
            </a:r>
            <a:r>
              <a:rPr lang="en-US" sz="1300" dirty="0" err="1">
                <a:solidFill>
                  <a:srgbClr val="CBD5E1"/>
                </a:solidFill>
              </a:rPr>
              <a:t>tamamen</a:t>
            </a:r>
            <a:r>
              <a:rPr lang="en-US" sz="1300" dirty="0">
                <a:solidFill>
                  <a:srgbClr val="CBD5E1"/>
                </a:solidFill>
              </a:rPr>
              <a:t> </a:t>
            </a:r>
            <a:r>
              <a:rPr lang="en-US" sz="1300" dirty="0" err="1" smtClean="0">
                <a:solidFill>
                  <a:srgbClr val="CBD5E1"/>
                </a:solidFill>
              </a:rPr>
              <a:t>uygulanamamıştır</a:t>
            </a:r>
            <a:r>
              <a:rPr lang="en-US" sz="1300" dirty="0" smtClean="0">
                <a:solidFill>
                  <a:srgbClr val="CBD5E1"/>
                </a:solidFill>
              </a:rPr>
              <a:t>.</a:t>
            </a:r>
            <a:endParaRPr lang="tr-TR" sz="1300" dirty="0" smtClean="0">
              <a:solidFill>
                <a:srgbClr val="CBD5E1"/>
              </a:solidFill>
            </a:endParaRPr>
          </a:p>
          <a:p>
            <a:pPr marL="342900" indent="-342900">
              <a:spcAft>
                <a:spcPts val="600"/>
              </a:spcAft>
              <a:buSzPct val="100000"/>
              <a:buChar char="•"/>
            </a:pPr>
            <a:r>
              <a:rPr lang="en-US" sz="1300" dirty="0" smtClean="0">
                <a:solidFill>
                  <a:srgbClr val="CBD5E1"/>
                </a:solidFill>
              </a:rPr>
              <a:t>Continual </a:t>
            </a:r>
            <a:r>
              <a:rPr lang="en-US" sz="1300" dirty="0">
                <a:solidFill>
                  <a:srgbClr val="CBD5E1"/>
                </a:solidFill>
              </a:rPr>
              <a:t>pre-training </a:t>
            </a:r>
            <a:r>
              <a:rPr lang="en-US" sz="1300" dirty="0" err="1">
                <a:solidFill>
                  <a:srgbClr val="CBD5E1"/>
                </a:solidFill>
              </a:rPr>
              <a:t>ve</a:t>
            </a:r>
            <a:r>
              <a:rPr lang="en-US" sz="1300" dirty="0">
                <a:solidFill>
                  <a:srgbClr val="CBD5E1"/>
                </a:solidFill>
              </a:rPr>
              <a:t> DPO </a:t>
            </a:r>
            <a:r>
              <a:rPr lang="en-US" sz="1300" dirty="0" err="1">
                <a:solidFill>
                  <a:srgbClr val="CBD5E1"/>
                </a:solidFill>
              </a:rPr>
              <a:t>aşamaları</a:t>
            </a:r>
            <a:r>
              <a:rPr lang="en-US" sz="1300" dirty="0">
                <a:solidFill>
                  <a:srgbClr val="CBD5E1"/>
                </a:solidFill>
              </a:rPr>
              <a:t> </a:t>
            </a:r>
            <a:r>
              <a:rPr lang="en-US" sz="1300" dirty="0" err="1">
                <a:solidFill>
                  <a:srgbClr val="CBD5E1"/>
                </a:solidFill>
              </a:rPr>
              <a:t>için</a:t>
            </a:r>
            <a:r>
              <a:rPr lang="en-US" sz="1300" dirty="0">
                <a:solidFill>
                  <a:srgbClr val="CBD5E1"/>
                </a:solidFill>
              </a:rPr>
              <a:t> </a:t>
            </a:r>
            <a:r>
              <a:rPr lang="en-US" sz="1300" dirty="0" err="1">
                <a:solidFill>
                  <a:srgbClr val="CBD5E1"/>
                </a:solidFill>
              </a:rPr>
              <a:t>daha</a:t>
            </a:r>
            <a:r>
              <a:rPr lang="en-US" sz="1300" dirty="0">
                <a:solidFill>
                  <a:srgbClr val="CBD5E1"/>
                </a:solidFill>
              </a:rPr>
              <a:t> </a:t>
            </a:r>
            <a:r>
              <a:rPr lang="en-US" sz="1300" dirty="0" err="1">
                <a:solidFill>
                  <a:srgbClr val="CBD5E1"/>
                </a:solidFill>
              </a:rPr>
              <a:t>fazla</a:t>
            </a:r>
            <a:r>
              <a:rPr lang="en-US" sz="1300" dirty="0">
                <a:solidFill>
                  <a:srgbClr val="CBD5E1"/>
                </a:solidFill>
              </a:rPr>
              <a:t> </a:t>
            </a:r>
            <a:r>
              <a:rPr lang="en-US" sz="1300" dirty="0" err="1">
                <a:solidFill>
                  <a:srgbClr val="CBD5E1"/>
                </a:solidFill>
              </a:rPr>
              <a:t>veri</a:t>
            </a:r>
            <a:r>
              <a:rPr lang="en-US" sz="1300" dirty="0">
                <a:solidFill>
                  <a:srgbClr val="CBD5E1"/>
                </a:solidFill>
              </a:rPr>
              <a:t>, </a:t>
            </a:r>
            <a:r>
              <a:rPr lang="en-US" sz="1300" dirty="0" err="1">
                <a:solidFill>
                  <a:srgbClr val="CBD5E1"/>
                </a:solidFill>
              </a:rPr>
              <a:t>tercih</a:t>
            </a:r>
            <a:r>
              <a:rPr lang="en-US" sz="1300" dirty="0">
                <a:solidFill>
                  <a:srgbClr val="CBD5E1"/>
                </a:solidFill>
              </a:rPr>
              <a:t> </a:t>
            </a:r>
            <a:r>
              <a:rPr lang="en-US" sz="1300" dirty="0" err="1">
                <a:solidFill>
                  <a:srgbClr val="CBD5E1"/>
                </a:solidFill>
              </a:rPr>
              <a:t>verisi</a:t>
            </a:r>
            <a:r>
              <a:rPr lang="en-US" sz="1300" dirty="0">
                <a:solidFill>
                  <a:srgbClr val="CBD5E1"/>
                </a:solidFill>
              </a:rPr>
              <a:t> </a:t>
            </a:r>
            <a:r>
              <a:rPr lang="en-US" sz="1300" dirty="0" err="1">
                <a:solidFill>
                  <a:srgbClr val="CBD5E1"/>
                </a:solidFill>
              </a:rPr>
              <a:t>ve</a:t>
            </a:r>
            <a:r>
              <a:rPr lang="en-US" sz="1300" dirty="0">
                <a:solidFill>
                  <a:srgbClr val="CBD5E1"/>
                </a:solidFill>
              </a:rPr>
              <a:t> </a:t>
            </a:r>
            <a:r>
              <a:rPr lang="en-US" sz="1300" dirty="0" err="1">
                <a:solidFill>
                  <a:srgbClr val="CBD5E1"/>
                </a:solidFill>
              </a:rPr>
              <a:t>eğitim</a:t>
            </a:r>
            <a:r>
              <a:rPr lang="en-US" sz="1300" dirty="0">
                <a:solidFill>
                  <a:srgbClr val="CBD5E1"/>
                </a:solidFill>
              </a:rPr>
              <a:t> </a:t>
            </a:r>
            <a:r>
              <a:rPr lang="en-US" sz="1300" dirty="0" err="1">
                <a:solidFill>
                  <a:srgbClr val="CBD5E1"/>
                </a:solidFill>
              </a:rPr>
              <a:t>süresi</a:t>
            </a:r>
            <a:r>
              <a:rPr lang="en-US" sz="1300" dirty="0">
                <a:solidFill>
                  <a:srgbClr val="CBD5E1"/>
                </a:solidFill>
              </a:rPr>
              <a:t> </a:t>
            </a:r>
            <a:r>
              <a:rPr lang="en-US" sz="1300" dirty="0" err="1" smtClean="0">
                <a:solidFill>
                  <a:srgbClr val="CBD5E1"/>
                </a:solidFill>
              </a:rPr>
              <a:t>gerektiği</a:t>
            </a:r>
            <a:r>
              <a:rPr lang="tr-TR" sz="1300" dirty="0" smtClean="0">
                <a:solidFill>
                  <a:srgbClr val="CBD5E1"/>
                </a:solidFill>
              </a:rPr>
              <a:t> </a:t>
            </a:r>
            <a:r>
              <a:rPr lang="en-US" sz="1300" dirty="0" err="1" smtClean="0">
                <a:solidFill>
                  <a:srgbClr val="CBD5E1"/>
                </a:solidFill>
              </a:rPr>
              <a:t>görülmüştür</a:t>
            </a:r>
            <a:r>
              <a:rPr lang="en-US" sz="1300" dirty="0" smtClean="0">
                <a:solidFill>
                  <a:srgbClr val="CBD5E1"/>
                </a:solidFill>
              </a:rPr>
              <a:t>.</a:t>
            </a:r>
            <a:endParaRPr lang="en-US" sz="1300" dirty="0"/>
          </a:p>
        </p:txBody>
      </p:sp>
      <p:sp>
        <p:nvSpPr>
          <p:cNvPr id="6" name="Shape 4">
            <a:extLst>
              <a:ext uri="{FF2B5EF4-FFF2-40B4-BE49-F238E27FC236}">
                <a16:creationId xmlns:a16="http://schemas.microsoft.com/office/drawing/2014/main" id="{3749F74C-A360-3654-2B38-6F85311FA915}"/>
              </a:ext>
            </a:extLst>
          </p:cNvPr>
          <p:cNvSpPr/>
          <p:nvPr/>
        </p:nvSpPr>
        <p:spPr>
          <a:xfrm>
            <a:off x="0" y="5070348"/>
            <a:ext cx="9144000" cy="73152"/>
          </a:xfrm>
          <a:prstGeom prst="rect">
            <a:avLst/>
          </a:prstGeom>
          <a:solidFill>
            <a:srgbClr val="0D9488"/>
          </a:solidFill>
          <a:ln w="12700">
            <a:solidFill>
              <a:srgbClr val="0D9488"/>
            </a:solidFill>
            <a:prstDash val="solid"/>
          </a:ln>
        </p:spPr>
      </p:sp>
    </p:spTree>
    <p:extLst>
      <p:ext uri="{BB962C8B-B14F-4D97-AF65-F5344CB8AC3E}">
        <p14:creationId xmlns:p14="http://schemas.microsoft.com/office/powerpoint/2010/main" val="23901298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F4B"/>
        </a:solidFill>
        <a:effectLst/>
      </p:bgPr>
    </p:bg>
    <p:spTree>
      <p:nvGrpSpPr>
        <p:cNvPr id="1" name="">
          <a:extLst>
            <a:ext uri="{FF2B5EF4-FFF2-40B4-BE49-F238E27FC236}">
              <a16:creationId xmlns:a16="http://schemas.microsoft.com/office/drawing/2014/main" id="{72096DC2-3924-8656-A2E9-946168FD66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EA2AAA-882B-0BBD-955E-C1D2F2ED6798}"/>
              </a:ext>
            </a:extLst>
          </p:cNvPr>
          <p:cNvSpPr/>
          <p:nvPr/>
        </p:nvSpPr>
        <p:spPr>
          <a:xfrm>
            <a:off x="0" y="0"/>
            <a:ext cx="9144000" cy="7315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444B5836-E607-28FD-7C53-0CE5B086C5A0}"/>
              </a:ext>
            </a:extLst>
          </p:cNvPr>
          <p:cNvSpPr/>
          <p:nvPr/>
        </p:nvSpPr>
        <p:spPr>
          <a:xfrm>
            <a:off x="640080" y="502920"/>
            <a:ext cx="7772400" cy="594360"/>
          </a:xfrm>
          <a:prstGeom prst="rect">
            <a:avLst/>
          </a:prstGeom>
          <a:noFill/>
          <a:ln/>
        </p:spPr>
        <p:txBody>
          <a:bodyPr wrap="square" lIns="91440" tIns="45720" rIns="91440" bIns="45720" rtlCol="0" anchor="ctr"/>
          <a:lstStyle/>
          <a:p>
            <a:r>
              <a:rPr lang="tr-TR" sz="2400" b="1" dirty="0" smtClean="0">
                <a:solidFill>
                  <a:srgbClr val="FFFFFF"/>
                </a:solidFill>
              </a:rPr>
              <a:t>Sonuç ve Çıkarımlar</a:t>
            </a:r>
            <a:endParaRPr lang="tr-TR" dirty="0"/>
          </a:p>
        </p:txBody>
      </p:sp>
      <p:sp>
        <p:nvSpPr>
          <p:cNvPr id="4" name="Shape 2">
            <a:extLst>
              <a:ext uri="{FF2B5EF4-FFF2-40B4-BE49-F238E27FC236}">
                <a16:creationId xmlns:a16="http://schemas.microsoft.com/office/drawing/2014/main" id="{23C6C94C-5F85-7448-34A0-06CD198358D9}"/>
              </a:ext>
            </a:extLst>
          </p:cNvPr>
          <p:cNvSpPr/>
          <p:nvPr/>
        </p:nvSpPr>
        <p:spPr>
          <a:xfrm>
            <a:off x="640080" y="1170432"/>
            <a:ext cx="2743200" cy="0"/>
          </a:xfrm>
          <a:prstGeom prst="line">
            <a:avLst/>
          </a:prstGeom>
          <a:noFill/>
          <a:ln w="25400">
            <a:solidFill>
              <a:srgbClr val="0D9488"/>
            </a:solidFill>
            <a:prstDash val="solid"/>
          </a:ln>
        </p:spPr>
      </p:sp>
      <p:sp>
        <p:nvSpPr>
          <p:cNvPr id="5" name="Text 3">
            <a:extLst>
              <a:ext uri="{FF2B5EF4-FFF2-40B4-BE49-F238E27FC236}">
                <a16:creationId xmlns:a16="http://schemas.microsoft.com/office/drawing/2014/main" id="{92AB729C-4985-C7FC-8CCE-6D609CCBF1EB}"/>
              </a:ext>
            </a:extLst>
          </p:cNvPr>
          <p:cNvSpPr/>
          <p:nvPr/>
        </p:nvSpPr>
        <p:spPr>
          <a:xfrm>
            <a:off x="640080" y="1325880"/>
            <a:ext cx="7863840" cy="3474720"/>
          </a:xfrm>
          <a:prstGeom prst="rect">
            <a:avLst/>
          </a:prstGeom>
          <a:noFill/>
          <a:ln/>
        </p:spPr>
        <p:txBody>
          <a:bodyPr wrap="square" rtlCol="0" anchor="ctr"/>
          <a:lstStyle/>
          <a:p>
            <a:pPr marL="342900" indent="-342900">
              <a:spcAft>
                <a:spcPts val="600"/>
              </a:spcAft>
              <a:buSzPct val="100000"/>
              <a:buChar char="•"/>
            </a:pPr>
            <a:r>
              <a:rPr lang="en-US" sz="1300" dirty="0" err="1">
                <a:solidFill>
                  <a:srgbClr val="CBD5E1"/>
                </a:solidFill>
              </a:rPr>
              <a:t>Veri</a:t>
            </a:r>
            <a:r>
              <a:rPr lang="en-US" sz="1300" dirty="0">
                <a:solidFill>
                  <a:srgbClr val="CBD5E1"/>
                </a:solidFill>
              </a:rPr>
              <a:t> </a:t>
            </a:r>
            <a:r>
              <a:rPr lang="en-US" sz="1300" dirty="0" err="1">
                <a:solidFill>
                  <a:srgbClr val="CBD5E1"/>
                </a:solidFill>
              </a:rPr>
              <a:t>kalitesi</a:t>
            </a:r>
            <a:r>
              <a:rPr lang="en-US" sz="1300" dirty="0">
                <a:solidFill>
                  <a:srgbClr val="CBD5E1"/>
                </a:solidFill>
              </a:rPr>
              <a:t> </a:t>
            </a:r>
            <a:r>
              <a:rPr lang="en-US" sz="1300" dirty="0" err="1">
                <a:solidFill>
                  <a:srgbClr val="CBD5E1"/>
                </a:solidFill>
              </a:rPr>
              <a:t>ve</a:t>
            </a:r>
            <a:r>
              <a:rPr lang="en-US" sz="1300" dirty="0">
                <a:solidFill>
                  <a:srgbClr val="CBD5E1"/>
                </a:solidFill>
              </a:rPr>
              <a:t> instruction </a:t>
            </a:r>
            <a:r>
              <a:rPr lang="en-US" sz="1300" dirty="0" err="1">
                <a:solidFill>
                  <a:srgbClr val="CBD5E1"/>
                </a:solidFill>
              </a:rPr>
              <a:t>formatı</a:t>
            </a:r>
            <a:r>
              <a:rPr lang="en-US" sz="1300" dirty="0">
                <a:solidFill>
                  <a:srgbClr val="CBD5E1"/>
                </a:solidFill>
              </a:rPr>
              <a:t>, model </a:t>
            </a:r>
            <a:r>
              <a:rPr lang="en-US" sz="1300" dirty="0" err="1">
                <a:solidFill>
                  <a:srgbClr val="CBD5E1"/>
                </a:solidFill>
              </a:rPr>
              <a:t>boyutundan</a:t>
            </a:r>
            <a:r>
              <a:rPr lang="en-US" sz="1300" dirty="0">
                <a:solidFill>
                  <a:srgbClr val="CBD5E1"/>
                </a:solidFill>
              </a:rPr>
              <a:t> </a:t>
            </a:r>
            <a:r>
              <a:rPr lang="en-US" sz="1300" dirty="0" err="1">
                <a:solidFill>
                  <a:srgbClr val="CBD5E1"/>
                </a:solidFill>
              </a:rPr>
              <a:t>daha</a:t>
            </a:r>
            <a:r>
              <a:rPr lang="en-US" sz="1300" dirty="0">
                <a:solidFill>
                  <a:srgbClr val="CBD5E1"/>
                </a:solidFill>
              </a:rPr>
              <a:t> </a:t>
            </a:r>
            <a:r>
              <a:rPr lang="en-US" sz="1300" dirty="0" err="1">
                <a:solidFill>
                  <a:srgbClr val="CBD5E1"/>
                </a:solidFill>
              </a:rPr>
              <a:t>belirleyici</a:t>
            </a:r>
            <a:r>
              <a:rPr lang="en-US" sz="1300" dirty="0">
                <a:solidFill>
                  <a:srgbClr val="CBD5E1"/>
                </a:solidFill>
              </a:rPr>
              <a:t> </a:t>
            </a:r>
            <a:r>
              <a:rPr lang="en-US" sz="1300" dirty="0" err="1">
                <a:solidFill>
                  <a:srgbClr val="CBD5E1"/>
                </a:solidFill>
              </a:rPr>
              <a:t>oldu</a:t>
            </a:r>
            <a:r>
              <a:rPr lang="en-US" sz="1300" dirty="0">
                <a:solidFill>
                  <a:srgbClr val="CBD5E1"/>
                </a:solidFill>
              </a:rPr>
              <a:t>.</a:t>
            </a:r>
            <a:endParaRPr lang="en-US" sz="1300" dirty="0"/>
          </a:p>
          <a:p>
            <a:pPr marL="342900" indent="-342900">
              <a:spcAft>
                <a:spcPts val="600"/>
              </a:spcAft>
              <a:buSzPct val="100000"/>
              <a:buChar char="•"/>
            </a:pPr>
            <a:r>
              <a:rPr lang="en-US" sz="1300" dirty="0">
                <a:solidFill>
                  <a:srgbClr val="CBD5E1"/>
                </a:solidFill>
              </a:rPr>
              <a:t>Llama 3B: </a:t>
            </a:r>
            <a:r>
              <a:rPr lang="en-US" sz="1300" dirty="0" err="1">
                <a:solidFill>
                  <a:srgbClr val="CBD5E1"/>
                </a:solidFill>
              </a:rPr>
              <a:t>mevcut</a:t>
            </a:r>
            <a:r>
              <a:rPr lang="en-US" sz="1300" dirty="0">
                <a:solidFill>
                  <a:srgbClr val="CBD5E1"/>
                </a:solidFill>
              </a:rPr>
              <a:t> </a:t>
            </a:r>
            <a:r>
              <a:rPr lang="en-US" sz="1300" dirty="0" err="1">
                <a:solidFill>
                  <a:srgbClr val="CBD5E1"/>
                </a:solidFill>
              </a:rPr>
              <a:t>küçük-kaliteli</a:t>
            </a:r>
            <a:r>
              <a:rPr lang="en-US" sz="1300" dirty="0">
                <a:solidFill>
                  <a:srgbClr val="CBD5E1"/>
                </a:solidFill>
              </a:rPr>
              <a:t> </a:t>
            </a:r>
            <a:r>
              <a:rPr lang="en-US" sz="1300" dirty="0" err="1">
                <a:solidFill>
                  <a:srgbClr val="CBD5E1"/>
                </a:solidFill>
              </a:rPr>
              <a:t>veri</a:t>
            </a:r>
            <a:r>
              <a:rPr lang="en-US" sz="1300" dirty="0">
                <a:solidFill>
                  <a:srgbClr val="CBD5E1"/>
                </a:solidFill>
              </a:rPr>
              <a:t> </a:t>
            </a:r>
            <a:r>
              <a:rPr lang="en-US" sz="1300" dirty="0" err="1">
                <a:solidFill>
                  <a:srgbClr val="CBD5E1"/>
                </a:solidFill>
              </a:rPr>
              <a:t>seti</a:t>
            </a:r>
            <a:r>
              <a:rPr lang="en-US" sz="1300" dirty="0">
                <a:solidFill>
                  <a:srgbClr val="CBD5E1"/>
                </a:solidFill>
              </a:rPr>
              <a:t> </a:t>
            </a:r>
            <a:r>
              <a:rPr lang="en-US" sz="1300" dirty="0" err="1">
                <a:solidFill>
                  <a:srgbClr val="CBD5E1"/>
                </a:solidFill>
              </a:rPr>
              <a:t>için</a:t>
            </a:r>
            <a:r>
              <a:rPr lang="en-US" sz="1300" dirty="0">
                <a:solidFill>
                  <a:srgbClr val="CBD5E1"/>
                </a:solidFill>
              </a:rPr>
              <a:t> </a:t>
            </a:r>
            <a:r>
              <a:rPr lang="en-US" sz="1300" dirty="0" err="1">
                <a:solidFill>
                  <a:srgbClr val="CBD5E1"/>
                </a:solidFill>
              </a:rPr>
              <a:t>en</a:t>
            </a:r>
            <a:r>
              <a:rPr lang="en-US" sz="1300" dirty="0">
                <a:solidFill>
                  <a:srgbClr val="CBD5E1"/>
                </a:solidFill>
              </a:rPr>
              <a:t> </a:t>
            </a:r>
            <a:r>
              <a:rPr lang="en-US" sz="1300" dirty="0" err="1">
                <a:solidFill>
                  <a:srgbClr val="CBD5E1"/>
                </a:solidFill>
              </a:rPr>
              <a:t>dengeli</a:t>
            </a:r>
            <a:r>
              <a:rPr lang="en-US" sz="1300" dirty="0">
                <a:solidFill>
                  <a:srgbClr val="CBD5E1"/>
                </a:solidFill>
              </a:rPr>
              <a:t> </a:t>
            </a:r>
            <a:r>
              <a:rPr lang="en-US" sz="1300" dirty="0" err="1">
                <a:solidFill>
                  <a:srgbClr val="CBD5E1"/>
                </a:solidFill>
              </a:rPr>
              <a:t>genel</a:t>
            </a:r>
            <a:r>
              <a:rPr lang="en-US" sz="1300" dirty="0">
                <a:solidFill>
                  <a:srgbClr val="CBD5E1"/>
                </a:solidFill>
              </a:rPr>
              <a:t> model.</a:t>
            </a:r>
            <a:endParaRPr lang="en-US" sz="1300" dirty="0"/>
          </a:p>
          <a:p>
            <a:pPr marL="342900" indent="-342900">
              <a:spcAft>
                <a:spcPts val="600"/>
              </a:spcAft>
              <a:buSzPct val="100000"/>
              <a:buChar char="•"/>
            </a:pPr>
            <a:r>
              <a:rPr lang="en-US" sz="1300" dirty="0" err="1">
                <a:solidFill>
                  <a:srgbClr val="CBD5E1"/>
                </a:solidFill>
              </a:rPr>
              <a:t>Doktor</a:t>
            </a:r>
            <a:r>
              <a:rPr lang="en-US" sz="1300" dirty="0">
                <a:solidFill>
                  <a:srgbClr val="CBD5E1"/>
                </a:solidFill>
              </a:rPr>
              <a:t> Llama 8B Cosmos: </a:t>
            </a:r>
            <a:r>
              <a:rPr lang="en-US" sz="1300" dirty="0" err="1">
                <a:solidFill>
                  <a:srgbClr val="CBD5E1"/>
                </a:solidFill>
              </a:rPr>
              <a:t>Türkçe</a:t>
            </a:r>
            <a:r>
              <a:rPr lang="en-US" sz="1300" dirty="0">
                <a:solidFill>
                  <a:srgbClr val="CBD5E1"/>
                </a:solidFill>
              </a:rPr>
              <a:t> + </a:t>
            </a:r>
            <a:r>
              <a:rPr lang="en-US" sz="1300" dirty="0" err="1">
                <a:solidFill>
                  <a:srgbClr val="CBD5E1"/>
                </a:solidFill>
              </a:rPr>
              <a:t>tıbbi</a:t>
            </a:r>
            <a:r>
              <a:rPr lang="en-US" sz="1300" dirty="0">
                <a:solidFill>
                  <a:srgbClr val="CBD5E1"/>
                </a:solidFill>
              </a:rPr>
              <a:t> </a:t>
            </a:r>
            <a:r>
              <a:rPr lang="en-US" sz="1300" dirty="0" err="1">
                <a:solidFill>
                  <a:srgbClr val="CBD5E1"/>
                </a:solidFill>
              </a:rPr>
              <a:t>uyum</a:t>
            </a:r>
            <a:r>
              <a:rPr lang="en-US" sz="1300" dirty="0">
                <a:solidFill>
                  <a:srgbClr val="CBD5E1"/>
                </a:solidFill>
              </a:rPr>
              <a:t> </a:t>
            </a:r>
            <a:r>
              <a:rPr lang="en-US" sz="1300" dirty="0" err="1">
                <a:solidFill>
                  <a:srgbClr val="CBD5E1"/>
                </a:solidFill>
              </a:rPr>
              <a:t>gerektiren</a:t>
            </a:r>
            <a:r>
              <a:rPr lang="en-US" sz="1300" dirty="0">
                <a:solidFill>
                  <a:srgbClr val="CBD5E1"/>
                </a:solidFill>
              </a:rPr>
              <a:t> </a:t>
            </a:r>
            <a:r>
              <a:rPr lang="en-US" sz="1300" dirty="0" err="1">
                <a:solidFill>
                  <a:srgbClr val="CBD5E1"/>
                </a:solidFill>
              </a:rPr>
              <a:t>senaryolarda</a:t>
            </a:r>
            <a:r>
              <a:rPr lang="en-US" sz="1300" dirty="0">
                <a:solidFill>
                  <a:srgbClr val="CBD5E1"/>
                </a:solidFill>
              </a:rPr>
              <a:t> </a:t>
            </a:r>
            <a:r>
              <a:rPr lang="en-US" sz="1300" dirty="0" err="1">
                <a:solidFill>
                  <a:srgbClr val="CBD5E1"/>
                </a:solidFill>
              </a:rPr>
              <a:t>öne</a:t>
            </a:r>
            <a:r>
              <a:rPr lang="en-US" sz="1300" dirty="0">
                <a:solidFill>
                  <a:srgbClr val="CBD5E1"/>
                </a:solidFill>
              </a:rPr>
              <a:t> </a:t>
            </a:r>
            <a:r>
              <a:rPr lang="en-US" sz="1300" dirty="0" err="1">
                <a:solidFill>
                  <a:srgbClr val="CBD5E1"/>
                </a:solidFill>
              </a:rPr>
              <a:t>çıktı</a:t>
            </a:r>
            <a:r>
              <a:rPr lang="en-US" sz="1300" dirty="0">
                <a:solidFill>
                  <a:srgbClr val="CBD5E1"/>
                </a:solidFill>
              </a:rPr>
              <a:t>.</a:t>
            </a:r>
            <a:endParaRPr lang="en-US" sz="1300" dirty="0"/>
          </a:p>
          <a:p>
            <a:pPr marL="342900" indent="-342900">
              <a:spcAft>
                <a:spcPts val="600"/>
              </a:spcAft>
              <a:buSzPct val="100000"/>
              <a:buChar char="•"/>
            </a:pPr>
            <a:r>
              <a:rPr lang="en-US" sz="1300" dirty="0">
                <a:solidFill>
                  <a:srgbClr val="CBD5E1"/>
                </a:solidFill>
              </a:rPr>
              <a:t>Gemma 2B </a:t>
            </a:r>
            <a:r>
              <a:rPr lang="en-US" sz="1300" dirty="0" err="1">
                <a:solidFill>
                  <a:srgbClr val="CBD5E1"/>
                </a:solidFill>
              </a:rPr>
              <a:t>görev</a:t>
            </a:r>
            <a:r>
              <a:rPr lang="en-US" sz="1300" dirty="0">
                <a:solidFill>
                  <a:srgbClr val="CBD5E1"/>
                </a:solidFill>
              </a:rPr>
              <a:t> </a:t>
            </a:r>
            <a:r>
              <a:rPr lang="en-US" sz="1300" dirty="0" err="1">
                <a:solidFill>
                  <a:srgbClr val="CBD5E1"/>
                </a:solidFill>
              </a:rPr>
              <a:t>uyumsuzluğu</a:t>
            </a:r>
            <a:r>
              <a:rPr lang="en-US" sz="1300" dirty="0">
                <a:solidFill>
                  <a:srgbClr val="CBD5E1"/>
                </a:solidFill>
              </a:rPr>
              <a:t> </a:t>
            </a:r>
            <a:r>
              <a:rPr lang="en-US" sz="1300" dirty="0" err="1">
                <a:solidFill>
                  <a:srgbClr val="CBD5E1"/>
                </a:solidFill>
              </a:rPr>
              <a:t>nedeniyle</a:t>
            </a:r>
            <a:r>
              <a:rPr lang="en-US" sz="1300" dirty="0">
                <a:solidFill>
                  <a:srgbClr val="CBD5E1"/>
                </a:solidFill>
              </a:rPr>
              <a:t> </a:t>
            </a:r>
            <a:r>
              <a:rPr lang="en-US" sz="1300" dirty="0" err="1">
                <a:solidFill>
                  <a:srgbClr val="CBD5E1"/>
                </a:solidFill>
              </a:rPr>
              <a:t>elenirken</a:t>
            </a:r>
            <a:r>
              <a:rPr lang="en-US" sz="1300" dirty="0">
                <a:solidFill>
                  <a:srgbClr val="CBD5E1"/>
                </a:solidFill>
              </a:rPr>
              <a:t>, </a:t>
            </a:r>
            <a:r>
              <a:rPr lang="en-US" sz="1300" dirty="0" err="1">
                <a:solidFill>
                  <a:srgbClr val="CBD5E1"/>
                </a:solidFill>
              </a:rPr>
              <a:t>Qwen</a:t>
            </a:r>
            <a:r>
              <a:rPr lang="en-US" sz="1300" dirty="0">
                <a:solidFill>
                  <a:srgbClr val="CBD5E1"/>
                </a:solidFill>
              </a:rPr>
              <a:t> 1.5B </a:t>
            </a:r>
            <a:r>
              <a:rPr lang="en-US" sz="1300" dirty="0" err="1">
                <a:solidFill>
                  <a:srgbClr val="CBD5E1"/>
                </a:solidFill>
              </a:rPr>
              <a:t>düşük</a:t>
            </a:r>
            <a:r>
              <a:rPr lang="en-US" sz="1300" dirty="0">
                <a:solidFill>
                  <a:srgbClr val="CBD5E1"/>
                </a:solidFill>
              </a:rPr>
              <a:t> </a:t>
            </a:r>
            <a:r>
              <a:rPr lang="en-US" sz="1300" dirty="0" err="1">
                <a:solidFill>
                  <a:srgbClr val="CBD5E1"/>
                </a:solidFill>
              </a:rPr>
              <a:t>maliyetli</a:t>
            </a:r>
            <a:r>
              <a:rPr lang="en-US" sz="1300" dirty="0">
                <a:solidFill>
                  <a:srgbClr val="CBD5E1"/>
                </a:solidFill>
              </a:rPr>
              <a:t> </a:t>
            </a:r>
            <a:r>
              <a:rPr lang="en-US" sz="1300" dirty="0" err="1">
                <a:solidFill>
                  <a:srgbClr val="CBD5E1"/>
                </a:solidFill>
              </a:rPr>
              <a:t>güçlü</a:t>
            </a:r>
            <a:r>
              <a:rPr lang="en-US" sz="1300" dirty="0">
                <a:solidFill>
                  <a:srgbClr val="CBD5E1"/>
                </a:solidFill>
              </a:rPr>
              <a:t> </a:t>
            </a:r>
            <a:r>
              <a:rPr lang="en-US" sz="1300" dirty="0" err="1">
                <a:solidFill>
                  <a:srgbClr val="CBD5E1"/>
                </a:solidFill>
              </a:rPr>
              <a:t>alternatif</a:t>
            </a:r>
            <a:r>
              <a:rPr lang="en-US" sz="1300" dirty="0">
                <a:solidFill>
                  <a:srgbClr val="CBD5E1"/>
                </a:solidFill>
              </a:rPr>
              <a:t> </a:t>
            </a:r>
            <a:r>
              <a:rPr lang="en-US" sz="1300" dirty="0" err="1">
                <a:solidFill>
                  <a:srgbClr val="CBD5E1"/>
                </a:solidFill>
              </a:rPr>
              <a:t>sundu</a:t>
            </a:r>
            <a:r>
              <a:rPr lang="en-US" sz="1300" dirty="0">
                <a:solidFill>
                  <a:srgbClr val="CBD5E1"/>
                </a:solidFill>
              </a:rPr>
              <a:t>.</a:t>
            </a:r>
            <a:endParaRPr lang="en-US" sz="1300" dirty="0"/>
          </a:p>
          <a:p>
            <a:pPr marL="342900" indent="-342900">
              <a:spcAft>
                <a:spcPts val="600"/>
              </a:spcAft>
              <a:buSzPct val="100000"/>
              <a:buChar char="•"/>
            </a:pPr>
            <a:r>
              <a:rPr lang="en-US" sz="1300" dirty="0" err="1">
                <a:solidFill>
                  <a:srgbClr val="CBD5E1"/>
                </a:solidFill>
              </a:rPr>
              <a:t>Türkçe</a:t>
            </a:r>
            <a:r>
              <a:rPr lang="en-US" sz="1300" dirty="0">
                <a:solidFill>
                  <a:srgbClr val="CBD5E1"/>
                </a:solidFill>
              </a:rPr>
              <a:t> </a:t>
            </a:r>
            <a:r>
              <a:rPr lang="en-US" sz="1300" dirty="0" err="1">
                <a:solidFill>
                  <a:srgbClr val="CBD5E1"/>
                </a:solidFill>
              </a:rPr>
              <a:t>medikal</a:t>
            </a:r>
            <a:r>
              <a:rPr lang="en-US" sz="1300" dirty="0">
                <a:solidFill>
                  <a:srgbClr val="CBD5E1"/>
                </a:solidFill>
              </a:rPr>
              <a:t> </a:t>
            </a:r>
            <a:r>
              <a:rPr lang="en-US" sz="1300" dirty="0" err="1">
                <a:solidFill>
                  <a:srgbClr val="CBD5E1"/>
                </a:solidFill>
              </a:rPr>
              <a:t>değerlendirme</a:t>
            </a:r>
            <a:r>
              <a:rPr lang="en-US" sz="1300" dirty="0">
                <a:solidFill>
                  <a:srgbClr val="CBD5E1"/>
                </a:solidFill>
              </a:rPr>
              <a:t> </a:t>
            </a:r>
            <a:r>
              <a:rPr lang="en-US" sz="1300" dirty="0" err="1">
                <a:solidFill>
                  <a:srgbClr val="CBD5E1"/>
                </a:solidFill>
              </a:rPr>
              <a:t>metriği</a:t>
            </a:r>
            <a:r>
              <a:rPr lang="en-US" sz="1300" dirty="0">
                <a:solidFill>
                  <a:srgbClr val="CBD5E1"/>
                </a:solidFill>
              </a:rPr>
              <a:t> </a:t>
            </a:r>
            <a:r>
              <a:rPr lang="en-US" sz="1300" dirty="0" err="1">
                <a:solidFill>
                  <a:srgbClr val="CBD5E1"/>
                </a:solidFill>
              </a:rPr>
              <a:t>eksikliği</a:t>
            </a:r>
            <a:r>
              <a:rPr lang="en-US" sz="1300" dirty="0">
                <a:solidFill>
                  <a:srgbClr val="CBD5E1"/>
                </a:solidFill>
              </a:rPr>
              <a:t> </a:t>
            </a:r>
            <a:r>
              <a:rPr lang="en-US" sz="1300" dirty="0" err="1">
                <a:solidFill>
                  <a:srgbClr val="CBD5E1"/>
                </a:solidFill>
              </a:rPr>
              <a:t>temel</a:t>
            </a:r>
            <a:r>
              <a:rPr lang="en-US" sz="1300" dirty="0">
                <a:solidFill>
                  <a:srgbClr val="CBD5E1"/>
                </a:solidFill>
              </a:rPr>
              <a:t> </a:t>
            </a:r>
            <a:r>
              <a:rPr lang="en-US" sz="1300" dirty="0" err="1">
                <a:solidFill>
                  <a:srgbClr val="CBD5E1"/>
                </a:solidFill>
              </a:rPr>
              <a:t>kısıt</a:t>
            </a:r>
            <a:r>
              <a:rPr lang="en-US" sz="1300" dirty="0">
                <a:solidFill>
                  <a:srgbClr val="CBD5E1"/>
                </a:solidFill>
              </a:rPr>
              <a:t> </a:t>
            </a:r>
            <a:r>
              <a:rPr lang="en-US" sz="1300" dirty="0" err="1">
                <a:solidFill>
                  <a:srgbClr val="CBD5E1"/>
                </a:solidFill>
              </a:rPr>
              <a:t>olarak</a:t>
            </a:r>
            <a:r>
              <a:rPr lang="en-US" sz="1300" dirty="0">
                <a:solidFill>
                  <a:srgbClr val="CBD5E1"/>
                </a:solidFill>
              </a:rPr>
              <a:t> </a:t>
            </a:r>
            <a:r>
              <a:rPr lang="en-US" sz="1300" dirty="0" err="1">
                <a:solidFill>
                  <a:srgbClr val="CBD5E1"/>
                </a:solidFill>
              </a:rPr>
              <a:t>kaldı</a:t>
            </a:r>
            <a:r>
              <a:rPr lang="en-US" sz="1300" dirty="0">
                <a:solidFill>
                  <a:srgbClr val="CBD5E1"/>
                </a:solidFill>
              </a:rPr>
              <a:t>.</a:t>
            </a:r>
            <a:endParaRPr lang="en-US" sz="1300" dirty="0"/>
          </a:p>
          <a:p>
            <a:pPr marL="342900" indent="-342900">
              <a:spcAft>
                <a:spcPts val="600"/>
              </a:spcAft>
              <a:buSzPct val="100000"/>
              <a:buChar char="•"/>
            </a:pPr>
            <a:r>
              <a:rPr lang="en-US" sz="1300" dirty="0" err="1">
                <a:solidFill>
                  <a:srgbClr val="CBD5E1"/>
                </a:solidFill>
              </a:rPr>
              <a:t>Gelecek</a:t>
            </a:r>
            <a:r>
              <a:rPr lang="en-US" sz="1300" dirty="0">
                <a:solidFill>
                  <a:srgbClr val="CBD5E1"/>
                </a:solidFill>
              </a:rPr>
              <a:t>: </a:t>
            </a:r>
            <a:r>
              <a:rPr lang="en-US" sz="1300" dirty="0" err="1">
                <a:solidFill>
                  <a:srgbClr val="CBD5E1"/>
                </a:solidFill>
              </a:rPr>
              <a:t>daha</a:t>
            </a:r>
            <a:r>
              <a:rPr lang="en-US" sz="1300" dirty="0">
                <a:solidFill>
                  <a:srgbClr val="CBD5E1"/>
                </a:solidFill>
              </a:rPr>
              <a:t> </a:t>
            </a:r>
            <a:r>
              <a:rPr lang="en-US" sz="1300" dirty="0" err="1">
                <a:solidFill>
                  <a:srgbClr val="CBD5E1"/>
                </a:solidFill>
              </a:rPr>
              <a:t>büyük</a:t>
            </a:r>
            <a:r>
              <a:rPr lang="en-US" sz="1300" dirty="0">
                <a:solidFill>
                  <a:srgbClr val="CBD5E1"/>
                </a:solidFill>
              </a:rPr>
              <a:t> domain corpus, continual pre-training, DPO, </a:t>
            </a:r>
            <a:r>
              <a:rPr lang="en-US" sz="1300" dirty="0" err="1">
                <a:solidFill>
                  <a:srgbClr val="CBD5E1"/>
                </a:solidFill>
              </a:rPr>
              <a:t>klinik</a:t>
            </a:r>
            <a:r>
              <a:rPr lang="en-US" sz="1300" dirty="0">
                <a:solidFill>
                  <a:srgbClr val="CBD5E1"/>
                </a:solidFill>
              </a:rPr>
              <a:t> </a:t>
            </a:r>
            <a:r>
              <a:rPr lang="en-US" sz="1300" dirty="0" err="1">
                <a:solidFill>
                  <a:srgbClr val="CBD5E1"/>
                </a:solidFill>
              </a:rPr>
              <a:t>uzman</a:t>
            </a:r>
            <a:r>
              <a:rPr lang="en-US" sz="1300" dirty="0">
                <a:solidFill>
                  <a:srgbClr val="CBD5E1"/>
                </a:solidFill>
              </a:rPr>
              <a:t> </a:t>
            </a:r>
            <a:r>
              <a:rPr lang="en-US" sz="1300" dirty="0" err="1">
                <a:solidFill>
                  <a:srgbClr val="CBD5E1"/>
                </a:solidFill>
              </a:rPr>
              <a:t>değerlendirmesi</a:t>
            </a:r>
            <a:r>
              <a:rPr lang="en-US" sz="1300" dirty="0">
                <a:solidFill>
                  <a:srgbClr val="CBD5E1"/>
                </a:solidFill>
              </a:rPr>
              <a:t>.</a:t>
            </a:r>
            <a:endParaRPr lang="en-US" sz="1300" dirty="0"/>
          </a:p>
        </p:txBody>
      </p:sp>
      <p:sp>
        <p:nvSpPr>
          <p:cNvPr id="6" name="Shape 4">
            <a:extLst>
              <a:ext uri="{FF2B5EF4-FFF2-40B4-BE49-F238E27FC236}">
                <a16:creationId xmlns:a16="http://schemas.microsoft.com/office/drawing/2014/main" id="{E576B23C-3FC8-472B-8540-20616F1043CC}"/>
              </a:ext>
            </a:extLst>
          </p:cNvPr>
          <p:cNvSpPr/>
          <p:nvPr/>
        </p:nvSpPr>
        <p:spPr>
          <a:xfrm>
            <a:off x="0" y="5070348"/>
            <a:ext cx="9144000" cy="73152"/>
          </a:xfrm>
          <a:prstGeom prst="rect">
            <a:avLst/>
          </a:prstGeom>
          <a:solidFill>
            <a:srgbClr val="0D9488"/>
          </a:solidFill>
          <a:ln w="12700">
            <a:solidFill>
              <a:srgbClr val="0D9488"/>
            </a:solidFill>
            <a:prstDash val="solid"/>
          </a:ln>
        </p:spPr>
      </p:sp>
    </p:spTree>
    <p:extLst>
      <p:ext uri="{BB962C8B-B14F-4D97-AF65-F5344CB8AC3E}">
        <p14:creationId xmlns:p14="http://schemas.microsoft.com/office/powerpoint/2010/main" val="14361020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F4B"/>
        </a:solidFill>
        <a:effectLst/>
      </p:bgPr>
    </p:bg>
    <p:spTree>
      <p:nvGrpSpPr>
        <p:cNvPr id="1" name="">
          <a:extLst>
            <a:ext uri="{FF2B5EF4-FFF2-40B4-BE49-F238E27FC236}">
              <a16:creationId xmlns:a16="http://schemas.microsoft.com/office/drawing/2014/main" id="{92EBBFCC-C75D-40E9-174A-3533E6F43F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2565F6-EB98-5716-0590-357EDD0EF002}"/>
              </a:ext>
            </a:extLst>
          </p:cNvPr>
          <p:cNvSpPr/>
          <p:nvPr/>
        </p:nvSpPr>
        <p:spPr>
          <a:xfrm>
            <a:off x="0" y="0"/>
            <a:ext cx="9144000" cy="7315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97F595DC-23EC-368A-CD07-C82E353427AC}"/>
              </a:ext>
            </a:extLst>
          </p:cNvPr>
          <p:cNvSpPr/>
          <p:nvPr/>
        </p:nvSpPr>
        <p:spPr>
          <a:xfrm>
            <a:off x="640080" y="502920"/>
            <a:ext cx="7772400" cy="594360"/>
          </a:xfrm>
          <a:prstGeom prst="rect">
            <a:avLst/>
          </a:prstGeom>
          <a:noFill/>
          <a:ln/>
        </p:spPr>
        <p:txBody>
          <a:bodyPr wrap="square" lIns="91440" tIns="45720" rIns="91440" bIns="45720" rtlCol="0" anchor="ctr"/>
          <a:lstStyle/>
          <a:p>
            <a:pPr marL="0" indent="0">
              <a:buNone/>
            </a:pPr>
            <a:r>
              <a:rPr lang="en-US" sz="2400" b="1" err="1">
                <a:solidFill>
                  <a:srgbClr val="FFFFFF"/>
                </a:solidFill>
              </a:rPr>
              <a:t>Referanslar</a:t>
            </a:r>
            <a:endParaRPr lang="en-US" err="1"/>
          </a:p>
        </p:txBody>
      </p:sp>
      <p:sp>
        <p:nvSpPr>
          <p:cNvPr id="4" name="Shape 2">
            <a:extLst>
              <a:ext uri="{FF2B5EF4-FFF2-40B4-BE49-F238E27FC236}">
                <a16:creationId xmlns:a16="http://schemas.microsoft.com/office/drawing/2014/main" id="{C0E75C58-0D23-A08D-2D4B-450471B9A2DA}"/>
              </a:ext>
            </a:extLst>
          </p:cNvPr>
          <p:cNvSpPr/>
          <p:nvPr/>
        </p:nvSpPr>
        <p:spPr>
          <a:xfrm>
            <a:off x="640080" y="1170432"/>
            <a:ext cx="2743200" cy="0"/>
          </a:xfrm>
          <a:prstGeom prst="line">
            <a:avLst/>
          </a:prstGeom>
          <a:noFill/>
          <a:ln w="25400">
            <a:solidFill>
              <a:srgbClr val="0D9488"/>
            </a:solidFill>
            <a:prstDash val="solid"/>
          </a:ln>
        </p:spPr>
      </p:sp>
      <p:sp>
        <p:nvSpPr>
          <p:cNvPr id="5" name="Text 3">
            <a:extLst>
              <a:ext uri="{FF2B5EF4-FFF2-40B4-BE49-F238E27FC236}">
                <a16:creationId xmlns:a16="http://schemas.microsoft.com/office/drawing/2014/main" id="{D745F5CB-B996-DCF2-241E-4F588304B3A4}"/>
              </a:ext>
            </a:extLst>
          </p:cNvPr>
          <p:cNvSpPr/>
          <p:nvPr/>
        </p:nvSpPr>
        <p:spPr>
          <a:xfrm>
            <a:off x="640080" y="1325880"/>
            <a:ext cx="7863840" cy="3474720"/>
          </a:xfrm>
          <a:prstGeom prst="rect">
            <a:avLst/>
          </a:prstGeom>
          <a:noFill/>
          <a:ln/>
        </p:spPr>
        <p:txBody>
          <a:bodyPr wrap="square" lIns="91440" tIns="45720" rIns="91440" bIns="45720" rtlCol="0" anchor="ctr"/>
          <a:lstStyle/>
          <a:p>
            <a:pPr marL="285750" indent="-285750">
              <a:buSzPct val="100000"/>
              <a:buFont typeface="Courier New"/>
              <a:buChar char="o"/>
            </a:pPr>
            <a:r>
              <a:rPr lang="en-US" sz="1300">
                <a:solidFill>
                  <a:srgbClr val="CBD5E1"/>
                </a:solidFill>
                <a:ea typeface="+mn-lt"/>
                <a:cs typeface="+mn-lt"/>
              </a:rPr>
              <a:t>Hu, E. J., et al. (2021). </a:t>
            </a:r>
            <a:r>
              <a:rPr lang="en-US" sz="1300" err="1">
                <a:solidFill>
                  <a:srgbClr val="CBD5E1"/>
                </a:solidFill>
                <a:ea typeface="+mn-lt"/>
                <a:cs typeface="+mn-lt"/>
              </a:rPr>
              <a:t>LoRA</a:t>
            </a:r>
            <a:r>
              <a:rPr lang="en-US" sz="1300">
                <a:solidFill>
                  <a:srgbClr val="CBD5E1"/>
                </a:solidFill>
                <a:ea typeface="+mn-lt"/>
                <a:cs typeface="+mn-lt"/>
              </a:rPr>
              <a:t>: Low-Rank Adaptation of Large Language Models. arXiv:2106.09685.</a:t>
            </a:r>
            <a:endParaRPr lang="en-US" sz="1300">
              <a:ea typeface="+mn-lt"/>
              <a:cs typeface="+mn-lt"/>
            </a:endParaRPr>
          </a:p>
          <a:p>
            <a:pPr marL="285750" indent="-285750">
              <a:buFont typeface="Courier New"/>
              <a:buChar char="o"/>
            </a:pPr>
            <a:r>
              <a:rPr lang="en-US" sz="1300">
                <a:solidFill>
                  <a:srgbClr val="CBD5E1"/>
                </a:solidFill>
                <a:ea typeface="+mn-lt"/>
                <a:cs typeface="+mn-lt"/>
              </a:rPr>
              <a:t>Yi, Z., Xiao, T., &amp; Albert, M. V. (2025). A survey on multimodal large language models in radiology for report generation and visual question answering. Information, 16(2), 136.</a:t>
            </a:r>
            <a:endParaRPr lang="en-US">
              <a:ea typeface="+mn-lt"/>
              <a:cs typeface="+mn-lt"/>
            </a:endParaRPr>
          </a:p>
          <a:p>
            <a:pPr marL="285750" indent="-285750">
              <a:buFont typeface="Courier New"/>
              <a:buChar char="o"/>
            </a:pPr>
            <a:r>
              <a:rPr lang="en-US" sz="1300">
                <a:solidFill>
                  <a:srgbClr val="CBD5E1"/>
                </a:solidFill>
                <a:ea typeface="+mn-lt"/>
                <a:cs typeface="+mn-lt"/>
              </a:rPr>
              <a:t>Miao, Y., Zhao, Y., Luo, Y., Wang, H., &amp; Wu, Y. (2025). Improving Large Language Model Applications in the Medical and Nursing Domains With Retrieval-Augmented Generation: Scoping Review. Journal of Medical Internet Research, 27, e80557.</a:t>
            </a:r>
            <a:endParaRPr lang="en-US">
              <a:ea typeface="+mn-lt"/>
              <a:cs typeface="+mn-lt"/>
            </a:endParaRPr>
          </a:p>
          <a:p>
            <a:pPr marL="285750" indent="-285750">
              <a:buFont typeface="Courier New"/>
              <a:buChar char="o"/>
            </a:pPr>
            <a:r>
              <a:rPr lang="en-US" sz="1300">
                <a:solidFill>
                  <a:srgbClr val="CBD5E1"/>
                </a:solidFill>
                <a:ea typeface="+mn-lt"/>
                <a:cs typeface="+mn-lt"/>
              </a:rPr>
              <a:t>Tang, Y., Xiao, Z., Li, X., Fang, Q., Zhang, Q., Fong, D. Y. T., ... &amp; Research Data Collaboration Task Force. (2024). Large Language model in medical information extraction from titles and abstracts with prompt engineering strategies: A comparative study of GPT-3.5 and GPT-4. </a:t>
            </a:r>
            <a:r>
              <a:rPr lang="en-US" sz="1300" err="1">
                <a:solidFill>
                  <a:srgbClr val="CBD5E1"/>
                </a:solidFill>
                <a:ea typeface="+mn-lt"/>
                <a:cs typeface="+mn-lt"/>
              </a:rPr>
              <a:t>MedRxiv</a:t>
            </a:r>
            <a:r>
              <a:rPr lang="en-US" sz="1300">
                <a:solidFill>
                  <a:srgbClr val="CBD5E1"/>
                </a:solidFill>
                <a:ea typeface="+mn-lt"/>
                <a:cs typeface="+mn-lt"/>
              </a:rPr>
              <a:t>, 2024-03.</a:t>
            </a:r>
            <a:endParaRPr lang="en-US">
              <a:ea typeface="+mn-lt"/>
              <a:cs typeface="+mn-lt"/>
            </a:endParaRPr>
          </a:p>
          <a:p>
            <a:pPr marL="285750" indent="-285750">
              <a:buFont typeface="Courier New"/>
              <a:buChar char="o"/>
            </a:pPr>
            <a:r>
              <a:rPr lang="en-US" sz="1300">
                <a:solidFill>
                  <a:srgbClr val="CBD5E1"/>
                </a:solidFill>
                <a:ea typeface="+mn-lt"/>
                <a:cs typeface="+mn-lt"/>
              </a:rPr>
              <a:t>Nam, Y., Kim, D. Y., Kyung, S., Seo, J., Song, J. M., Kwon, J., ... &amp; Kim, N. (2025). Multimodal Large Language Models in Medical Imaging: Current State and Future Directions. Korean Journal of Radiology, 26(10), 900.</a:t>
            </a:r>
            <a:endParaRPr lang="en-US">
              <a:ea typeface="+mn-lt"/>
              <a:cs typeface="+mn-lt"/>
            </a:endParaRPr>
          </a:p>
          <a:p>
            <a:pPr marL="285750" indent="-285750">
              <a:buFont typeface="Courier New"/>
              <a:buChar char="o"/>
            </a:pPr>
            <a:r>
              <a:rPr lang="en-US" sz="1300">
                <a:solidFill>
                  <a:srgbClr val="CBD5E1"/>
                </a:solidFill>
                <a:ea typeface="+mn-lt"/>
                <a:cs typeface="+mn-lt"/>
              </a:rPr>
              <a:t>Nassiri, K., &amp; </a:t>
            </a:r>
            <a:r>
              <a:rPr lang="en-US" sz="1300" err="1">
                <a:solidFill>
                  <a:srgbClr val="CBD5E1"/>
                </a:solidFill>
                <a:ea typeface="+mn-lt"/>
                <a:cs typeface="+mn-lt"/>
              </a:rPr>
              <a:t>Akhloufi</a:t>
            </a:r>
            <a:r>
              <a:rPr lang="en-US" sz="1300">
                <a:solidFill>
                  <a:srgbClr val="CBD5E1"/>
                </a:solidFill>
                <a:ea typeface="+mn-lt"/>
                <a:cs typeface="+mn-lt"/>
              </a:rPr>
              <a:t>, M. A. (2024). Recent advances in large language models for healthcare. </a:t>
            </a:r>
            <a:r>
              <a:rPr lang="en-US" sz="1300" err="1">
                <a:solidFill>
                  <a:srgbClr val="CBD5E1"/>
                </a:solidFill>
                <a:ea typeface="+mn-lt"/>
                <a:cs typeface="+mn-lt"/>
              </a:rPr>
              <a:t>BioMedInformatics</a:t>
            </a:r>
            <a:r>
              <a:rPr lang="en-US" sz="1300">
                <a:solidFill>
                  <a:srgbClr val="CBD5E1"/>
                </a:solidFill>
                <a:ea typeface="+mn-lt"/>
                <a:cs typeface="+mn-lt"/>
              </a:rPr>
              <a:t>, 4(2), 1097-1143.</a:t>
            </a:r>
            <a:endParaRPr lang="en-US">
              <a:ea typeface="Calibri" panose="020F0502020204030204"/>
              <a:cs typeface="Calibri" panose="020F0502020204030204"/>
            </a:endParaRPr>
          </a:p>
          <a:p>
            <a:pPr marL="285750" indent="-285750">
              <a:buFont typeface="Courier New"/>
              <a:buChar char="o"/>
            </a:pPr>
            <a:r>
              <a:rPr lang="en-US" sz="1300">
                <a:solidFill>
                  <a:srgbClr val="CBD5E1"/>
                </a:solidFill>
                <a:ea typeface="+mn-lt"/>
                <a:cs typeface="+mn-lt"/>
              </a:rPr>
              <a:t>Türk Radyoloji Derneği. (2018, Ocak). </a:t>
            </a:r>
            <a:r>
              <a:rPr lang="en-US" sz="1300" err="1">
                <a:solidFill>
                  <a:srgbClr val="CBD5E1"/>
                </a:solidFill>
                <a:ea typeface="+mn-lt"/>
                <a:cs typeface="+mn-lt"/>
              </a:rPr>
              <a:t>Radyolojik</a:t>
            </a:r>
            <a:r>
              <a:rPr lang="en-US" sz="1300">
                <a:solidFill>
                  <a:srgbClr val="CBD5E1"/>
                </a:solidFill>
                <a:ea typeface="+mn-lt"/>
                <a:cs typeface="+mn-lt"/>
              </a:rPr>
              <a:t> </a:t>
            </a:r>
            <a:r>
              <a:rPr lang="en-US" sz="1300" err="1">
                <a:solidFill>
                  <a:srgbClr val="CBD5E1"/>
                </a:solidFill>
                <a:ea typeface="+mn-lt"/>
                <a:cs typeface="+mn-lt"/>
              </a:rPr>
              <a:t>tetkik</a:t>
            </a:r>
            <a:r>
              <a:rPr lang="en-US" sz="1300">
                <a:solidFill>
                  <a:srgbClr val="CBD5E1"/>
                </a:solidFill>
                <a:ea typeface="+mn-lt"/>
                <a:cs typeface="+mn-lt"/>
              </a:rPr>
              <a:t> </a:t>
            </a:r>
            <a:r>
              <a:rPr lang="en-US" sz="1300" err="1">
                <a:solidFill>
                  <a:srgbClr val="CBD5E1"/>
                </a:solidFill>
                <a:ea typeface="+mn-lt"/>
                <a:cs typeface="+mn-lt"/>
              </a:rPr>
              <a:t>yoğunluğu</a:t>
            </a:r>
            <a:r>
              <a:rPr lang="en-US" sz="1300">
                <a:solidFill>
                  <a:srgbClr val="CBD5E1"/>
                </a:solidFill>
                <a:ea typeface="+mn-lt"/>
                <a:cs typeface="+mn-lt"/>
              </a:rPr>
              <a:t>: </a:t>
            </a:r>
            <a:r>
              <a:rPr lang="en-US" sz="1300" err="1">
                <a:solidFill>
                  <a:srgbClr val="CBD5E1"/>
                </a:solidFill>
                <a:ea typeface="+mn-lt"/>
                <a:cs typeface="+mn-lt"/>
              </a:rPr>
              <a:t>Tetkik</a:t>
            </a:r>
            <a:r>
              <a:rPr lang="en-US" sz="1300">
                <a:solidFill>
                  <a:srgbClr val="CBD5E1"/>
                </a:solidFill>
                <a:ea typeface="+mn-lt"/>
                <a:cs typeface="+mn-lt"/>
              </a:rPr>
              <a:t> </a:t>
            </a:r>
            <a:r>
              <a:rPr lang="en-US" sz="1300" err="1">
                <a:solidFill>
                  <a:srgbClr val="CBD5E1"/>
                </a:solidFill>
                <a:ea typeface="+mn-lt"/>
                <a:cs typeface="+mn-lt"/>
              </a:rPr>
              <a:t>yoğunluğundan</a:t>
            </a:r>
            <a:r>
              <a:rPr lang="en-US" sz="1300">
                <a:solidFill>
                  <a:srgbClr val="CBD5E1"/>
                </a:solidFill>
                <a:ea typeface="+mn-lt"/>
                <a:cs typeface="+mn-lt"/>
              </a:rPr>
              <a:t> </a:t>
            </a:r>
            <a:r>
              <a:rPr lang="en-US" sz="1300" err="1">
                <a:solidFill>
                  <a:srgbClr val="CBD5E1"/>
                </a:solidFill>
                <a:ea typeface="+mn-lt"/>
                <a:cs typeface="+mn-lt"/>
              </a:rPr>
              <a:t>kaynaklanan</a:t>
            </a:r>
            <a:r>
              <a:rPr lang="en-US" sz="1300">
                <a:solidFill>
                  <a:srgbClr val="CBD5E1"/>
                </a:solidFill>
                <a:ea typeface="+mn-lt"/>
                <a:cs typeface="+mn-lt"/>
              </a:rPr>
              <a:t> </a:t>
            </a:r>
            <a:r>
              <a:rPr lang="en-US" sz="1300" err="1">
                <a:solidFill>
                  <a:srgbClr val="CBD5E1"/>
                </a:solidFill>
                <a:ea typeface="+mn-lt"/>
                <a:cs typeface="+mn-lt"/>
              </a:rPr>
              <a:t>problemlerin</a:t>
            </a:r>
            <a:r>
              <a:rPr lang="en-US" sz="1300">
                <a:solidFill>
                  <a:srgbClr val="CBD5E1"/>
                </a:solidFill>
                <a:ea typeface="+mn-lt"/>
                <a:cs typeface="+mn-lt"/>
              </a:rPr>
              <a:t> </a:t>
            </a:r>
            <a:r>
              <a:rPr lang="en-US" sz="1300" err="1">
                <a:solidFill>
                  <a:srgbClr val="CBD5E1"/>
                </a:solidFill>
                <a:ea typeface="+mn-lt"/>
                <a:cs typeface="+mn-lt"/>
              </a:rPr>
              <a:t>analizi</a:t>
            </a:r>
            <a:r>
              <a:rPr lang="en-US" sz="1300">
                <a:solidFill>
                  <a:srgbClr val="CBD5E1"/>
                </a:solidFill>
                <a:ea typeface="+mn-lt"/>
                <a:cs typeface="+mn-lt"/>
              </a:rPr>
              <a:t> </a:t>
            </a:r>
            <a:r>
              <a:rPr lang="en-US" sz="1300" err="1">
                <a:solidFill>
                  <a:srgbClr val="CBD5E1"/>
                </a:solidFill>
                <a:ea typeface="+mn-lt"/>
                <a:cs typeface="+mn-lt"/>
              </a:rPr>
              <a:t>ve</a:t>
            </a:r>
            <a:r>
              <a:rPr lang="en-US" sz="1300">
                <a:solidFill>
                  <a:srgbClr val="CBD5E1"/>
                </a:solidFill>
                <a:ea typeface="+mn-lt"/>
                <a:cs typeface="+mn-lt"/>
              </a:rPr>
              <a:t> </a:t>
            </a:r>
            <a:r>
              <a:rPr lang="en-US" sz="1300" err="1">
                <a:solidFill>
                  <a:srgbClr val="CBD5E1"/>
                </a:solidFill>
                <a:ea typeface="+mn-lt"/>
                <a:cs typeface="+mn-lt"/>
              </a:rPr>
              <a:t>çözüm</a:t>
            </a:r>
            <a:r>
              <a:rPr lang="en-US" sz="1300">
                <a:solidFill>
                  <a:srgbClr val="CBD5E1"/>
                </a:solidFill>
                <a:ea typeface="+mn-lt"/>
                <a:cs typeface="+mn-lt"/>
              </a:rPr>
              <a:t> </a:t>
            </a:r>
            <a:r>
              <a:rPr lang="en-US" sz="1300" err="1">
                <a:solidFill>
                  <a:srgbClr val="CBD5E1"/>
                </a:solidFill>
                <a:ea typeface="+mn-lt"/>
                <a:cs typeface="+mn-lt"/>
              </a:rPr>
              <a:t>önerileri</a:t>
            </a:r>
            <a:r>
              <a:rPr lang="en-US" sz="1300">
                <a:solidFill>
                  <a:srgbClr val="CBD5E1"/>
                </a:solidFill>
                <a:ea typeface="+mn-lt"/>
                <a:cs typeface="+mn-lt"/>
              </a:rPr>
              <a:t> </a:t>
            </a:r>
            <a:r>
              <a:rPr lang="en-US" sz="1300" err="1">
                <a:solidFill>
                  <a:srgbClr val="CBD5E1"/>
                </a:solidFill>
                <a:ea typeface="+mn-lt"/>
                <a:cs typeface="+mn-lt"/>
              </a:rPr>
              <a:t>raporu</a:t>
            </a:r>
            <a:r>
              <a:rPr lang="en-US" sz="1300">
                <a:solidFill>
                  <a:srgbClr val="CBD5E1"/>
                </a:solidFill>
                <a:ea typeface="+mn-lt"/>
                <a:cs typeface="+mn-lt"/>
              </a:rPr>
              <a:t>. Türk Radyoloji Derneği.</a:t>
            </a:r>
            <a:endParaRPr lang="en-US">
              <a:solidFill>
                <a:srgbClr val="000000"/>
              </a:solidFill>
              <a:ea typeface="+mn-lt"/>
              <a:cs typeface="+mn-lt"/>
            </a:endParaRPr>
          </a:p>
        </p:txBody>
      </p:sp>
      <p:sp>
        <p:nvSpPr>
          <p:cNvPr id="6" name="Shape 4">
            <a:extLst>
              <a:ext uri="{FF2B5EF4-FFF2-40B4-BE49-F238E27FC236}">
                <a16:creationId xmlns:a16="http://schemas.microsoft.com/office/drawing/2014/main" id="{FC7AB2EB-FDB7-3E7F-58E3-556E6CACBA1F}"/>
              </a:ext>
            </a:extLst>
          </p:cNvPr>
          <p:cNvSpPr/>
          <p:nvPr/>
        </p:nvSpPr>
        <p:spPr>
          <a:xfrm>
            <a:off x="0" y="5070348"/>
            <a:ext cx="9144000" cy="73152"/>
          </a:xfrm>
          <a:prstGeom prst="rect">
            <a:avLst/>
          </a:prstGeom>
          <a:solidFill>
            <a:srgbClr val="0D9488"/>
          </a:solidFill>
          <a:ln w="12700">
            <a:solidFill>
              <a:srgbClr val="0D9488"/>
            </a:solidFill>
            <a:prstDash val="solid"/>
          </a:ln>
        </p:spPr>
      </p:sp>
    </p:spTree>
    <p:extLst>
      <p:ext uri="{BB962C8B-B14F-4D97-AF65-F5344CB8AC3E}">
        <p14:creationId xmlns:p14="http://schemas.microsoft.com/office/powerpoint/2010/main" val="34809428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F4B"/>
        </a:solidFill>
        <a:effectLst/>
      </p:bgPr>
    </p:bg>
    <p:spTree>
      <p:nvGrpSpPr>
        <p:cNvPr id="1" name="">
          <a:extLst>
            <a:ext uri="{FF2B5EF4-FFF2-40B4-BE49-F238E27FC236}">
              <a16:creationId xmlns:a16="http://schemas.microsoft.com/office/drawing/2014/main" id="{17FA8E56-0421-495D-33DD-F7334AD9A9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141813-4FA2-5C30-B56A-4E4430AE4394}"/>
              </a:ext>
            </a:extLst>
          </p:cNvPr>
          <p:cNvSpPr/>
          <p:nvPr/>
        </p:nvSpPr>
        <p:spPr>
          <a:xfrm>
            <a:off x="0" y="0"/>
            <a:ext cx="9144000" cy="73152"/>
          </a:xfrm>
          <a:prstGeom prst="rect">
            <a:avLst/>
          </a:prstGeom>
          <a:solidFill>
            <a:srgbClr val="0D9488"/>
          </a:solidFill>
          <a:ln w="12700">
            <a:solidFill>
              <a:srgbClr val="0D9488"/>
            </a:solidFill>
            <a:prstDash val="solid"/>
          </a:ln>
        </p:spPr>
      </p:sp>
      <p:sp>
        <p:nvSpPr>
          <p:cNvPr id="3" name="Text 1">
            <a:extLst>
              <a:ext uri="{FF2B5EF4-FFF2-40B4-BE49-F238E27FC236}">
                <a16:creationId xmlns:a16="http://schemas.microsoft.com/office/drawing/2014/main" id="{158D9FBA-B741-3A46-DE0D-7E7FCB01BC92}"/>
              </a:ext>
            </a:extLst>
          </p:cNvPr>
          <p:cNvSpPr/>
          <p:nvPr/>
        </p:nvSpPr>
        <p:spPr>
          <a:xfrm>
            <a:off x="640080" y="502920"/>
            <a:ext cx="7772400" cy="594360"/>
          </a:xfrm>
          <a:prstGeom prst="rect">
            <a:avLst/>
          </a:prstGeom>
          <a:noFill/>
          <a:ln/>
        </p:spPr>
        <p:txBody>
          <a:bodyPr wrap="square" lIns="91440" tIns="45720" rIns="91440" bIns="45720" rtlCol="0" anchor="ctr"/>
          <a:lstStyle/>
          <a:p>
            <a:pPr marL="0" indent="0">
              <a:buNone/>
            </a:pPr>
            <a:r>
              <a:rPr lang="en-US" sz="2400" b="1" err="1">
                <a:solidFill>
                  <a:srgbClr val="FFFFFF"/>
                </a:solidFill>
              </a:rPr>
              <a:t>Referanslar</a:t>
            </a:r>
            <a:endParaRPr lang="en-US" err="1"/>
          </a:p>
        </p:txBody>
      </p:sp>
      <p:sp>
        <p:nvSpPr>
          <p:cNvPr id="4" name="Shape 2">
            <a:extLst>
              <a:ext uri="{FF2B5EF4-FFF2-40B4-BE49-F238E27FC236}">
                <a16:creationId xmlns:a16="http://schemas.microsoft.com/office/drawing/2014/main" id="{9AC231A4-BB32-F777-DC43-99379B5CE369}"/>
              </a:ext>
            </a:extLst>
          </p:cNvPr>
          <p:cNvSpPr/>
          <p:nvPr/>
        </p:nvSpPr>
        <p:spPr>
          <a:xfrm>
            <a:off x="640080" y="1170432"/>
            <a:ext cx="2743200" cy="0"/>
          </a:xfrm>
          <a:prstGeom prst="line">
            <a:avLst/>
          </a:prstGeom>
          <a:noFill/>
          <a:ln w="25400">
            <a:solidFill>
              <a:srgbClr val="0D9488"/>
            </a:solidFill>
            <a:prstDash val="solid"/>
          </a:ln>
        </p:spPr>
      </p:sp>
      <p:sp>
        <p:nvSpPr>
          <p:cNvPr id="5" name="Text 3">
            <a:extLst>
              <a:ext uri="{FF2B5EF4-FFF2-40B4-BE49-F238E27FC236}">
                <a16:creationId xmlns:a16="http://schemas.microsoft.com/office/drawing/2014/main" id="{A10FFCC5-7011-870B-38D4-34642B20144D}"/>
              </a:ext>
            </a:extLst>
          </p:cNvPr>
          <p:cNvSpPr/>
          <p:nvPr/>
        </p:nvSpPr>
        <p:spPr>
          <a:xfrm>
            <a:off x="640080" y="1325880"/>
            <a:ext cx="7863840" cy="3474720"/>
          </a:xfrm>
          <a:prstGeom prst="rect">
            <a:avLst/>
          </a:prstGeom>
          <a:noFill/>
          <a:ln/>
        </p:spPr>
        <p:txBody>
          <a:bodyPr wrap="square" lIns="91440" tIns="45720" rIns="91440" bIns="45720" rtlCol="0" anchor="ctr"/>
          <a:lstStyle/>
          <a:p>
            <a:pPr marL="285750" indent="-285750">
              <a:buSzPct val="100000"/>
              <a:buFont typeface="Courier New"/>
              <a:buChar char="o"/>
            </a:pPr>
            <a:r>
              <a:rPr lang="en-US" sz="1300" err="1">
                <a:solidFill>
                  <a:srgbClr val="CBD5E1"/>
                </a:solidFill>
                <a:ea typeface="+mn-lt"/>
                <a:cs typeface="+mn-lt"/>
              </a:rPr>
              <a:t>Külcü</a:t>
            </a:r>
            <a:r>
              <a:rPr lang="en-US" sz="1300">
                <a:solidFill>
                  <a:srgbClr val="CBD5E1"/>
                </a:solidFill>
                <a:ea typeface="+mn-lt"/>
                <a:cs typeface="+mn-lt"/>
              </a:rPr>
              <a:t>, D. G., Kuran, B., Karahan, A. Y., </a:t>
            </a:r>
            <a:r>
              <a:rPr lang="en-US" sz="1300" err="1">
                <a:solidFill>
                  <a:srgbClr val="CBD5E1"/>
                </a:solidFill>
                <a:ea typeface="+mn-lt"/>
                <a:cs typeface="+mn-lt"/>
              </a:rPr>
              <a:t>Özgirgin</a:t>
            </a:r>
            <a:r>
              <a:rPr lang="en-US" sz="1300">
                <a:solidFill>
                  <a:srgbClr val="CBD5E1"/>
                </a:solidFill>
                <a:ea typeface="+mn-lt"/>
                <a:cs typeface="+mn-lt"/>
              </a:rPr>
              <a:t>, N., Başaran, S., </a:t>
            </a:r>
            <a:r>
              <a:rPr lang="en-US" sz="1300" err="1">
                <a:solidFill>
                  <a:srgbClr val="CBD5E1"/>
                </a:solidFill>
                <a:ea typeface="+mn-lt"/>
                <a:cs typeface="+mn-lt"/>
              </a:rPr>
              <a:t>Yalıman</a:t>
            </a:r>
            <a:r>
              <a:rPr lang="en-US" sz="1300">
                <a:solidFill>
                  <a:srgbClr val="CBD5E1"/>
                </a:solidFill>
                <a:ea typeface="+mn-lt"/>
                <a:cs typeface="+mn-lt"/>
              </a:rPr>
              <a:t>, A., ... &amp; Taşkıran, Ö. Ö. (2022). Demographic and clinical characteristics of inpatient stroke patients in Turkey. Turkish Journal of Physical Medicine and Rehabilitation, 68(1), 9.</a:t>
            </a:r>
            <a:endParaRPr lang="en-US" sz="1300">
              <a:ea typeface="+mn-lt"/>
              <a:cs typeface="+mn-lt"/>
            </a:endParaRPr>
          </a:p>
          <a:p>
            <a:pPr marL="285750" indent="-285750">
              <a:buFont typeface="Courier New"/>
              <a:buChar char="o"/>
            </a:pPr>
            <a:r>
              <a:rPr lang="en-US" sz="1300" err="1">
                <a:solidFill>
                  <a:srgbClr val="CBD5E1"/>
                </a:solidFill>
                <a:ea typeface="+mn-lt"/>
                <a:cs typeface="+mn-lt"/>
              </a:rPr>
              <a:t>Ismayilzada</a:t>
            </a:r>
            <a:r>
              <a:rPr lang="en-US" sz="1300">
                <a:solidFill>
                  <a:srgbClr val="CBD5E1"/>
                </a:solidFill>
                <a:ea typeface="+mn-lt"/>
                <a:cs typeface="+mn-lt"/>
              </a:rPr>
              <a:t>, M., </a:t>
            </a:r>
            <a:r>
              <a:rPr lang="en-US" sz="1300" err="1">
                <a:solidFill>
                  <a:srgbClr val="CBD5E1"/>
                </a:solidFill>
                <a:ea typeface="+mn-lt"/>
                <a:cs typeface="+mn-lt"/>
              </a:rPr>
              <a:t>Circi</a:t>
            </a:r>
            <a:r>
              <a:rPr lang="en-US" sz="1300">
                <a:solidFill>
                  <a:srgbClr val="CBD5E1"/>
                </a:solidFill>
                <a:ea typeface="+mn-lt"/>
                <a:cs typeface="+mn-lt"/>
              </a:rPr>
              <a:t>, D., </a:t>
            </a:r>
            <a:r>
              <a:rPr lang="en-US" sz="1300" err="1">
                <a:solidFill>
                  <a:srgbClr val="CBD5E1"/>
                </a:solidFill>
                <a:ea typeface="+mn-lt"/>
                <a:cs typeface="+mn-lt"/>
              </a:rPr>
              <a:t>Sälevä</a:t>
            </a:r>
            <a:r>
              <a:rPr lang="en-US" sz="1300">
                <a:solidFill>
                  <a:srgbClr val="CBD5E1"/>
                </a:solidFill>
                <a:ea typeface="+mn-lt"/>
                <a:cs typeface="+mn-lt"/>
              </a:rPr>
              <a:t>, J., Sirin, H., Köksal, A., Dhingra, B., ... &amp; Van Der Plas, L. (2025, April). Evaluating morphological compositional generalization in large language models. In Proceedings of the 2025 Conference of the Nations of the Americas Chapter of the Association for Computational Linguistics: Human Language Technologies (Volume 1: Long Papers) (pp. 1270-1305).</a:t>
            </a:r>
            <a:endParaRPr lang="en-US">
              <a:ea typeface="Calibri" panose="020F0502020204030204"/>
              <a:cs typeface="Calibri" panose="020F0502020204030204"/>
            </a:endParaRPr>
          </a:p>
          <a:p>
            <a:pPr marL="285750" indent="-285750">
              <a:buFont typeface="Courier New"/>
              <a:buChar char="o"/>
            </a:pPr>
            <a:r>
              <a:rPr lang="en-US" sz="1300">
                <a:solidFill>
                  <a:srgbClr val="CBD5E1"/>
                </a:solidFill>
                <a:ea typeface="+mn-lt"/>
                <a:cs typeface="+mn-lt"/>
              </a:rPr>
              <a:t>Gündoğdu, Ö. E., &amp; Duru, N. (2016). </a:t>
            </a:r>
            <a:r>
              <a:rPr lang="en-US" sz="1300" err="1">
                <a:solidFill>
                  <a:srgbClr val="CBD5E1"/>
                </a:solidFill>
                <a:ea typeface="+mn-lt"/>
                <a:cs typeface="+mn-lt"/>
              </a:rPr>
              <a:t>Türkçe</a:t>
            </a:r>
            <a:r>
              <a:rPr lang="en-US" sz="1300">
                <a:solidFill>
                  <a:srgbClr val="CBD5E1"/>
                </a:solidFill>
                <a:ea typeface="+mn-lt"/>
                <a:cs typeface="+mn-lt"/>
              </a:rPr>
              <a:t> Metin </a:t>
            </a:r>
            <a:r>
              <a:rPr lang="en-US" sz="1300" err="1">
                <a:solidFill>
                  <a:srgbClr val="CBD5E1"/>
                </a:solidFill>
                <a:ea typeface="+mn-lt"/>
                <a:cs typeface="+mn-lt"/>
              </a:rPr>
              <a:t>Özetlemede</a:t>
            </a:r>
            <a:r>
              <a:rPr lang="en-US" sz="1300">
                <a:solidFill>
                  <a:srgbClr val="CBD5E1"/>
                </a:solidFill>
                <a:ea typeface="+mn-lt"/>
                <a:cs typeface="+mn-lt"/>
              </a:rPr>
              <a:t> </a:t>
            </a:r>
            <a:r>
              <a:rPr lang="en-US" sz="1300" err="1">
                <a:solidFill>
                  <a:srgbClr val="CBD5E1"/>
                </a:solidFill>
                <a:ea typeface="+mn-lt"/>
                <a:cs typeface="+mn-lt"/>
              </a:rPr>
              <a:t>Kullanılan</a:t>
            </a:r>
            <a:r>
              <a:rPr lang="en-US" sz="1300">
                <a:solidFill>
                  <a:srgbClr val="CBD5E1"/>
                </a:solidFill>
                <a:ea typeface="+mn-lt"/>
                <a:cs typeface="+mn-lt"/>
              </a:rPr>
              <a:t> Yöntemler. 18. Akademik </a:t>
            </a:r>
            <a:r>
              <a:rPr lang="en-US" sz="1300" err="1">
                <a:solidFill>
                  <a:srgbClr val="CBD5E1"/>
                </a:solidFill>
                <a:ea typeface="+mn-lt"/>
                <a:cs typeface="+mn-lt"/>
              </a:rPr>
              <a:t>Bilişim</a:t>
            </a:r>
            <a:r>
              <a:rPr lang="en-US" sz="1300">
                <a:solidFill>
                  <a:srgbClr val="CBD5E1"/>
                </a:solidFill>
                <a:ea typeface="+mn-lt"/>
                <a:cs typeface="+mn-lt"/>
              </a:rPr>
              <a:t> Konferansı-AB'16.</a:t>
            </a:r>
            <a:endParaRPr lang="en-US">
              <a:ea typeface="+mn-lt"/>
              <a:cs typeface="+mn-lt"/>
            </a:endParaRPr>
          </a:p>
          <a:p>
            <a:pPr marL="285750" indent="-285750">
              <a:buFont typeface="Courier New"/>
              <a:buChar char="o"/>
            </a:pPr>
            <a:r>
              <a:rPr lang="en-US" sz="1300">
                <a:solidFill>
                  <a:srgbClr val="CBD5E1"/>
                </a:solidFill>
                <a:ea typeface="+mn-lt"/>
                <a:cs typeface="+mn-lt"/>
              </a:rPr>
              <a:t>Eryiğit, G. (2006). </a:t>
            </a:r>
            <a:r>
              <a:rPr lang="en-US" sz="1300" err="1">
                <a:solidFill>
                  <a:srgbClr val="CBD5E1"/>
                </a:solidFill>
                <a:ea typeface="+mn-lt"/>
                <a:cs typeface="+mn-lt"/>
              </a:rPr>
              <a:t>Türkçe’nin</a:t>
            </a:r>
            <a:r>
              <a:rPr lang="en-US" sz="1300">
                <a:solidFill>
                  <a:srgbClr val="CBD5E1"/>
                </a:solidFill>
                <a:ea typeface="+mn-lt"/>
                <a:cs typeface="+mn-lt"/>
              </a:rPr>
              <a:t> </a:t>
            </a:r>
            <a:r>
              <a:rPr lang="en-US" sz="1300" err="1">
                <a:solidFill>
                  <a:srgbClr val="CBD5E1"/>
                </a:solidFill>
                <a:ea typeface="+mn-lt"/>
                <a:cs typeface="+mn-lt"/>
              </a:rPr>
              <a:t>bağlılık</a:t>
            </a:r>
            <a:r>
              <a:rPr lang="en-US" sz="1300">
                <a:solidFill>
                  <a:srgbClr val="CBD5E1"/>
                </a:solidFill>
                <a:ea typeface="+mn-lt"/>
                <a:cs typeface="+mn-lt"/>
              </a:rPr>
              <a:t> </a:t>
            </a:r>
            <a:r>
              <a:rPr lang="en-US" sz="1300" err="1">
                <a:solidFill>
                  <a:srgbClr val="CBD5E1"/>
                </a:solidFill>
                <a:ea typeface="+mn-lt"/>
                <a:cs typeface="+mn-lt"/>
              </a:rPr>
              <a:t>ayrıştırması</a:t>
            </a:r>
            <a:r>
              <a:rPr lang="en-US" sz="1300">
                <a:solidFill>
                  <a:srgbClr val="CBD5E1"/>
                </a:solidFill>
                <a:ea typeface="+mn-lt"/>
                <a:cs typeface="+mn-lt"/>
              </a:rPr>
              <a:t>. İstanbul Teknik </a:t>
            </a:r>
            <a:r>
              <a:rPr lang="en-US" sz="1300" err="1">
                <a:solidFill>
                  <a:srgbClr val="CBD5E1"/>
                </a:solidFill>
                <a:ea typeface="+mn-lt"/>
                <a:cs typeface="+mn-lt"/>
              </a:rPr>
              <a:t>Üniversitesi</a:t>
            </a:r>
            <a:r>
              <a:rPr lang="en-US" sz="1300">
                <a:solidFill>
                  <a:srgbClr val="CBD5E1"/>
                </a:solidFill>
                <a:ea typeface="+mn-lt"/>
                <a:cs typeface="+mn-lt"/>
              </a:rPr>
              <a:t> Fen </a:t>
            </a:r>
            <a:r>
              <a:rPr lang="en-US" sz="1300" err="1">
                <a:solidFill>
                  <a:srgbClr val="CBD5E1"/>
                </a:solidFill>
                <a:ea typeface="+mn-lt"/>
                <a:cs typeface="+mn-lt"/>
              </a:rPr>
              <a:t>Bilimleri</a:t>
            </a:r>
            <a:r>
              <a:rPr lang="en-US" sz="1300">
                <a:solidFill>
                  <a:srgbClr val="CBD5E1"/>
                </a:solidFill>
                <a:ea typeface="+mn-lt"/>
                <a:cs typeface="+mn-lt"/>
              </a:rPr>
              <a:t> </a:t>
            </a:r>
            <a:r>
              <a:rPr lang="en-US" sz="1300" err="1">
                <a:solidFill>
                  <a:srgbClr val="CBD5E1"/>
                </a:solidFill>
                <a:ea typeface="+mn-lt"/>
                <a:cs typeface="+mn-lt"/>
              </a:rPr>
              <a:t>Enstitüsü</a:t>
            </a:r>
            <a:r>
              <a:rPr lang="en-US" sz="1300">
                <a:solidFill>
                  <a:srgbClr val="CBD5E1"/>
                </a:solidFill>
                <a:ea typeface="+mn-lt"/>
                <a:cs typeface="+mn-lt"/>
              </a:rPr>
              <a:t>, Doktora Tezi.</a:t>
            </a:r>
            <a:endParaRPr lang="en-US">
              <a:ea typeface="Calibri" panose="020F0502020204030204"/>
              <a:cs typeface="Calibri" panose="020F0502020204030204"/>
            </a:endParaRPr>
          </a:p>
          <a:p>
            <a:pPr marL="285750" indent="-285750">
              <a:buFont typeface="Courier New"/>
              <a:buChar char="o"/>
            </a:pPr>
            <a:r>
              <a:rPr lang="en-US" sz="1300">
                <a:solidFill>
                  <a:srgbClr val="CBD5E1"/>
                </a:solidFill>
                <a:ea typeface="+mn-lt"/>
                <a:cs typeface="+mn-lt"/>
              </a:rPr>
              <a:t>Bayram, M. A., </a:t>
            </a:r>
            <a:r>
              <a:rPr lang="en-US" sz="1300" err="1">
                <a:solidFill>
                  <a:srgbClr val="CBD5E1"/>
                </a:solidFill>
                <a:ea typeface="+mn-lt"/>
                <a:cs typeface="+mn-lt"/>
              </a:rPr>
              <a:t>Fincan</a:t>
            </a:r>
            <a:r>
              <a:rPr lang="en-US" sz="1300">
                <a:solidFill>
                  <a:srgbClr val="CBD5E1"/>
                </a:solidFill>
                <a:ea typeface="+mn-lt"/>
                <a:cs typeface="+mn-lt"/>
              </a:rPr>
              <a:t>, A. A., Gümüş, A. S., Diri, B., Yıldırım, S., &amp; Aytaş, Ö. (2024). Setting Standards in Turkish NLP: TR-MMLU for Large Language Model Evaluation. </a:t>
            </a:r>
            <a:r>
              <a:rPr lang="en-US" sz="1300" err="1">
                <a:solidFill>
                  <a:srgbClr val="CBD5E1"/>
                </a:solidFill>
                <a:ea typeface="+mn-lt"/>
                <a:cs typeface="+mn-lt"/>
              </a:rPr>
              <a:t>arXiv</a:t>
            </a:r>
            <a:r>
              <a:rPr lang="en-US" sz="1300">
                <a:solidFill>
                  <a:srgbClr val="CBD5E1"/>
                </a:solidFill>
                <a:ea typeface="+mn-lt"/>
                <a:cs typeface="+mn-lt"/>
              </a:rPr>
              <a:t> preprint arXiv:2501.00593.</a:t>
            </a:r>
            <a:endParaRPr lang="en-US">
              <a:ea typeface="+mn-lt"/>
              <a:cs typeface="+mn-lt"/>
            </a:endParaRPr>
          </a:p>
          <a:p>
            <a:pPr marL="285750" indent="-285750">
              <a:buFont typeface="Courier New"/>
              <a:buChar char="o"/>
            </a:pPr>
            <a:r>
              <a:rPr lang="en-US" sz="1300">
                <a:solidFill>
                  <a:srgbClr val="CBD5E1"/>
                </a:solidFill>
                <a:ea typeface="+mn-lt"/>
                <a:cs typeface="+mn-lt"/>
              </a:rPr>
              <a:t>Dubey, A., </a:t>
            </a:r>
            <a:r>
              <a:rPr lang="en-US" sz="1300" err="1">
                <a:solidFill>
                  <a:srgbClr val="CBD5E1"/>
                </a:solidFill>
                <a:ea typeface="+mn-lt"/>
                <a:cs typeface="+mn-lt"/>
              </a:rPr>
              <a:t>Jauhri</a:t>
            </a:r>
            <a:r>
              <a:rPr lang="en-US" sz="1300">
                <a:solidFill>
                  <a:srgbClr val="CBD5E1"/>
                </a:solidFill>
                <a:ea typeface="+mn-lt"/>
                <a:cs typeface="+mn-lt"/>
              </a:rPr>
              <a:t>, A., Pandey, A., Kadian, A., Al-Dahle, A., Letman, A., ... &amp; Ganapathy, R. (2024). The llama 3 herd of models. </a:t>
            </a:r>
            <a:r>
              <a:rPr lang="en-US" sz="1300" err="1">
                <a:solidFill>
                  <a:srgbClr val="CBD5E1"/>
                </a:solidFill>
                <a:ea typeface="+mn-lt"/>
                <a:cs typeface="+mn-lt"/>
              </a:rPr>
              <a:t>arXiv</a:t>
            </a:r>
            <a:r>
              <a:rPr lang="en-US" sz="1300">
                <a:solidFill>
                  <a:srgbClr val="CBD5E1"/>
                </a:solidFill>
                <a:ea typeface="+mn-lt"/>
                <a:cs typeface="+mn-lt"/>
              </a:rPr>
              <a:t> e-prints, arXiv-2407.</a:t>
            </a:r>
            <a:endParaRPr lang="en-US">
              <a:ea typeface="+mn-lt"/>
              <a:cs typeface="+mn-lt"/>
            </a:endParaRPr>
          </a:p>
          <a:p>
            <a:pPr marL="285750" indent="-285750">
              <a:buFont typeface="Courier New"/>
              <a:buChar char="o"/>
            </a:pPr>
            <a:r>
              <a:rPr lang="en-US" sz="1300">
                <a:solidFill>
                  <a:srgbClr val="CBD5E1"/>
                </a:solidFill>
                <a:ea typeface="+mn-lt"/>
                <a:cs typeface="+mn-lt"/>
              </a:rPr>
              <a:t>Asgari, E., Kheir, Y. E., &amp; Javaheri, M. A. S. (2025). </a:t>
            </a:r>
            <a:r>
              <a:rPr lang="en-US" sz="1300" err="1">
                <a:solidFill>
                  <a:srgbClr val="CBD5E1"/>
                </a:solidFill>
                <a:ea typeface="+mn-lt"/>
                <a:cs typeface="+mn-lt"/>
              </a:rPr>
              <a:t>MorphBPE</a:t>
            </a:r>
            <a:r>
              <a:rPr lang="en-US" sz="1300">
                <a:solidFill>
                  <a:srgbClr val="CBD5E1"/>
                </a:solidFill>
                <a:ea typeface="+mn-lt"/>
                <a:cs typeface="+mn-lt"/>
              </a:rPr>
              <a:t>: A Morpho-Aware Tokenizer Bridging Linguistic Complexity for Efficient LLM Training Across Morphologies. </a:t>
            </a:r>
            <a:r>
              <a:rPr lang="en-US" sz="1300" err="1">
                <a:solidFill>
                  <a:srgbClr val="CBD5E1"/>
                </a:solidFill>
                <a:ea typeface="+mn-lt"/>
                <a:cs typeface="+mn-lt"/>
              </a:rPr>
              <a:t>arXiv</a:t>
            </a:r>
            <a:r>
              <a:rPr lang="en-US" sz="1300">
                <a:solidFill>
                  <a:srgbClr val="CBD5E1"/>
                </a:solidFill>
                <a:ea typeface="+mn-lt"/>
                <a:cs typeface="+mn-lt"/>
              </a:rPr>
              <a:t> preprint arXiv:2502.00894.</a:t>
            </a:r>
            <a:endParaRPr lang="en-US">
              <a:ea typeface="+mn-lt"/>
              <a:cs typeface="+mn-lt"/>
            </a:endParaRPr>
          </a:p>
        </p:txBody>
      </p:sp>
      <p:sp>
        <p:nvSpPr>
          <p:cNvPr id="6" name="Shape 4">
            <a:extLst>
              <a:ext uri="{FF2B5EF4-FFF2-40B4-BE49-F238E27FC236}">
                <a16:creationId xmlns:a16="http://schemas.microsoft.com/office/drawing/2014/main" id="{FC07DC89-D86A-F7E1-96DA-AF1417190589}"/>
              </a:ext>
            </a:extLst>
          </p:cNvPr>
          <p:cNvSpPr/>
          <p:nvPr/>
        </p:nvSpPr>
        <p:spPr>
          <a:xfrm>
            <a:off x="0" y="5070348"/>
            <a:ext cx="9144000" cy="73152"/>
          </a:xfrm>
          <a:prstGeom prst="rect">
            <a:avLst/>
          </a:prstGeom>
          <a:solidFill>
            <a:srgbClr val="0D9488"/>
          </a:solidFill>
          <a:ln w="12700">
            <a:solidFill>
              <a:srgbClr val="0D9488"/>
            </a:solidFill>
            <a:prstDash val="solid"/>
          </a:ln>
        </p:spPr>
      </p:sp>
    </p:spTree>
    <p:extLst>
      <p:ext uri="{BB962C8B-B14F-4D97-AF65-F5344CB8AC3E}">
        <p14:creationId xmlns:p14="http://schemas.microsoft.com/office/powerpoint/2010/main" val="42288285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1874</Words>
  <Application>Microsoft Office PowerPoint</Application>
  <PresentationFormat>Ekran Gösterisi (16:9)</PresentationFormat>
  <Paragraphs>330</Paragraphs>
  <Slides>22</Slides>
  <Notes>22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22</vt:i4>
      </vt:variant>
    </vt:vector>
  </HeadingPairs>
  <TitlesOfParts>
    <vt:vector size="26" baseType="lpstr">
      <vt:lpstr>Arial</vt:lpstr>
      <vt:lpstr>Calibri</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Türkçe Tıbbi Metinlerden Öğrenen Alana Özgü Büyük Dil Modeli Geliştirilmesi</dc:title>
  <dc:subject>PptxGenJS Presentation</dc:subject>
  <dc:creator>PptxGenJS</dc:creator>
  <cp:lastModifiedBy>zeynep</cp:lastModifiedBy>
  <cp:revision>20</cp:revision>
  <dcterms:created xsi:type="dcterms:W3CDTF">2026-06-10T15:41:22Z</dcterms:created>
  <dcterms:modified xsi:type="dcterms:W3CDTF">2026-06-11T08:16:04Z</dcterms:modified>
</cp:coreProperties>
</file>